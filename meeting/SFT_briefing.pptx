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65760"/>
          </a:xfrm>
          <a:prstGeom prst="rect">
            <a:avLst/>
          </a:prstGeom>
          <a:solidFill>
            <a:srgbClr val="E46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371600"/>
            <a:ext cx="10972800" cy="1828800"/>
          </a:xfrm>
          <a:prstGeom prst="rect">
            <a:avLst/>
          </a:prstGeom>
          <a:noFill/>
        </p:spPr>
        <p:txBody>
          <a:bodyPr wrap="square">
            <a:spAutoFit/>
          </a:bodyPr>
          <a:lstStyle/>
          <a:p>
            <a:r>
              <a:rPr sz="4400" b="1" i="0">
                <a:solidFill>
                  <a:srgbClr val="1F3A5F"/>
                </a:solidFill>
                <a:latin typeface="Calibri"/>
              </a:rPr>
              <a:t>SFT for Qwen3-14B → SPICE Netlists</a:t>
            </a:r>
          </a:p>
          <a:p>
            <a:r>
              <a:rPr sz="2200" b="0" i="1">
                <a:solidFill>
                  <a:srgbClr val="6E6E6E"/>
                </a:solidFill>
                <a:latin typeface="Calibri"/>
              </a:rPr>
              <a:t>Supervised fine-tuning recipe, dataset, and benchmark</a:t>
            </a:r>
          </a:p>
        </p:txBody>
      </p:sp>
      <p:sp>
        <p:nvSpPr>
          <p:cNvPr id="4" name="Rounded Rectangle 3"/>
          <p:cNvSpPr/>
          <p:nvPr/>
        </p:nvSpPr>
        <p:spPr>
          <a:xfrm>
            <a:off x="640080" y="3657600"/>
            <a:ext cx="10972800" cy="2286000"/>
          </a:xfrm>
          <a:prstGeom prst="roundRect">
            <a:avLst/>
          </a:prstGeom>
          <a:solidFill>
            <a:srgbClr val="F6F8FA"/>
          </a:solidFill>
          <a:ln w="25400">
            <a:solidFill>
              <a:srgbClr val="E46A1E"/>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182880"/>
          <a:lstStyle/>
          <a:p>
            <a:pPr algn="ctr"/>
            <a:r>
              <a:rPr sz="1400" b="1" i="0">
                <a:solidFill>
                  <a:srgbClr val="E46A1E"/>
                </a:solidFill>
                <a:latin typeface="Calibri"/>
              </a:rPr>
              <a:t>Question from the team:</a:t>
            </a:r>
          </a:p>
          <a:p>
            <a:r>
              <a:rPr sz="1500" b="0" i="1">
                <a:solidFill>
                  <a:srgbClr val="1A1A1A"/>
                </a:solidFill>
                <a:latin typeface="Calibri"/>
              </a:rPr>
              <a:t>“Tell us in the meeting how you set up SFT, what data you are using for it, how big this dataset is, what the results of this step are with some examples. Maybe also get a small benchmark dataset that shows how the performance has improved.”</a:t>
            </a:r>
          </a:p>
          <a:p>
            <a:r>
              <a:rPr sz="1300" b="0" i="0">
                <a:solidFill>
                  <a:srgbClr val="6E6E6E"/>
                </a:solidFill>
                <a:latin typeface="Calibri"/>
              </a:rPr>
              <a:t>This deck answers each part in one slide.</a:t>
            </a:r>
          </a:p>
        </p:txBody>
      </p:sp>
      <p:sp>
        <p:nvSpPr>
          <p:cNvPr id="5" name="TextBox 4"/>
          <p:cNvSpPr txBox="1"/>
          <p:nvPr/>
        </p:nvSpPr>
        <p:spPr>
          <a:xfrm>
            <a:off x="640080" y="6309360"/>
            <a:ext cx="10972800" cy="365760"/>
          </a:xfrm>
          <a:prstGeom prst="rect">
            <a:avLst/>
          </a:prstGeom>
          <a:noFill/>
        </p:spPr>
        <p:txBody>
          <a:bodyPr wrap="none">
            <a:spAutoFit/>
          </a:bodyPr>
          <a:lstStyle/>
          <a:p>
            <a:r>
              <a:rPr sz="1100" b="0" i="0">
                <a:solidFill>
                  <a:srgbClr val="6E6E6E"/>
                </a:solidFill>
                <a:latin typeface="Calibri"/>
              </a:rPr>
              <a:t>Team meeting ·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1 — SFT Setup (the recipe)</a:t>
            </a:r>
          </a:p>
          <a:p>
            <a:pPr algn="l"/>
            <a:r>
              <a:rPr sz="1400">
                <a:solidFill>
                  <a:srgbClr val="CBD5E0"/>
                </a:solidFill>
                <a:latin typeface="Calibri"/>
              </a:rPr>
              <a:t>Base model, LoRA scope, loss, and hardware</a:t>
            </a:r>
          </a:p>
        </p:txBody>
      </p:sp>
      <p:graphicFrame>
        <p:nvGraphicFramePr>
          <p:cNvPr id="3" name="Table 2"/>
          <p:cNvGraphicFramePr>
            <a:graphicFrameLocks noGrp="1"/>
          </p:cNvGraphicFramePr>
          <p:nvPr/>
        </p:nvGraphicFramePr>
        <p:xfrm>
          <a:off x="548640" y="1188720"/>
          <a:ext cx="11064240" cy="5120640"/>
        </p:xfrm>
        <a:graphic>
          <a:graphicData uri="http://schemas.openxmlformats.org/drawingml/2006/table">
            <a:tbl>
              <a:tblPr firstRow="1" bandRow="1">
                <a:tableStyleId>{5C22544A-7EE6-4342-B048-85BDC9FD1C3A}</a:tableStyleId>
              </a:tblPr>
              <a:tblGrid>
                <a:gridCol w="2743200"/>
                <a:gridCol w="8321040"/>
              </a:tblGrid>
              <a:tr h="512064">
                <a:tc>
                  <a:txBody>
                    <a:bodyPr/>
                    <a:lstStyle/>
                    <a:p>
                      <a:pPr algn="l"/>
                      <a:r>
                        <a:rPr sz="1500" b="1" i="0">
                          <a:solidFill>
                            <a:srgbClr val="FFFFFF"/>
                          </a:solidFill>
                          <a:latin typeface="Calibri"/>
                        </a:rPr>
                        <a:t>Component</a:t>
                      </a:r>
                    </a:p>
                  </a:txBody>
                  <a:tcPr marL="91440" marR="91440" marT="45720" marB="45720">
                    <a:solidFill>
                      <a:srgbClr val="1F3A5F"/>
                    </a:solidFill>
                  </a:tcPr>
                </a:tc>
                <a:tc>
                  <a:txBody>
                    <a:bodyPr/>
                    <a:lstStyle/>
                    <a:p>
                      <a:pPr algn="l"/>
                      <a:r>
                        <a:rPr sz="1500" b="1" i="0">
                          <a:solidFill>
                            <a:srgbClr val="FFFFFF"/>
                          </a:solidFill>
                          <a:latin typeface="Calibri"/>
                        </a:rPr>
                        <a:t>Choice</a:t>
                      </a:r>
                    </a:p>
                  </a:txBody>
                  <a:tcPr marL="91440" marR="91440" marT="45720" marB="45720">
                    <a:solidFill>
                      <a:srgbClr val="1F3A5F"/>
                    </a:solidFill>
                  </a:tcPr>
                </a:tc>
              </a:tr>
              <a:tr h="512064">
                <a:tc>
                  <a:txBody>
                    <a:bodyPr wrap="square"/>
                    <a:lstStyle/>
                    <a:p>
                      <a:pPr algn="l"/>
                      <a:r>
                        <a:rPr sz="1400" b="1" i="0">
                          <a:solidFill>
                            <a:srgbClr val="E46A1E"/>
                          </a:solidFill>
                          <a:latin typeface="Calibri"/>
                        </a:rPr>
                        <a:t>Base model</a:t>
                      </a:r>
                    </a:p>
                  </a:txBody>
                  <a:tcPr marL="91440" marR="91440" marT="36576" marB="36576">
                    <a:solidFill>
                      <a:srgbClr val="FFFFFF"/>
                    </a:solidFill>
                  </a:tcPr>
                </a:tc>
                <a:tc>
                  <a:txBody>
                    <a:bodyPr wrap="square"/>
                    <a:lstStyle/>
                    <a:p>
                      <a:pPr algn="l"/>
                      <a:r>
                        <a:rPr sz="1400" b="0" i="0">
                          <a:solidFill>
                            <a:srgbClr val="1A1A1A"/>
                          </a:solidFill>
                          <a:latin typeface="Calibri"/>
                        </a:rPr>
                        <a:t>Qwen/Qwen3-14B  (14.8 B parameters, bf16)</a:t>
                      </a:r>
                    </a:p>
                  </a:txBody>
                  <a:tcPr marL="91440" marR="91440" marT="36576" marB="36576">
                    <a:solidFill>
                      <a:srgbClr val="FFFFFF"/>
                    </a:solidFill>
                  </a:tcPr>
                </a:tc>
              </a:tr>
              <a:tr h="512064">
                <a:tc>
                  <a:txBody>
                    <a:bodyPr wrap="square"/>
                    <a:lstStyle/>
                    <a:p>
                      <a:pPr algn="l"/>
                      <a:r>
                        <a:rPr sz="1400" b="1" i="0">
                          <a:solidFill>
                            <a:srgbClr val="E46A1E"/>
                          </a:solidFill>
                          <a:latin typeface="Calibri"/>
                        </a:rPr>
                        <a:t>Method</a:t>
                      </a:r>
                    </a:p>
                  </a:txBody>
                  <a:tcPr marL="91440" marR="91440" marT="36576" marB="36576">
                    <a:solidFill>
                      <a:srgbClr val="FAFAFC"/>
                    </a:solidFill>
                  </a:tcPr>
                </a:tc>
                <a:tc>
                  <a:txBody>
                    <a:bodyPr wrap="square"/>
                    <a:lstStyle/>
                    <a:p>
                      <a:pPr algn="l"/>
                      <a:r>
                        <a:rPr sz="1400" b="0" i="0">
                          <a:solidFill>
                            <a:srgbClr val="1A1A1A"/>
                          </a:solidFill>
                          <a:latin typeface="Calibri"/>
                        </a:rPr>
                        <a:t>LoRA via HuggingFace PEFT — no full fine-tune</a:t>
                      </a:r>
                    </a:p>
                  </a:txBody>
                  <a:tcPr marL="91440" marR="91440" marT="36576" marB="36576">
                    <a:solidFill>
                      <a:srgbClr val="FAFAFC"/>
                    </a:solidFill>
                  </a:tcPr>
                </a:tc>
              </a:tr>
              <a:tr h="512064">
                <a:tc>
                  <a:txBody>
                    <a:bodyPr wrap="square"/>
                    <a:lstStyle/>
                    <a:p>
                      <a:pPr algn="l"/>
                      <a:r>
                        <a:rPr sz="1400" b="1" i="0">
                          <a:solidFill>
                            <a:srgbClr val="E46A1E"/>
                          </a:solidFill>
                          <a:latin typeface="Calibri"/>
                        </a:rPr>
                        <a:t>LoRA rank / α</a:t>
                      </a:r>
                    </a:p>
                  </a:txBody>
                  <a:tcPr marL="91440" marR="91440" marT="36576" marB="36576">
                    <a:solidFill>
                      <a:srgbClr val="FFFFFF"/>
                    </a:solidFill>
                  </a:tcPr>
                </a:tc>
                <a:tc>
                  <a:txBody>
                    <a:bodyPr wrap="square"/>
                    <a:lstStyle/>
                    <a:p>
                      <a:pPr algn="l"/>
                      <a:r>
                        <a:rPr sz="1400" b="0" i="0">
                          <a:solidFill>
                            <a:srgbClr val="1A1A1A"/>
                          </a:solidFill>
                          <a:latin typeface="Calibri"/>
                        </a:rPr>
                        <a:t>r = 16,   α = 32,   dropout = 0.05</a:t>
                      </a:r>
                    </a:p>
                  </a:txBody>
                  <a:tcPr marL="91440" marR="91440" marT="36576" marB="36576">
                    <a:solidFill>
                      <a:srgbClr val="FFFFFF"/>
                    </a:solidFill>
                  </a:tcPr>
                </a:tc>
              </a:tr>
              <a:tr h="512064">
                <a:tc>
                  <a:txBody>
                    <a:bodyPr wrap="square"/>
                    <a:lstStyle/>
                    <a:p>
                      <a:pPr algn="l"/>
                      <a:r>
                        <a:rPr sz="1400" b="1" i="0">
                          <a:solidFill>
                            <a:srgbClr val="E46A1E"/>
                          </a:solidFill>
                          <a:latin typeface="Calibri"/>
                        </a:rPr>
                        <a:t>Target modules</a:t>
                      </a:r>
                    </a:p>
                  </a:txBody>
                  <a:tcPr marL="91440" marR="91440" marT="36576" marB="36576">
                    <a:solidFill>
                      <a:srgbClr val="FAFAFC"/>
                    </a:solidFill>
                  </a:tcPr>
                </a:tc>
                <a:tc>
                  <a:txBody>
                    <a:bodyPr wrap="square"/>
                    <a:lstStyle/>
                    <a:p>
                      <a:pPr algn="l"/>
                      <a:r>
                        <a:rPr sz="1400" b="0" i="0">
                          <a:solidFill>
                            <a:srgbClr val="1A1A1A"/>
                          </a:solidFill>
                          <a:latin typeface="Calibri"/>
                        </a:rPr>
                        <a:t>q_proj, k_proj, v_proj, o_proj, gate_proj, up_proj, down_proj   (7 per layer)</a:t>
                      </a:r>
                    </a:p>
                  </a:txBody>
                  <a:tcPr marL="91440" marR="91440" marT="36576" marB="36576">
                    <a:solidFill>
                      <a:srgbClr val="FAFAFC"/>
                    </a:solidFill>
                  </a:tcPr>
                </a:tc>
              </a:tr>
              <a:tr h="512064">
                <a:tc>
                  <a:txBody>
                    <a:bodyPr wrap="square"/>
                    <a:lstStyle/>
                    <a:p>
                      <a:pPr algn="l"/>
                      <a:r>
                        <a:rPr sz="1400" b="1" i="0">
                          <a:solidFill>
                            <a:srgbClr val="E46A1E"/>
                          </a:solidFill>
                          <a:latin typeface="Calibri"/>
                        </a:rPr>
                        <a:t>Trainable params</a:t>
                      </a:r>
                    </a:p>
                  </a:txBody>
                  <a:tcPr marL="91440" marR="91440" marT="36576" marB="36576">
                    <a:solidFill>
                      <a:srgbClr val="FFFFFF"/>
                    </a:solidFill>
                  </a:tcPr>
                </a:tc>
                <a:tc>
                  <a:txBody>
                    <a:bodyPr wrap="square"/>
                    <a:lstStyle/>
                    <a:p>
                      <a:pPr algn="l"/>
                      <a:r>
                        <a:rPr sz="1400" b="0" i="0">
                          <a:solidFill>
                            <a:srgbClr val="1A1A1A"/>
                          </a:solidFill>
                          <a:latin typeface="Calibri"/>
                        </a:rPr>
                        <a:t>64.2 M  /  14.83 B   =   0.43 %</a:t>
                      </a:r>
                    </a:p>
                  </a:txBody>
                  <a:tcPr marL="91440" marR="91440" marT="36576" marB="36576">
                    <a:solidFill>
                      <a:srgbClr val="FFFFFF"/>
                    </a:solidFill>
                  </a:tcPr>
                </a:tc>
              </a:tr>
              <a:tr h="512064">
                <a:tc>
                  <a:txBody>
                    <a:bodyPr wrap="square"/>
                    <a:lstStyle/>
                    <a:p>
                      <a:pPr algn="l"/>
                      <a:r>
                        <a:rPr sz="1400" b="1" i="0">
                          <a:solidFill>
                            <a:srgbClr val="E46A1E"/>
                          </a:solidFill>
                          <a:latin typeface="Calibri"/>
                        </a:rPr>
                        <a:t>Loss</a:t>
                      </a:r>
                    </a:p>
                  </a:txBody>
                  <a:tcPr marL="91440" marR="91440" marT="36576" marB="36576">
                    <a:solidFill>
                      <a:srgbClr val="FAFAFC"/>
                    </a:solidFill>
                  </a:tcPr>
                </a:tc>
                <a:tc>
                  <a:txBody>
                    <a:bodyPr wrap="square"/>
                    <a:lstStyle/>
                    <a:p>
                      <a:pPr algn="l"/>
                      <a:r>
                        <a:rPr sz="1400" b="0" i="0">
                          <a:solidFill>
                            <a:srgbClr val="1A1A1A"/>
                          </a:solidFill>
                          <a:latin typeface="Calibri"/>
                        </a:rPr>
                        <a:t>next-token cross-entropy with PROMPT MASKING (labels[:prompt_len] = -100)</a:t>
                      </a:r>
                    </a:p>
                  </a:txBody>
                  <a:tcPr marL="91440" marR="91440" marT="36576" marB="36576">
                    <a:solidFill>
                      <a:srgbClr val="FAFAFC"/>
                    </a:solidFill>
                  </a:tcPr>
                </a:tc>
              </a:tr>
              <a:tr h="512064">
                <a:tc>
                  <a:txBody>
                    <a:bodyPr wrap="square"/>
                    <a:lstStyle/>
                    <a:p>
                      <a:pPr algn="l"/>
                      <a:r>
                        <a:rPr sz="1400" b="1" i="0">
                          <a:solidFill>
                            <a:srgbClr val="E46A1E"/>
                          </a:solidFill>
                          <a:latin typeface="Calibri"/>
                        </a:rPr>
                        <a:t>Hardware</a:t>
                      </a:r>
                    </a:p>
                  </a:txBody>
                  <a:tcPr marL="91440" marR="91440" marT="36576" marB="36576">
                    <a:solidFill>
                      <a:srgbClr val="FFFFFF"/>
                    </a:solidFill>
                  </a:tcPr>
                </a:tc>
                <a:tc>
                  <a:txBody>
                    <a:bodyPr wrap="square"/>
                    <a:lstStyle/>
                    <a:p>
                      <a:pPr algn="l"/>
                      <a:r>
                        <a:rPr sz="1400" b="0" i="0">
                          <a:solidFill>
                            <a:srgbClr val="1A1A1A"/>
                          </a:solidFill>
                          <a:latin typeface="Calibri"/>
                        </a:rPr>
                        <a:t>1 × NVIDIA H100 80 GB,  bf16,  no quantization</a:t>
                      </a:r>
                    </a:p>
                  </a:txBody>
                  <a:tcPr marL="91440" marR="91440" marT="36576" marB="36576">
                    <a:solidFill>
                      <a:srgbClr val="FFFFFF"/>
                    </a:solidFill>
                  </a:tcPr>
                </a:tc>
              </a:tr>
              <a:tr h="512064">
                <a:tc>
                  <a:txBody>
                    <a:bodyPr wrap="square"/>
                    <a:lstStyle/>
                    <a:p>
                      <a:pPr algn="l"/>
                      <a:r>
                        <a:rPr sz="1400" b="1" i="0">
                          <a:solidFill>
                            <a:srgbClr val="E46A1E"/>
                          </a:solidFill>
                          <a:latin typeface="Calibri"/>
                        </a:rPr>
                        <a:t>Wall time</a:t>
                      </a:r>
                    </a:p>
                  </a:txBody>
                  <a:tcPr marL="91440" marR="91440" marT="36576" marB="36576">
                    <a:solidFill>
                      <a:srgbClr val="FAFAFC"/>
                    </a:solidFill>
                  </a:tcPr>
                </a:tc>
                <a:tc>
                  <a:txBody>
                    <a:bodyPr wrap="square"/>
                    <a:lstStyle/>
                    <a:p>
                      <a:pPr algn="l"/>
                      <a:r>
                        <a:rPr sz="1400" b="0" i="0">
                          <a:solidFill>
                            <a:srgbClr val="1A1A1A"/>
                          </a:solidFill>
                          <a:latin typeface="Calibri"/>
                        </a:rPr>
                        <a:t>≈ 10 minutes  end-to-end  (5 epochs)</a:t>
                      </a:r>
                    </a:p>
                  </a:txBody>
                  <a:tcPr marL="91440" marR="91440" marT="36576" marB="36576">
                    <a:solidFill>
                      <a:srgbClr val="FAFAFC"/>
                    </a:solidFill>
                  </a:tcPr>
                </a:tc>
              </a:tr>
              <a:tr h="512064">
                <a:tc>
                  <a:txBody>
                    <a:bodyPr wrap="square"/>
                    <a:lstStyle/>
                    <a:p>
                      <a:pPr algn="l"/>
                      <a:r>
                        <a:rPr sz="1400" b="1" i="0">
                          <a:solidFill>
                            <a:srgbClr val="E46A1E"/>
                          </a:solidFill>
                          <a:latin typeface="Calibri"/>
                        </a:rPr>
                        <a:t>Code</a:t>
                      </a:r>
                    </a:p>
                  </a:txBody>
                  <a:tcPr marL="91440" marR="91440" marT="36576" marB="36576">
                    <a:solidFill>
                      <a:srgbClr val="FFFFFF"/>
                    </a:solidFill>
                  </a:tcPr>
                </a:tc>
                <a:tc>
                  <a:txBody>
                    <a:bodyPr wrap="square"/>
                    <a:lstStyle/>
                    <a:p>
                      <a:pPr algn="l"/>
                      <a:r>
                        <a:rPr sz="1400" b="0" i="0">
                          <a:solidFill>
                            <a:srgbClr val="1A1A1A"/>
                          </a:solidFill>
                          <a:latin typeface="Calibri"/>
                        </a:rPr>
                        <a:t>pipeline/reinforcement_algorithm/sft_trainer.py  (435 lines, self-contained)</a:t>
                      </a:r>
                    </a:p>
                  </a:txBody>
                  <a:tcPr marL="91440" marR="91440" marT="36576" marB="36576">
                    <a:solidFill>
                      <a:srgbClr val="FFFFFF"/>
                    </a:solidFill>
                  </a:tcPr>
                </a:tc>
              </a:tr>
            </a:tbl>
          </a:graphicData>
        </a:graphic>
      </p:graphicFrame>
      <p:sp>
        <p:nvSpPr>
          <p:cNvPr id="4" name="TextBox 3"/>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1 / 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2 — Training data</a:t>
            </a:r>
          </a:p>
          <a:p>
            <a:pPr algn="l"/>
            <a:r>
              <a:rPr sz="1400">
                <a:solidFill>
                  <a:srgbClr val="CBD5E0"/>
                </a:solidFill>
                <a:latin typeface="Calibri"/>
              </a:rPr>
              <a:t>718 (prompt, netlist) pairs — all sim-verified</a:t>
            </a:r>
          </a:p>
        </p:txBody>
      </p:sp>
      <p:sp>
        <p:nvSpPr>
          <p:cNvPr id="3" name="TextBox 2"/>
          <p:cNvSpPr txBox="1"/>
          <p:nvPr/>
        </p:nvSpPr>
        <p:spPr>
          <a:xfrm>
            <a:off x="548640" y="1188720"/>
            <a:ext cx="5303520" cy="5212080"/>
          </a:xfrm>
          <a:prstGeom prst="rect">
            <a:avLst/>
          </a:prstGeom>
          <a:noFill/>
        </p:spPr>
        <p:txBody>
          <a:bodyPr wrap="square">
            <a:spAutoFit/>
          </a:bodyPr>
          <a:lstStyle/>
          <a:p>
            <a:r>
              <a:rPr sz="1800" b="1" i="0">
                <a:solidFill>
                  <a:srgbClr val="1F3A5F"/>
                </a:solidFill>
                <a:latin typeface="Calibri"/>
              </a:rPr>
              <a:t>Size &amp; split</a:t>
            </a:r>
          </a:p>
          <a:p>
            <a:pPr algn="l" marL="228600" indent="-228600">
              <a:buChar char="•"/>
            </a:pPr>
            <a:r>
              <a:rPr sz="1400" b="0">
                <a:solidFill>
                  <a:srgbClr val="1A1A1A"/>
                </a:solidFill>
                <a:latin typeface="Calibri"/>
              </a:rPr>
              <a:t>647 training  +  71 validation  =  718 total</a:t>
            </a:r>
          </a:p>
          <a:p>
            <a:pPr algn="l" marL="228600" indent="-228600">
              <a:buChar char="•"/>
            </a:pPr>
            <a:r>
              <a:rPr sz="1400" b="0">
                <a:solidFill>
                  <a:srgbClr val="1A1A1A"/>
                </a:solidFill>
                <a:latin typeface="Calibri"/>
              </a:rPr>
              <a:t>10 % held out for val_loss probe</a:t>
            </a:r>
          </a:p>
          <a:p>
            <a:pPr algn="l" marL="228600" indent="-228600">
              <a:buChar char="•"/>
            </a:pPr>
            <a:r>
              <a:rPr sz="1300" b="0">
                <a:solidFill>
                  <a:srgbClr val="6E6E6E"/>
                </a:solidFill>
                <a:latin typeface="Calibri"/>
              </a:rPr>
              <a:t>data/sft/sft_train.jsonl  +  sft_val.jsonl</a:t>
            </a:r>
          </a:p>
          <a:p>
            <a:pPr>
              <a:spcBef>
                <a:spcPts val="1200"/>
              </a:spcBef>
            </a:pPr>
            <a:r>
              <a:rPr sz="1800" b="1" i="0">
                <a:solidFill>
                  <a:srgbClr val="1F3A5F"/>
                </a:solidFill>
                <a:latin typeface="Calibri"/>
              </a:rPr>
              <a:t>Coverage (by topology family)</a:t>
            </a:r>
          </a:p>
          <a:p>
            <a:pPr algn="l" marL="228600" indent="-228600">
              <a:buChar char="•"/>
            </a:pPr>
            <a:r>
              <a:rPr sz="1300" b="0">
                <a:solidFill>
                  <a:srgbClr val="1A1A1A"/>
                </a:solidFill>
                <a:latin typeface="Calibri"/>
              </a:rPr>
              <a:t>Buck / step-down: 12V→5V, 380V→12V, 400V→24V, 208V→3.3V</a:t>
            </a:r>
          </a:p>
          <a:p>
            <a:pPr algn="l" marL="228600" indent="-228600">
              <a:buChar char="•"/>
            </a:pPr>
            <a:r>
              <a:rPr sz="1300" b="0">
                <a:solidFill>
                  <a:srgbClr val="1A1A1A"/>
                </a:solidFill>
                <a:latin typeface="Calibri"/>
              </a:rPr>
              <a:t>Boost / step-up: 12V→380V, 9V→220V, 5V→208V, 12V→400V</a:t>
            </a:r>
          </a:p>
          <a:p>
            <a:pPr algn="l" marL="228600" indent="-228600">
              <a:buChar char="•"/>
            </a:pPr>
            <a:r>
              <a:rPr sz="1300" b="0">
                <a:solidFill>
                  <a:srgbClr val="1A1A1A"/>
                </a:solidFill>
                <a:latin typeface="Calibri"/>
              </a:rPr>
              <a:t>Buck-Boost / SEPIC: wide-input, telecom, grid stabilizer</a:t>
            </a:r>
          </a:p>
          <a:p>
            <a:pPr algn="l" marL="228600" indent="-228600">
              <a:buChar char="•"/>
            </a:pPr>
            <a:r>
              <a:rPr sz="1300" b="0">
                <a:solidFill>
                  <a:srgbClr val="E46A1E"/>
                </a:solidFill>
                <a:latin typeface="Calibri"/>
              </a:rPr>
              <a:t>13 constraint slots × ~50 valid candidates each</a:t>
            </a:r>
          </a:p>
          <a:p>
            <a:pPr>
              <a:spcBef>
                <a:spcPts val="1200"/>
              </a:spcBef>
            </a:pPr>
            <a:r>
              <a:rPr sz="1800" b="1" i="0">
                <a:solidFill>
                  <a:srgbClr val="1F3A5F"/>
                </a:solidFill>
                <a:latin typeface="Calibri"/>
              </a:rPr>
              <a:t>Cleanup</a:t>
            </a:r>
          </a:p>
          <a:p>
            <a:pPr algn="l" marL="228600" indent="-228600">
              <a:buChar char="•"/>
            </a:pPr>
            <a:r>
              <a:rPr sz="1300" b="0">
                <a:solidFill>
                  <a:srgbClr val="1A1A1A"/>
                </a:solidFill>
                <a:latin typeface="Calibri"/>
              </a:rPr>
              <a:t>All .probe lines stripped — SPICE3-only, breaks LTspice</a:t>
            </a:r>
          </a:p>
          <a:p>
            <a:pPr algn="l" marL="228600" indent="-228600">
              <a:buChar char="•"/>
            </a:pPr>
            <a:r>
              <a:rPr sz="1300" b="0">
                <a:solidFill>
                  <a:srgbClr val="1B8E3E"/>
                </a:solidFill>
                <a:latin typeface="Calibri"/>
              </a:rPr>
              <a:t>Every target netlist was simulator-validated before inclusion</a:t>
            </a:r>
          </a:p>
        </p:txBody>
      </p:sp>
      <p:sp>
        <p:nvSpPr>
          <p:cNvPr id="4" name="Rectangle 3"/>
          <p:cNvSpPr/>
          <p:nvPr/>
        </p:nvSpPr>
        <p:spPr>
          <a:xfrm>
            <a:off x="6126480" y="1188720"/>
            <a:ext cx="5852160" cy="521208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none" lIns="137160" rIns="137160" tIns="91440" bIns="91440"/>
          <a:lstStyle/>
          <a:p>
            <a:pPr algn="l"/>
            <a:r>
              <a:rPr sz="1000" b="0" i="0">
                <a:solidFill>
                  <a:srgbClr val="E6E6F0"/>
                </a:solidFill>
                <a:latin typeface="Consolas"/>
              </a:rPr>
              <a:t>{</a:t>
            </a:r>
          </a:p>
          <a:p>
            <a:pPr algn="l"/>
            <a:r>
              <a:rPr sz="1000" b="0" i="0">
                <a:solidFill>
                  <a:srgbClr val="E6E6F0"/>
                </a:solidFill>
                <a:latin typeface="Consolas"/>
              </a:rPr>
              <a:t>  "prompt":     "### Naming Convention ...</a:t>
            </a:r>
          </a:p>
          <a:p>
            <a:pPr algn="l"/>
            <a:r>
              <a:rPr sz="1000" b="0" i="1">
                <a:solidFill>
                  <a:srgbClr val="8A9AA8"/>
                </a:solidFill>
                <a:latin typeface="Consolas"/>
              </a:rPr>
              <a:t>                 ### Constraint: {...}</a:t>
            </a:r>
          </a:p>
          <a:p>
            <a:pPr algn="l"/>
            <a:r>
              <a:rPr sz="1000" b="0" i="1">
                <a:solidFill>
                  <a:srgbClr val="8A9AA8"/>
                </a:solidFill>
                <a:latin typeface="Consolas"/>
              </a:rPr>
              <a:t>                 ### SPICE Netlist:",</a:t>
            </a:r>
          </a:p>
          <a:p>
            <a:pPr algn="l"/>
            <a:r>
              <a:rPr sz="1000" b="0" i="0">
                <a:solidFill>
                  <a:srgbClr val="E6E6F0"/>
                </a:solidFill>
                <a:latin typeface="Consolas"/>
              </a:rPr>
              <a:t>  "completion": "* 380V to 12V async buck, 300W</a:t>
            </a:r>
          </a:p>
          <a:p>
            <a:pPr algn="l"/>
            <a:r>
              <a:rPr sz="1000" b="0" i="0">
                <a:solidFill>
                  <a:srgbClr val="E6E6F0"/>
                </a:solidFill>
                <a:latin typeface="Consolas"/>
              </a:rPr>
              <a:t>                 Vin in 0 380</a:t>
            </a:r>
          </a:p>
          <a:p>
            <a:pPr algn="l"/>
            <a:r>
              <a:rPr sz="1000" b="0" i="0">
                <a:solidFill>
                  <a:srgbClr val="E6E6F0"/>
                </a:solidFill>
                <a:latin typeface="Consolas"/>
              </a:rPr>
              <a:t>                 M1 in gate sw 0 NMOS W=1 L=1</a:t>
            </a:r>
          </a:p>
          <a:p>
            <a:pPr algn="l"/>
            <a:r>
              <a:rPr sz="1000" b="0" i="0">
                <a:solidFill>
                  <a:srgbClr val="E6E6F0"/>
                </a:solidFill>
                <a:latin typeface="Consolas"/>
              </a:rPr>
              <a:t>                 D1 0 sw DIODE</a:t>
            </a:r>
          </a:p>
          <a:p>
            <a:pPr algn="l"/>
            <a:r>
              <a:rPr sz="1000" b="0" i="0">
                <a:solidFill>
                  <a:srgbClr val="E6E6F0"/>
                </a:solidFill>
                <a:latin typeface="Consolas"/>
              </a:rPr>
              <a:t>                 L1 sw out 100u</a:t>
            </a:r>
          </a:p>
          <a:p>
            <a:pPr algn="l"/>
            <a:r>
              <a:rPr sz="1000" b="0" i="0">
                <a:solidFill>
                  <a:srgbClr val="E6E6F0"/>
                </a:solidFill>
                <a:latin typeface="Consolas"/>
              </a:rPr>
              <a:t>                 C1 out 0 470u</a:t>
            </a:r>
          </a:p>
          <a:p>
            <a:pPr algn="l"/>
            <a:r>
              <a:rPr sz="1000" b="0" i="0">
                <a:solidFill>
                  <a:srgbClr val="E6E6F0"/>
                </a:solidFill>
                <a:latin typeface="Consolas"/>
              </a:rPr>
              <a:t>                 Rload out 0 480m</a:t>
            </a:r>
          </a:p>
          <a:p>
            <a:pPr algn="l"/>
            <a:r>
              <a:rPr sz="1000" b="0" i="0">
                <a:solidFill>
                  <a:srgbClr val="E6E6F0"/>
                </a:solidFill>
                <a:latin typeface="Consolas"/>
              </a:rPr>
              <a:t>                 .end",</a:t>
            </a:r>
          </a:p>
          <a:p>
            <a:pPr algn="l"/>
            <a:r>
              <a:rPr sz="1000" b="0" i="0">
                <a:solidFill>
                  <a:srgbClr val="E6E6F0"/>
                </a:solidFill>
                <a:latin typeface="Consolas"/>
              </a:rPr>
              <a:t>  "constraint": {"vin": 380, "vout_target": 12,</a:t>
            </a:r>
          </a:p>
          <a:p>
            <a:pPr algn="l"/>
            <a:r>
              <a:rPr sz="1000" b="0" i="0">
                <a:solidFill>
                  <a:srgbClr val="E6E6F0"/>
                </a:solidFill>
                <a:latin typeface="Consolas"/>
              </a:rPr>
              <a:t>                 "power_out_w": 300},</a:t>
            </a:r>
          </a:p>
          <a:p>
            <a:pPr algn="l"/>
            <a:r>
              <a:rPr sz="1000" b="0" i="0">
                <a:solidFill>
                  <a:srgbClr val="E6E6F0"/>
                </a:solidFill>
                <a:latin typeface="Consolas"/>
              </a:rPr>
              <a:t>  "tag":    "async-360V-T20u-L220u-C470u",</a:t>
            </a:r>
          </a:p>
          <a:p>
            <a:pPr algn="l"/>
            <a:r>
              <a:rPr sz="1000" b="0" i="0">
                <a:solidFill>
                  <a:srgbClr val="E6E6F0"/>
                </a:solidFill>
                <a:latin typeface="Consolas"/>
              </a:rPr>
              <a:t>  "source": "batch_sft_expanded_idx4/top22"</a:t>
            </a:r>
          </a:p>
          <a:p>
            <a:pPr algn="l"/>
            <a:r>
              <a:rPr sz="1000" b="0" i="0">
                <a:solidFill>
                  <a:srgbClr val="E6E6F0"/>
                </a:solidFill>
                <a:latin typeface="Consolas"/>
              </a:rPr>
              <a:t>}</a:t>
            </a:r>
          </a:p>
        </p:txBody>
      </p:sp>
      <p:sp>
        <p:nvSpPr>
          <p:cNvPr id="5" name="Rounded Rectangle 4"/>
          <p:cNvSpPr/>
          <p:nvPr/>
        </p:nvSpPr>
        <p:spPr>
          <a:xfrm>
            <a:off x="6309360" y="1051560"/>
            <a:ext cx="2286000" cy="320040"/>
          </a:xfrm>
          <a:prstGeom prst="roundRect">
            <a:avLst/>
          </a:prstGeom>
          <a:solidFill>
            <a:srgbClr val="E46A1E"/>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i="0">
                <a:solidFill>
                  <a:srgbClr val="FFFFFF"/>
                </a:solidFill>
                <a:latin typeface="Calibri"/>
              </a:rPr>
              <a:t>ONE SAMPLE</a:t>
            </a:r>
          </a:p>
        </p:txBody>
      </p:sp>
      <p:sp>
        <p:nvSpPr>
          <p:cNvPr id="6" name="TextBox 5"/>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2 /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3 — Training recipe + loss curve</a:t>
            </a:r>
          </a:p>
          <a:p>
            <a:pPr algn="l"/>
            <a:r>
              <a:rPr sz="1400">
                <a:solidFill>
                  <a:srgbClr val="CBD5E0"/>
                </a:solidFill>
                <a:latin typeface="Calibri"/>
              </a:rPr>
              <a:t>5 epochs, OOM-safe defaults, best at epoch 3</a:t>
            </a:r>
          </a:p>
        </p:txBody>
      </p:sp>
      <p:graphicFrame>
        <p:nvGraphicFramePr>
          <p:cNvPr id="3" name="Table 2"/>
          <p:cNvGraphicFramePr>
            <a:graphicFrameLocks noGrp="1"/>
          </p:cNvGraphicFramePr>
          <p:nvPr/>
        </p:nvGraphicFramePr>
        <p:xfrm>
          <a:off x="548640" y="1188720"/>
          <a:ext cx="5486400" cy="3474720"/>
        </p:xfrm>
        <a:graphic>
          <a:graphicData uri="http://schemas.openxmlformats.org/drawingml/2006/table">
            <a:tbl>
              <a:tblPr firstRow="1" bandRow="1">
                <a:tableStyleId>{5C22544A-7EE6-4342-B048-85BDC9FD1C3A}</a:tableStyleId>
              </a:tblPr>
              <a:tblGrid>
                <a:gridCol w="2286000"/>
                <a:gridCol w="3200400"/>
              </a:tblGrid>
              <a:tr h="434340">
                <a:tc>
                  <a:txBody>
                    <a:bodyPr/>
                    <a:lstStyle/>
                    <a:p>
                      <a:pPr algn="l"/>
                      <a:r>
                        <a:rPr sz="1300" b="1" i="0">
                          <a:solidFill>
                            <a:srgbClr val="FFFFFF"/>
                          </a:solidFill>
                          <a:latin typeface="Calibri"/>
                        </a:rPr>
                        <a:t>Hyperparameter</a:t>
                      </a:r>
                    </a:p>
                  </a:txBody>
                  <a:tcPr marL="91440" marR="91440" marT="45720" marB="45720">
                    <a:solidFill>
                      <a:srgbClr val="1F3A5F"/>
                    </a:solidFill>
                  </a:tcPr>
                </a:tc>
                <a:tc>
                  <a:txBody>
                    <a:bodyPr/>
                    <a:lstStyle/>
                    <a:p>
                      <a:pPr algn="l"/>
                      <a:r>
                        <a:rPr sz="1300" b="1" i="0">
                          <a:solidFill>
                            <a:srgbClr val="FFFFFF"/>
                          </a:solidFill>
                          <a:latin typeface="Calibri"/>
                        </a:rPr>
                        <a:t>Value</a:t>
                      </a:r>
                    </a:p>
                  </a:txBody>
                  <a:tcPr marL="91440" marR="91440" marT="45720" marB="45720">
                    <a:solidFill>
                      <a:srgbClr val="1F3A5F"/>
                    </a:solidFill>
                  </a:tcPr>
                </a:tc>
              </a:tr>
              <a:tr h="434340">
                <a:tc>
                  <a:txBody>
                    <a:bodyPr wrap="square"/>
                    <a:lstStyle/>
                    <a:p>
                      <a:pPr algn="l"/>
                      <a:r>
                        <a:rPr sz="1200" b="1" i="0">
                          <a:solidFill>
                            <a:srgbClr val="E46A1E"/>
                          </a:solidFill>
                          <a:latin typeface="Calibri"/>
                        </a:rPr>
                        <a:t>Epochs</a:t>
                      </a:r>
                    </a:p>
                  </a:txBody>
                  <a:tcPr marL="91440" marR="91440" marT="36576" marB="36576">
                    <a:solidFill>
                      <a:srgbClr val="FFFFFF"/>
                    </a:solidFill>
                  </a:tcPr>
                </a:tc>
                <a:tc>
                  <a:txBody>
                    <a:bodyPr wrap="square"/>
                    <a:lstStyle/>
                    <a:p>
                      <a:pPr algn="l"/>
                      <a:r>
                        <a:rPr sz="1200" b="0" i="0">
                          <a:solidFill>
                            <a:srgbClr val="1A1A1A"/>
                          </a:solidFill>
                          <a:latin typeface="Calibri"/>
                        </a:rPr>
                        <a:t>5</a:t>
                      </a:r>
                    </a:p>
                  </a:txBody>
                  <a:tcPr marL="91440" marR="91440" marT="36576" marB="36576">
                    <a:solidFill>
                      <a:srgbClr val="FFFFFF"/>
                    </a:solidFill>
                  </a:tcPr>
                </a:tc>
              </a:tr>
              <a:tr h="434340">
                <a:tc>
                  <a:txBody>
                    <a:bodyPr wrap="square"/>
                    <a:lstStyle/>
                    <a:p>
                      <a:pPr algn="l"/>
                      <a:r>
                        <a:rPr sz="1200" b="1" i="0">
                          <a:solidFill>
                            <a:srgbClr val="E46A1E"/>
                          </a:solidFill>
                          <a:latin typeface="Calibri"/>
                        </a:rPr>
                        <a:t>Batch size</a:t>
                      </a:r>
                    </a:p>
                  </a:txBody>
                  <a:tcPr marL="91440" marR="91440" marT="36576" marB="36576">
                    <a:solidFill>
                      <a:srgbClr val="FAFAFC"/>
                    </a:solidFill>
                  </a:tcPr>
                </a:tc>
                <a:tc>
                  <a:txBody>
                    <a:bodyPr wrap="square"/>
                    <a:lstStyle/>
                    <a:p>
                      <a:pPr algn="l"/>
                      <a:r>
                        <a:rPr sz="1200" b="0" i="0">
                          <a:solidFill>
                            <a:srgbClr val="1A1A1A"/>
                          </a:solidFill>
                          <a:latin typeface="Calibri"/>
                        </a:rPr>
                        <a:t>2  (OOM-safe)</a:t>
                      </a:r>
                    </a:p>
                  </a:txBody>
                  <a:tcPr marL="91440" marR="91440" marT="36576" marB="36576">
                    <a:solidFill>
                      <a:srgbClr val="FAFAFC"/>
                    </a:solidFill>
                  </a:tcPr>
                </a:tc>
              </a:tr>
              <a:tr h="434340">
                <a:tc>
                  <a:txBody>
                    <a:bodyPr wrap="square"/>
                    <a:lstStyle/>
                    <a:p>
                      <a:pPr algn="l"/>
                      <a:r>
                        <a:rPr sz="1200" b="1" i="0">
                          <a:solidFill>
                            <a:srgbClr val="E46A1E"/>
                          </a:solidFill>
                          <a:latin typeface="Calibri"/>
                        </a:rPr>
                        <a:t>Sequence length</a:t>
                      </a:r>
                    </a:p>
                  </a:txBody>
                  <a:tcPr marL="91440" marR="91440" marT="36576" marB="36576">
                    <a:solidFill>
                      <a:srgbClr val="FFFFFF"/>
                    </a:solidFill>
                  </a:tcPr>
                </a:tc>
                <a:tc>
                  <a:txBody>
                    <a:bodyPr wrap="square"/>
                    <a:lstStyle/>
                    <a:p>
                      <a:pPr algn="l"/>
                      <a:r>
                        <a:rPr sz="1200" b="0" i="0">
                          <a:solidFill>
                            <a:srgbClr val="1A1A1A"/>
                          </a:solidFill>
                          <a:latin typeface="Calibri"/>
                        </a:rPr>
                        <a:t>1024 tokens</a:t>
                      </a:r>
                    </a:p>
                  </a:txBody>
                  <a:tcPr marL="91440" marR="91440" marT="36576" marB="36576">
                    <a:solidFill>
                      <a:srgbClr val="FFFFFF"/>
                    </a:solidFill>
                  </a:tcPr>
                </a:tc>
              </a:tr>
              <a:tr h="434340">
                <a:tc>
                  <a:txBody>
                    <a:bodyPr wrap="square"/>
                    <a:lstStyle/>
                    <a:p>
                      <a:pPr algn="l"/>
                      <a:r>
                        <a:rPr sz="1200" b="1" i="0">
                          <a:solidFill>
                            <a:srgbClr val="E46A1E"/>
                          </a:solidFill>
                          <a:latin typeface="Calibri"/>
                        </a:rPr>
                        <a:t>Optimizer</a:t>
                      </a:r>
                    </a:p>
                  </a:txBody>
                  <a:tcPr marL="91440" marR="91440" marT="36576" marB="36576">
                    <a:solidFill>
                      <a:srgbClr val="FAFAFC"/>
                    </a:solidFill>
                  </a:tcPr>
                </a:tc>
                <a:tc>
                  <a:txBody>
                    <a:bodyPr wrap="square"/>
                    <a:lstStyle/>
                    <a:p>
                      <a:pPr algn="l"/>
                      <a:r>
                        <a:rPr sz="1200" b="0" i="0">
                          <a:solidFill>
                            <a:srgbClr val="1A1A1A"/>
                          </a:solidFill>
                          <a:latin typeface="Calibri"/>
                        </a:rPr>
                        <a:t>AdamW, lr = 2 × 10⁻⁴</a:t>
                      </a:r>
                    </a:p>
                  </a:txBody>
                  <a:tcPr marL="91440" marR="91440" marT="36576" marB="36576">
                    <a:solidFill>
                      <a:srgbClr val="FAFAFC"/>
                    </a:solidFill>
                  </a:tcPr>
                </a:tc>
              </a:tr>
              <a:tr h="434340">
                <a:tc>
                  <a:txBody>
                    <a:bodyPr wrap="square"/>
                    <a:lstStyle/>
                    <a:p>
                      <a:pPr algn="l"/>
                      <a:r>
                        <a:rPr sz="1200" b="1" i="0">
                          <a:solidFill>
                            <a:srgbClr val="E46A1E"/>
                          </a:solidFill>
                          <a:latin typeface="Calibri"/>
                        </a:rPr>
                        <a:t>Gradient clip</a:t>
                      </a:r>
                    </a:p>
                  </a:txBody>
                  <a:tcPr marL="91440" marR="91440" marT="36576" marB="36576">
                    <a:solidFill>
                      <a:srgbClr val="FFFFFF"/>
                    </a:solidFill>
                  </a:tcPr>
                </a:tc>
                <a:tc>
                  <a:txBody>
                    <a:bodyPr wrap="square"/>
                    <a:lstStyle/>
                    <a:p>
                      <a:pPr algn="l"/>
                      <a:r>
                        <a:rPr sz="1200" b="0" i="0">
                          <a:solidFill>
                            <a:srgbClr val="1A1A1A"/>
                          </a:solidFill>
                          <a:latin typeface="Calibri"/>
                        </a:rPr>
                        <a:t>max_norm = 1.0</a:t>
                      </a:r>
                    </a:p>
                  </a:txBody>
                  <a:tcPr marL="91440" marR="91440" marT="36576" marB="36576">
                    <a:solidFill>
                      <a:srgbClr val="FFFFFF"/>
                    </a:solidFill>
                  </a:tcPr>
                </a:tc>
              </a:tr>
              <a:tr h="434340">
                <a:tc>
                  <a:txBody>
                    <a:bodyPr wrap="square"/>
                    <a:lstStyle/>
                    <a:p>
                      <a:pPr algn="l"/>
                      <a:r>
                        <a:rPr sz="1200" b="1" i="0">
                          <a:solidFill>
                            <a:srgbClr val="E46A1E"/>
                          </a:solidFill>
                          <a:latin typeface="Calibri"/>
                        </a:rPr>
                        <a:t>Scheduler</a:t>
                      </a:r>
                    </a:p>
                  </a:txBody>
                  <a:tcPr marL="91440" marR="91440" marT="36576" marB="36576">
                    <a:solidFill>
                      <a:srgbClr val="FAFAFC"/>
                    </a:solidFill>
                  </a:tcPr>
                </a:tc>
                <a:tc>
                  <a:txBody>
                    <a:bodyPr wrap="square"/>
                    <a:lstStyle/>
                    <a:p>
                      <a:pPr algn="l"/>
                      <a:r>
                        <a:rPr sz="1200" b="0" i="0">
                          <a:solidFill>
                            <a:srgbClr val="1A1A1A"/>
                          </a:solidFill>
                          <a:latin typeface="Calibri"/>
                        </a:rPr>
                        <a:t>constant (no warmup — short run)</a:t>
                      </a:r>
                    </a:p>
                  </a:txBody>
                  <a:tcPr marL="91440" marR="91440" marT="36576" marB="36576">
                    <a:solidFill>
                      <a:srgbClr val="FAFAFC"/>
                    </a:solidFill>
                  </a:tcPr>
                </a:tc>
              </a:tr>
              <a:tr h="434340">
                <a:tc>
                  <a:txBody>
                    <a:bodyPr wrap="square"/>
                    <a:lstStyle/>
                    <a:p>
                      <a:pPr algn="l"/>
                      <a:r>
                        <a:rPr sz="1200" b="1" i="0">
                          <a:solidFill>
                            <a:srgbClr val="E46A1E"/>
                          </a:solidFill>
                          <a:latin typeface="Calibri"/>
                        </a:rPr>
                        <a:t>Checkpoints</a:t>
                      </a:r>
                    </a:p>
                  </a:txBody>
                  <a:tcPr marL="91440" marR="91440" marT="36576" marB="36576">
                    <a:solidFill>
                      <a:srgbClr val="FFFFFF"/>
                    </a:solidFill>
                  </a:tcPr>
                </a:tc>
                <a:tc>
                  <a:txBody>
                    <a:bodyPr wrap="square"/>
                    <a:lstStyle/>
                    <a:p>
                      <a:pPr algn="l"/>
                      <a:r>
                        <a:rPr sz="1200" b="0" i="0">
                          <a:solidFill>
                            <a:srgbClr val="1A1A1A"/>
                          </a:solidFill>
                          <a:latin typeface="Calibri"/>
                        </a:rPr>
                        <a:t>save after every epoch + final/</a:t>
                      </a:r>
                    </a:p>
                  </a:txBody>
                  <a:tcPr marL="91440" marR="91440" marT="36576" marB="36576">
                    <a:solidFill>
                      <a:srgbClr val="FFFFFF"/>
                    </a:solidFill>
                  </a:tcPr>
                </a:tc>
              </a:tr>
            </a:tbl>
          </a:graphicData>
        </a:graphic>
      </p:graphicFrame>
      <p:sp>
        <p:nvSpPr>
          <p:cNvPr id="4" name="Rectangle 3"/>
          <p:cNvSpPr/>
          <p:nvPr/>
        </p:nvSpPr>
        <p:spPr>
          <a:xfrm>
            <a:off x="6217920" y="1188720"/>
            <a:ext cx="5760720" cy="2286000"/>
          </a:xfrm>
          <a:prstGeom prst="rect">
            <a:avLst/>
          </a:prstGeom>
          <a:solidFill>
            <a:srgbClr val="1E1E2E"/>
          </a:solidFill>
          <a:ln>
            <a:noFill/>
          </a:ln>
        </p:spPr>
        <p:style>
          <a:lnRef idx="1">
            <a:schemeClr val="accent1"/>
          </a:lnRef>
          <a:fillRef idx="3">
            <a:schemeClr val="accent1"/>
          </a:fillRef>
          <a:effectRef idx="2">
            <a:schemeClr val="accent1"/>
          </a:effectRef>
          <a:fontRef idx="minor">
            <a:schemeClr val="lt1"/>
          </a:fontRef>
        </p:style>
        <p:txBody>
          <a:bodyPr rtlCol="0" anchor="ctr" wrap="none" lIns="137160" rIns="137160" tIns="91440" bIns="91440"/>
          <a:lstStyle/>
          <a:p>
            <a:pPr algn="l"/>
            <a:r>
              <a:rPr sz="1200" b="0" i="0">
                <a:solidFill>
                  <a:srgbClr val="E6E6F0"/>
                </a:solidFill>
                <a:latin typeface="Consolas"/>
              </a:rPr>
              <a:t>epoch 1 :  train_loss = 0.32   val_loss = 0.18</a:t>
            </a:r>
          </a:p>
          <a:p>
            <a:pPr algn="l"/>
            <a:r>
              <a:rPr sz="1200" b="0" i="0">
                <a:solidFill>
                  <a:srgbClr val="E6E6F0"/>
                </a:solidFill>
                <a:latin typeface="Consolas"/>
              </a:rPr>
              <a:t>epoch 2 :  train_loss = 0.09   val_loss = 0.08</a:t>
            </a:r>
          </a:p>
          <a:p>
            <a:pPr algn="l"/>
            <a:r>
              <a:rPr sz="1200" b="0" i="0">
                <a:solidFill>
                  <a:srgbClr val="E6E6F0"/>
                </a:solidFill>
                <a:latin typeface="Consolas"/>
              </a:rPr>
              <a:t>epoch 3 :  train_loss = 0.05   val_loss = 0.047</a:t>
            </a:r>
            <a:r>
              <a:rPr sz="1200" b="0" i="1">
                <a:solidFill>
                  <a:srgbClr val="8A9AA8"/>
                </a:solidFill>
                <a:latin typeface="Consolas"/>
              </a:rPr>
              <a:t> ← best, used downstream</a:t>
            </a:r>
          </a:p>
          <a:p>
            <a:pPr algn="l"/>
            <a:r>
              <a:rPr sz="1200" b="0" i="0">
                <a:solidFill>
                  <a:srgbClr val="E6E6F0"/>
                </a:solidFill>
                <a:latin typeface="Consolas"/>
              </a:rPr>
              <a:t>epoch 4 :  train_loss = 0.03   val_loss = 0.050</a:t>
            </a:r>
            <a:r>
              <a:rPr sz="1200" b="0" i="1">
                <a:solidFill>
                  <a:srgbClr val="8A9AA8"/>
                </a:solidFill>
                <a:latin typeface="Consolas"/>
              </a:rPr>
              <a:t> ← overfitting begins</a:t>
            </a:r>
          </a:p>
          <a:p>
            <a:pPr algn="l"/>
            <a:r>
              <a:rPr sz="1200" b="0" i="0">
                <a:solidFill>
                  <a:srgbClr val="E6E6F0"/>
                </a:solidFill>
                <a:latin typeface="Consolas"/>
              </a:rPr>
              <a:t>epoch 5 :  train_loss = 0.02   val_loss = 0.052</a:t>
            </a:r>
          </a:p>
        </p:txBody>
      </p:sp>
      <p:sp>
        <p:nvSpPr>
          <p:cNvPr id="5" name="Rounded Rectangle 4"/>
          <p:cNvSpPr/>
          <p:nvPr/>
        </p:nvSpPr>
        <p:spPr>
          <a:xfrm>
            <a:off x="6400800" y="1051560"/>
            <a:ext cx="2286000" cy="320040"/>
          </a:xfrm>
          <a:prstGeom prst="roundRect">
            <a:avLst/>
          </a:prstGeom>
          <a:solidFill>
            <a:srgbClr val="E46A1E"/>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i="0">
                <a:solidFill>
                  <a:srgbClr val="FFFFFF"/>
                </a:solidFill>
                <a:latin typeface="Calibri"/>
              </a:rPr>
              <a:t>VAL LOSS  (held-out 71)</a:t>
            </a:r>
          </a:p>
        </p:txBody>
      </p:sp>
      <p:sp>
        <p:nvSpPr>
          <p:cNvPr id="6" name="TextBox 5"/>
          <p:cNvSpPr txBox="1"/>
          <p:nvPr/>
        </p:nvSpPr>
        <p:spPr>
          <a:xfrm>
            <a:off x="6217920" y="3657600"/>
            <a:ext cx="5760720" cy="2743200"/>
          </a:xfrm>
          <a:prstGeom prst="rect">
            <a:avLst/>
          </a:prstGeom>
          <a:noFill/>
        </p:spPr>
        <p:txBody>
          <a:bodyPr wrap="square">
            <a:spAutoFit/>
          </a:bodyPr>
          <a:lstStyle/>
          <a:p>
            <a:r>
              <a:rPr sz="1600" b="1" i="0">
                <a:solidFill>
                  <a:srgbClr val="1F3A5F"/>
                </a:solidFill>
                <a:latin typeface="Calibri"/>
              </a:rPr>
              <a:t>Interpretation</a:t>
            </a:r>
          </a:p>
          <a:p>
            <a:pPr algn="l" marL="228600" indent="-228600">
              <a:buChar char="•"/>
            </a:pPr>
            <a:r>
              <a:rPr sz="1200" b="0">
                <a:solidFill>
                  <a:srgbClr val="1A1A1A"/>
                </a:solidFill>
                <a:latin typeface="Calibri"/>
              </a:rPr>
              <a:t>val_loss = 0.047 → next-token accuracy ≈ 95 % on prompts the model never saw</a:t>
            </a:r>
          </a:p>
          <a:p>
            <a:pPr algn="l" marL="228600" indent="-228600">
              <a:buChar char="•"/>
            </a:pPr>
            <a:r>
              <a:rPr sz="1200" b="0">
                <a:solidFill>
                  <a:srgbClr val="E46A1E"/>
                </a:solidFill>
                <a:latin typeface="Calibri"/>
              </a:rPr>
              <a:t>We use epoch-3 for downstream GRPO (overfit beyond)</a:t>
            </a:r>
          </a:p>
          <a:p>
            <a:pPr algn="l" marL="228600" indent="-228600">
              <a:buChar char="•"/>
            </a:pPr>
            <a:r>
              <a:rPr sz="1200" b="0">
                <a:solidFill>
                  <a:srgbClr val="6E6E6E"/>
                </a:solidFill>
                <a:latin typeface="Calibri"/>
              </a:rPr>
              <a:t>Token-level metric only — for circuit-level quality, see slide 5</a:t>
            </a:r>
          </a:p>
        </p:txBody>
      </p:sp>
      <p:sp>
        <p:nvSpPr>
          <p:cNvPr id="7" name="Rounded Rectangle 6"/>
          <p:cNvSpPr/>
          <p:nvPr/>
        </p:nvSpPr>
        <p:spPr>
          <a:xfrm>
            <a:off x="548640" y="4937760"/>
            <a:ext cx="5486400" cy="1280160"/>
          </a:xfrm>
          <a:prstGeom prst="roundRect">
            <a:avLst/>
          </a:prstGeom>
          <a:solidFill>
            <a:srgbClr val="F6F8FA"/>
          </a:solidFill>
          <a:ln w="12700">
            <a:solidFill>
              <a:srgbClr val="1F3A5F"/>
            </a:solidFill>
          </a:ln>
        </p:spPr>
        <p:style>
          <a:lnRef idx="1">
            <a:schemeClr val="accent1"/>
          </a:lnRef>
          <a:fillRef idx="3">
            <a:schemeClr val="accent1"/>
          </a:fillRef>
          <a:effectRef idx="2">
            <a:schemeClr val="accent1"/>
          </a:effectRef>
          <a:fontRef idx="minor">
            <a:schemeClr val="lt1"/>
          </a:fontRef>
        </p:style>
        <p:txBody>
          <a:bodyPr rtlCol="0" anchor="ctr" lIns="182880" tIns="91440"/>
          <a:lstStyle/>
          <a:p>
            <a:pPr algn="ctr"/>
            <a:r>
              <a:rPr sz="1200" b="1" i="0">
                <a:solidFill>
                  <a:srgbClr val="1F3A5F"/>
                </a:solidFill>
                <a:latin typeface="Calibri"/>
              </a:rPr>
              <a:t>How to reproduce</a:t>
            </a:r>
          </a:p>
          <a:p>
            <a:r>
              <a:rPr sz="1300" b="0" i="0">
                <a:solidFill>
                  <a:srgbClr val="E46A1E"/>
                </a:solidFill>
                <a:latin typeface="Consolas"/>
              </a:rPr>
              <a:t>bash scripts/run_pipeline.sh sft</a:t>
            </a:r>
          </a:p>
          <a:p>
            <a:r>
              <a:rPr sz="1100" b="0" i="1">
                <a:solidFill>
                  <a:srgbClr val="6E6E6E"/>
                </a:solidFill>
                <a:latin typeface="Calibri"/>
              </a:rPr>
              <a:t>Output → checkpoints/sft-lora/epoch-{1..5}/  +  history.json</a:t>
            </a:r>
          </a:p>
        </p:txBody>
      </p:sp>
      <p:sp>
        <p:nvSpPr>
          <p:cNvPr id="8" name="TextBox 7"/>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3 / 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4 — Example: before vs after</a:t>
            </a:r>
          </a:p>
          <a:p>
            <a:pPr algn="l"/>
            <a:r>
              <a:rPr sz="1400">
                <a:solidFill>
                  <a:srgbClr val="CBD5E0"/>
                </a:solidFill>
                <a:latin typeface="Calibri"/>
              </a:rPr>
              <a:t>Constraint idx 0 — "12 V → 5 V step-down, 100 W, 90 % efficiency"</a:t>
            </a:r>
          </a:p>
        </p:txBody>
      </p:sp>
      <p:sp>
        <p:nvSpPr>
          <p:cNvPr id="3" name="Rectangle 2"/>
          <p:cNvSpPr/>
          <p:nvPr/>
        </p:nvSpPr>
        <p:spPr>
          <a:xfrm>
            <a:off x="365760" y="1371600"/>
            <a:ext cx="5760720" cy="4023360"/>
          </a:xfrm>
          <a:prstGeom prst="rect">
            <a:avLst/>
          </a:prstGeom>
          <a:solidFill>
            <a:srgbClr val="1E1E2E"/>
          </a:solidFill>
          <a:ln w="25400">
            <a:solidFill>
              <a:srgbClr val="C12A1F"/>
            </a:solidFill>
          </a:ln>
        </p:spPr>
        <p:style>
          <a:lnRef idx="1">
            <a:schemeClr val="accent1"/>
          </a:lnRef>
          <a:fillRef idx="3">
            <a:schemeClr val="accent1"/>
          </a:fillRef>
          <a:effectRef idx="2">
            <a:schemeClr val="accent1"/>
          </a:effectRef>
          <a:fontRef idx="minor">
            <a:schemeClr val="lt1"/>
          </a:fontRef>
        </p:style>
        <p:txBody>
          <a:bodyPr rtlCol="0" anchor="ctr" wrap="none" lIns="137160" rIns="137160" tIns="91440" bIns="91440"/>
          <a:lstStyle/>
          <a:p>
            <a:pPr algn="l"/>
            <a:r>
              <a:rPr sz="1100" b="0" i="1">
                <a:solidFill>
                  <a:srgbClr val="8A9AA8"/>
                </a:solidFill>
                <a:latin typeface="Consolas"/>
              </a:rPr>
              <a:t>* Buck converter for 12V to 5V</a:t>
            </a:r>
          </a:p>
          <a:p>
            <a:pPr algn="l"/>
            <a:r>
              <a:rPr sz="1100" b="0" i="0">
                <a:solidFill>
                  <a:srgbClr val="E6E6F0"/>
                </a:solidFill>
                <a:latin typeface="Consolas"/>
              </a:rPr>
              <a:t>Vin Vin 0 12</a:t>
            </a:r>
          </a:p>
          <a:p>
            <a:pPr algn="l"/>
            <a:r>
              <a:rPr sz="1100" b="0" i="0">
                <a:solidFill>
                  <a:srgbClr val="E6E6F0"/>
                </a:solidFill>
                <a:latin typeface="Consolas"/>
              </a:rPr>
              <a:t>Lout out 0 4.7uH</a:t>
            </a:r>
            <a:r>
              <a:rPr sz="1100" b="0" i="1">
                <a:solidFill>
                  <a:srgbClr val="8A9AA8"/>
                </a:solidFill>
                <a:latin typeface="Consolas"/>
              </a:rPr>
              <a:t> ← no path to node 'out'</a:t>
            </a:r>
          </a:p>
          <a:p>
            <a:pPr algn="l"/>
            <a:r>
              <a:rPr sz="1100" b="0" i="0">
                <a:solidFill>
                  <a:srgbClr val="E6E6F0"/>
                </a:solidFill>
                <a:latin typeface="Consolas"/>
              </a:rPr>
              <a:t>Sout Vin out gate Vss SW</a:t>
            </a:r>
            <a:r>
              <a:rPr sz="1100" b="0" i="1">
                <a:solidFill>
                  <a:srgbClr val="8A9AA8"/>
                </a:solidFill>
                <a:latin typeface="Consolas"/>
              </a:rPr>
              <a:t> ← SW model undefined,</a:t>
            </a:r>
          </a:p>
          <a:p>
            <a:pPr algn="l"/>
            <a:r>
              <a:rPr sz="1100" b="0" i="0">
                <a:solidFill>
                  <a:srgbClr val="E6E6F0"/>
                </a:solidFill>
                <a:latin typeface="Consolas"/>
              </a:rPr>
              <a:t>                                     wrong pin order</a:t>
            </a:r>
          </a:p>
          <a:p>
            <a:pPr algn="l"/>
            <a:r>
              <a:rPr sz="1100" b="0" i="0">
                <a:solidFill>
                  <a:srgbClr val="E6E6F0"/>
                </a:solidFill>
                <a:latin typeface="Consolas"/>
              </a:rPr>
              <a:t>Rload out 0 0.25</a:t>
            </a:r>
          </a:p>
          <a:p>
            <a:pPr algn="l"/>
            <a:r>
              <a:rPr sz="1100" b="0" i="0">
                <a:solidFill>
                  <a:srgbClr val="E6E6F0"/>
                </a:solidFill>
                <a:latin typeface="Consolas"/>
              </a:rPr>
              <a:t/>
            </a:r>
            <a:r>
              <a:rPr sz="1100" b="0" i="1">
                <a:solidFill>
                  <a:srgbClr val="8A9AA8"/>
                </a:solidFill>
                <a:latin typeface="Consolas"/>
              </a:rPr>
              <a:t> ← no .model, no Vgate, no .end</a:t>
            </a:r>
          </a:p>
        </p:txBody>
      </p:sp>
      <p:sp>
        <p:nvSpPr>
          <p:cNvPr id="4" name="Rounded Rectangle 3"/>
          <p:cNvSpPr/>
          <p:nvPr/>
        </p:nvSpPr>
        <p:spPr>
          <a:xfrm>
            <a:off x="548640" y="1234440"/>
            <a:ext cx="2286000" cy="320040"/>
          </a:xfrm>
          <a:prstGeom prst="roundRect">
            <a:avLst/>
          </a:prstGeom>
          <a:solidFill>
            <a:srgbClr val="C12A1F"/>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i="0">
                <a:solidFill>
                  <a:srgbClr val="FFFFFF"/>
                </a:solidFill>
                <a:latin typeface="Calibri"/>
              </a:rPr>
              <a:t>BASE  Qwen3-14B  (no SFT)</a:t>
            </a:r>
          </a:p>
        </p:txBody>
      </p:sp>
      <p:sp>
        <p:nvSpPr>
          <p:cNvPr id="5" name="Rectangle 4"/>
          <p:cNvSpPr/>
          <p:nvPr/>
        </p:nvSpPr>
        <p:spPr>
          <a:xfrm>
            <a:off x="6309360" y="1371600"/>
            <a:ext cx="5486400" cy="4023360"/>
          </a:xfrm>
          <a:prstGeom prst="rect">
            <a:avLst/>
          </a:prstGeom>
          <a:solidFill>
            <a:srgbClr val="1E1E2E"/>
          </a:solidFill>
          <a:ln w="25400">
            <a:solidFill>
              <a:srgbClr val="1B8E3E"/>
            </a:solidFill>
          </a:ln>
        </p:spPr>
        <p:style>
          <a:lnRef idx="1">
            <a:schemeClr val="accent1"/>
          </a:lnRef>
          <a:fillRef idx="3">
            <a:schemeClr val="accent1"/>
          </a:fillRef>
          <a:effectRef idx="2">
            <a:schemeClr val="accent1"/>
          </a:effectRef>
          <a:fontRef idx="minor">
            <a:schemeClr val="lt1"/>
          </a:fontRef>
        </p:style>
        <p:txBody>
          <a:bodyPr rtlCol="0" anchor="ctr" wrap="none" lIns="137160" rIns="137160" tIns="91440" bIns="91440"/>
          <a:lstStyle/>
          <a:p>
            <a:pPr algn="l"/>
            <a:r>
              <a:rPr sz="1100" b="0" i="1">
                <a:solidFill>
                  <a:srgbClr val="8A9AA8"/>
                </a:solidFill>
                <a:latin typeface="Consolas"/>
              </a:rPr>
              <a:t>* 12V to 5V buck, 100W</a:t>
            </a:r>
          </a:p>
          <a:p>
            <a:pPr algn="l"/>
            <a:r>
              <a:rPr sz="1100" b="0" i="0">
                <a:solidFill>
                  <a:srgbClr val="E6E6F0"/>
                </a:solidFill>
                <a:latin typeface="Consolas"/>
              </a:rPr>
              <a:t>Vin in 0 12</a:t>
            </a:r>
          </a:p>
          <a:p>
            <a:pPr algn="l"/>
            <a:r>
              <a:rPr sz="1100" b="0" i="0">
                <a:solidFill>
                  <a:srgbClr val="E6E6F0"/>
                </a:solidFill>
                <a:latin typeface="Consolas"/>
              </a:rPr>
              <a:t>M1 in gate sw 0 NMOS W=1 L=1</a:t>
            </a:r>
          </a:p>
          <a:p>
            <a:pPr algn="l"/>
            <a:r>
              <a:rPr sz="1100" b="0" i="0">
                <a:solidFill>
                  <a:srgbClr val="E6E6F0"/>
                </a:solidFill>
                <a:latin typeface="Consolas"/>
              </a:rPr>
              <a:t>D1 0 sw DIODE</a:t>
            </a:r>
          </a:p>
          <a:p>
            <a:pPr algn="l"/>
            <a:r>
              <a:rPr sz="1100" b="0" i="0">
                <a:solidFill>
                  <a:srgbClr val="E6E6F0"/>
                </a:solidFill>
                <a:latin typeface="Consolas"/>
              </a:rPr>
              <a:t>L1 sw out 22u</a:t>
            </a:r>
          </a:p>
          <a:p>
            <a:pPr algn="l"/>
            <a:r>
              <a:rPr sz="1100" b="0" i="0">
                <a:solidFill>
                  <a:srgbClr val="E6E6F0"/>
                </a:solidFill>
                <a:latin typeface="Consolas"/>
              </a:rPr>
              <a:t>C1 out 0 220u</a:t>
            </a:r>
          </a:p>
          <a:p>
            <a:pPr algn="l"/>
            <a:r>
              <a:rPr sz="1100" b="0" i="0">
                <a:solidFill>
                  <a:srgbClr val="E6E6F0"/>
                </a:solidFill>
                <a:latin typeface="Consolas"/>
              </a:rPr>
              <a:t>Rload out 0 0.25</a:t>
            </a:r>
          </a:p>
          <a:p>
            <a:pPr algn="l"/>
            <a:r>
              <a:rPr sz="1100" b="0" i="0">
                <a:solidFill>
                  <a:srgbClr val="E6E6F0"/>
                </a:solidFill>
                <a:latin typeface="Consolas"/>
              </a:rPr>
              <a:t>Vgate gate 0 PULSE(0 12 0 1n 1n 4.16u 10u)</a:t>
            </a:r>
          </a:p>
          <a:p>
            <a:pPr algn="l"/>
            <a:r>
              <a:rPr sz="1100" b="0" i="0">
                <a:solidFill>
                  <a:srgbClr val="E6E6F0"/>
                </a:solidFill>
                <a:latin typeface="Consolas"/>
              </a:rPr>
              <a:t>.model NMOS NMOS(Vto=1 Kp=2 Lambda=0)</a:t>
            </a:r>
          </a:p>
          <a:p>
            <a:pPr algn="l"/>
            <a:r>
              <a:rPr sz="1100" b="0" i="0">
                <a:solidFill>
                  <a:srgbClr val="E6E6F0"/>
                </a:solidFill>
                <a:latin typeface="Consolas"/>
              </a:rPr>
              <a:t>.model DIODE D</a:t>
            </a:r>
          </a:p>
          <a:p>
            <a:pPr algn="l"/>
            <a:r>
              <a:rPr sz="1100" b="0" i="0">
                <a:solidFill>
                  <a:srgbClr val="E6E6F0"/>
                </a:solidFill>
                <a:latin typeface="Consolas"/>
              </a:rPr>
              <a:t>.tran 1n 5m</a:t>
            </a:r>
          </a:p>
          <a:p>
            <a:pPr algn="l"/>
            <a:r>
              <a:rPr sz="1100" b="0" i="0">
                <a:solidFill>
                  <a:srgbClr val="E6E6F0"/>
                </a:solidFill>
                <a:latin typeface="Consolas"/>
              </a:rPr>
              <a:t>.end</a:t>
            </a:r>
          </a:p>
        </p:txBody>
      </p:sp>
      <p:sp>
        <p:nvSpPr>
          <p:cNvPr id="6" name="Rounded Rectangle 5"/>
          <p:cNvSpPr/>
          <p:nvPr/>
        </p:nvSpPr>
        <p:spPr>
          <a:xfrm>
            <a:off x="6492240" y="1234440"/>
            <a:ext cx="2286000" cy="320040"/>
          </a:xfrm>
          <a:prstGeom prst="roundRect">
            <a:avLst/>
          </a:prstGeom>
          <a:solidFill>
            <a:srgbClr val="1B8E3E"/>
          </a:solidFill>
          <a:ln>
            <a:noFill/>
          </a:ln>
        </p:spPr>
        <p:style>
          <a:lnRef idx="1">
            <a:schemeClr val="accent1"/>
          </a:lnRef>
          <a:fillRef idx="3">
            <a:schemeClr val="accent1"/>
          </a:fillRef>
          <a:effectRef idx="2">
            <a:schemeClr val="accent1"/>
          </a:effectRef>
          <a:fontRef idx="minor">
            <a:schemeClr val="lt1"/>
          </a:fontRef>
        </p:style>
        <p:txBody>
          <a:bodyPr rtlCol="0" anchor="ctr" tIns="18288" bIns="18288"/>
          <a:lstStyle/>
          <a:p>
            <a:pPr algn="ctr"/>
            <a:r>
              <a:rPr sz="1100" b="1" i="0">
                <a:solidFill>
                  <a:srgbClr val="FFFFFF"/>
                </a:solidFill>
                <a:latin typeface="Calibri"/>
              </a:rPr>
              <a:t>+ SFT LoRA  (epoch-3)</a:t>
            </a:r>
          </a:p>
        </p:txBody>
      </p:sp>
      <p:graphicFrame>
        <p:nvGraphicFramePr>
          <p:cNvPr id="7" name="Table 6"/>
          <p:cNvGraphicFramePr>
            <a:graphicFrameLocks noGrp="1"/>
          </p:cNvGraphicFramePr>
          <p:nvPr/>
        </p:nvGraphicFramePr>
        <p:xfrm>
          <a:off x="365760" y="5577840"/>
          <a:ext cx="11430000" cy="822960"/>
        </p:xfrm>
        <a:graphic>
          <a:graphicData uri="http://schemas.openxmlformats.org/drawingml/2006/table">
            <a:tbl>
              <a:tblPr firstRow="1" bandRow="1">
                <a:tableStyleId>{5C22544A-7EE6-4342-B048-85BDC9FD1C3A}</a:tableStyleId>
              </a:tblPr>
              <a:tblGrid>
                <a:gridCol w="2926080"/>
                <a:gridCol w="2743200"/>
                <a:gridCol w="3017520"/>
                <a:gridCol w="2743200"/>
              </a:tblGrid>
              <a:tr h="274320">
                <a:tc>
                  <a:txBody>
                    <a:bodyPr/>
                    <a:lstStyle/>
                    <a:p>
                      <a:pPr algn="l"/>
                      <a:r>
                        <a:rPr sz="1200" b="1" i="0">
                          <a:solidFill>
                            <a:srgbClr val="FFFFFF"/>
                          </a:solidFill>
                          <a:latin typeface="Calibri"/>
                        </a:rPr>
                        <a:t>Model</a:t>
                      </a:r>
                    </a:p>
                  </a:txBody>
                  <a:tcPr marL="91440" marR="91440" marT="45720" marB="45720">
                    <a:solidFill>
                      <a:srgbClr val="1F3A5F"/>
                    </a:solidFill>
                  </a:tcPr>
                </a:tc>
                <a:tc>
                  <a:txBody>
                    <a:bodyPr/>
                    <a:lstStyle/>
                    <a:p>
                      <a:pPr algn="l"/>
                      <a:r>
                        <a:rPr sz="1200" b="1" i="0">
                          <a:solidFill>
                            <a:srgbClr val="FFFFFF"/>
                          </a:solidFill>
                          <a:latin typeface="Calibri"/>
                        </a:rPr>
                        <a:t>Validator</a:t>
                      </a:r>
                    </a:p>
                  </a:txBody>
                  <a:tcPr marL="91440" marR="91440" marT="45720" marB="45720">
                    <a:solidFill>
                      <a:srgbClr val="1F3A5F"/>
                    </a:solidFill>
                  </a:tcPr>
                </a:tc>
                <a:tc>
                  <a:txBody>
                    <a:bodyPr/>
                    <a:lstStyle/>
                    <a:p>
                      <a:pPr algn="l"/>
                      <a:r>
                        <a:rPr sz="1200" b="1" i="0">
                          <a:solidFill>
                            <a:srgbClr val="FFFFFF"/>
                          </a:solidFill>
                          <a:latin typeface="Calibri"/>
                        </a:rPr>
                        <a:t>LTspice</a:t>
                      </a:r>
                    </a:p>
                  </a:txBody>
                  <a:tcPr marL="91440" marR="91440" marT="45720" marB="45720">
                    <a:solidFill>
                      <a:srgbClr val="1F3A5F"/>
                    </a:solidFill>
                  </a:tcPr>
                </a:tc>
                <a:tc>
                  <a:txBody>
                    <a:bodyPr/>
                    <a:lstStyle/>
                    <a:p>
                      <a:pPr algn="l"/>
                      <a:r>
                        <a:rPr sz="1200" b="1" i="0">
                          <a:solidFill>
                            <a:srgbClr val="FFFFFF"/>
                          </a:solidFill>
                          <a:latin typeface="Calibri"/>
                        </a:rPr>
                        <a:t>Reward (norm. ∈ [-1, +1])</a:t>
                      </a:r>
                    </a:p>
                  </a:txBody>
                  <a:tcPr marL="91440" marR="91440" marT="45720" marB="45720">
                    <a:solidFill>
                      <a:srgbClr val="1F3A5F"/>
                    </a:solidFill>
                  </a:tcPr>
                </a:tc>
              </a:tr>
              <a:tr h="274320">
                <a:tc>
                  <a:txBody>
                    <a:bodyPr wrap="square"/>
                    <a:lstStyle/>
                    <a:p>
                      <a:pPr algn="l"/>
                      <a:r>
                        <a:rPr sz="1200" b="1" i="0">
                          <a:solidFill>
                            <a:srgbClr val="E46A1E"/>
                          </a:solidFill>
                          <a:latin typeface="Calibri"/>
                        </a:rPr>
                        <a:t>Base Qwen3-14B</a:t>
                      </a:r>
                    </a:p>
                  </a:txBody>
                  <a:tcPr marL="91440" marR="91440" marT="36576" marB="36576">
                    <a:solidFill>
                      <a:srgbClr val="FFFFFF"/>
                    </a:solidFill>
                  </a:tcPr>
                </a:tc>
                <a:tc>
                  <a:txBody>
                    <a:bodyPr wrap="square"/>
                    <a:lstStyle/>
                    <a:p>
                      <a:pPr algn="l"/>
                      <a:r>
                        <a:rPr sz="1200" b="0" i="0">
                          <a:solidFill>
                            <a:srgbClr val="1A1A1A"/>
                          </a:solidFill>
                          <a:latin typeface="Calibri"/>
                        </a:rPr>
                        <a:t>FAIL  (3 errors)</a:t>
                      </a:r>
                    </a:p>
                  </a:txBody>
                  <a:tcPr marL="91440" marR="91440" marT="36576" marB="36576">
                    <a:solidFill>
                      <a:srgbClr val="FFFFFF"/>
                    </a:solidFill>
                  </a:tcPr>
                </a:tc>
                <a:tc>
                  <a:txBody>
                    <a:bodyPr wrap="square"/>
                    <a:lstStyle/>
                    <a:p>
                      <a:pPr algn="l"/>
                      <a:r>
                        <a:rPr sz="1200" b="0" i="0">
                          <a:solidFill>
                            <a:srgbClr val="1A1A1A"/>
                          </a:solidFill>
                          <a:latin typeface="Calibri"/>
                        </a:rPr>
                        <a:t>ABORT</a:t>
                      </a:r>
                    </a:p>
                  </a:txBody>
                  <a:tcPr marL="91440" marR="91440" marT="36576" marB="36576">
                    <a:solidFill>
                      <a:srgbClr val="FFFFFF"/>
                    </a:solidFill>
                  </a:tcPr>
                </a:tc>
                <a:tc>
                  <a:txBody>
                    <a:bodyPr wrap="square"/>
                    <a:lstStyle/>
                    <a:p>
                      <a:pPr algn="l"/>
                      <a:r>
                        <a:rPr sz="1200" b="0" i="0">
                          <a:solidFill>
                            <a:srgbClr val="1A1A1A"/>
                          </a:solidFill>
                          <a:latin typeface="Calibri"/>
                        </a:rPr>
                        <a:t>-1.0</a:t>
                      </a:r>
                    </a:p>
                  </a:txBody>
                  <a:tcPr marL="91440" marR="91440" marT="36576" marB="36576">
                    <a:solidFill>
                      <a:srgbClr val="FFFFFF"/>
                    </a:solidFill>
                  </a:tcPr>
                </a:tc>
              </a:tr>
              <a:tr h="274320">
                <a:tc>
                  <a:txBody>
                    <a:bodyPr wrap="square"/>
                    <a:lstStyle/>
                    <a:p>
                      <a:pPr algn="l"/>
                      <a:r>
                        <a:rPr sz="1200" b="1" i="0">
                          <a:solidFill>
                            <a:srgbClr val="E46A1E"/>
                          </a:solidFill>
                          <a:latin typeface="Calibri"/>
                        </a:rPr>
                        <a:t>+ SFT LoRA</a:t>
                      </a:r>
                    </a:p>
                  </a:txBody>
                  <a:tcPr marL="91440" marR="91440" marT="36576" marB="36576">
                    <a:solidFill>
                      <a:srgbClr val="FAFAFC"/>
                    </a:solidFill>
                  </a:tcPr>
                </a:tc>
                <a:tc>
                  <a:txBody>
                    <a:bodyPr wrap="square"/>
                    <a:lstStyle/>
                    <a:p>
                      <a:pPr algn="l"/>
                      <a:r>
                        <a:rPr sz="1200" b="0" i="0">
                          <a:solidFill>
                            <a:srgbClr val="1A1A1A"/>
                          </a:solidFill>
                          <a:latin typeface="Calibri"/>
                        </a:rPr>
                        <a:t>PASS  (0 errors)</a:t>
                      </a:r>
                    </a:p>
                  </a:txBody>
                  <a:tcPr marL="91440" marR="91440" marT="36576" marB="36576">
                    <a:solidFill>
                      <a:srgbClr val="FAFAFC"/>
                    </a:solidFill>
                  </a:tcPr>
                </a:tc>
                <a:tc>
                  <a:txBody>
                    <a:bodyPr wrap="square"/>
                    <a:lstStyle/>
                    <a:p>
                      <a:pPr algn="l"/>
                      <a:r>
                        <a:rPr sz="1200" b="0" i="0">
                          <a:solidFill>
                            <a:srgbClr val="1A1A1A"/>
                          </a:solidFill>
                          <a:latin typeface="Calibri"/>
                        </a:rPr>
                        <a:t>Vout ≈ 4.93 V</a:t>
                      </a:r>
                    </a:p>
                  </a:txBody>
                  <a:tcPr marL="91440" marR="91440" marT="36576" marB="36576">
                    <a:solidFill>
                      <a:srgbClr val="FAFAFC"/>
                    </a:solidFill>
                  </a:tcPr>
                </a:tc>
                <a:tc>
                  <a:txBody>
                    <a:bodyPr wrap="square"/>
                    <a:lstStyle/>
                    <a:p>
                      <a:pPr algn="l"/>
                      <a:r>
                        <a:rPr sz="1200" b="0" i="0">
                          <a:solidFill>
                            <a:srgbClr val="1A1A1A"/>
                          </a:solidFill>
                          <a:latin typeface="Calibri"/>
                        </a:rPr>
                        <a:t>+0.85</a:t>
                      </a:r>
                    </a:p>
                  </a:txBody>
                  <a:tcPr marL="91440" marR="91440" marT="36576" marB="36576">
                    <a:solidFill>
                      <a:srgbClr val="FAFAFC"/>
                    </a:solidFill>
                  </a:tcPr>
                </a:tc>
              </a:tr>
            </a:tbl>
          </a:graphicData>
        </a:graphic>
      </p:graphicFrame>
      <p:sp>
        <p:nvSpPr>
          <p:cNvPr id="8" name="TextBox 7"/>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4 / 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5 — Benchmark: base vs SFT on held-out prompts</a:t>
            </a:r>
          </a:p>
          <a:p>
            <a:pPr algn="l"/>
            <a:r>
              <a:rPr sz="1400">
                <a:solidFill>
                  <a:srgbClr val="CBD5E0"/>
                </a:solidFill>
                <a:latin typeface="Calibri"/>
              </a:rPr>
              <a:t>scripts/benchmark_sft.py  +  benchmark_sft.sh   (pushed in this PR)</a:t>
            </a:r>
          </a:p>
        </p:txBody>
      </p:sp>
      <p:sp>
        <p:nvSpPr>
          <p:cNvPr id="3" name="TextBox 2"/>
          <p:cNvSpPr txBox="1"/>
          <p:nvPr/>
        </p:nvSpPr>
        <p:spPr>
          <a:xfrm>
            <a:off x="457200" y="1188720"/>
            <a:ext cx="5486400" cy="3291840"/>
          </a:xfrm>
          <a:prstGeom prst="rect">
            <a:avLst/>
          </a:prstGeom>
          <a:noFill/>
        </p:spPr>
        <p:txBody>
          <a:bodyPr wrap="square">
            <a:spAutoFit/>
          </a:bodyPr>
          <a:lstStyle/>
          <a:p>
            <a:r>
              <a:rPr sz="1800" b="1" i="0">
                <a:solidFill>
                  <a:srgbClr val="1F3A5F"/>
                </a:solidFill>
                <a:latin typeface="Calibri"/>
              </a:rPr>
              <a:t>Procedure</a:t>
            </a:r>
          </a:p>
          <a:p>
            <a:pPr algn="l" marL="228600" indent="-228600">
              <a:buChar char="•"/>
            </a:pPr>
            <a:r>
              <a:rPr sz="1200" b="0">
                <a:solidFill>
                  <a:srgbClr val="1A1A1A"/>
                </a:solidFill>
                <a:latin typeface="Calibri"/>
              </a:rPr>
              <a:t>20 prompts from data/sft/sft_val.jsonl  (never seen by gradient)</a:t>
            </a:r>
          </a:p>
          <a:p>
            <a:pPr algn="l" marL="228600" indent="-228600">
              <a:buChar char="•"/>
            </a:pPr>
            <a:r>
              <a:rPr sz="1200" b="0">
                <a:solidFill>
                  <a:srgbClr val="1A1A1A"/>
                </a:solidFill>
                <a:latin typeface="Calibri"/>
              </a:rPr>
              <a:t>4 candidates per prompt per model</a:t>
            </a:r>
          </a:p>
          <a:p>
            <a:pPr algn="l" marL="228600" indent="-228600">
              <a:buChar char="•"/>
            </a:pPr>
            <a:r>
              <a:rPr sz="1200" b="0">
                <a:solidFill>
                  <a:srgbClr val="1A1A1A"/>
                </a:solidFill>
                <a:latin typeface="Calibri"/>
              </a:rPr>
              <a:t>Each candidate → validator → LTspice → RewardFunctionNorm</a:t>
            </a:r>
          </a:p>
          <a:p>
            <a:pPr algn="l" marL="228600" indent="-228600">
              <a:buChar char="•"/>
            </a:pPr>
            <a:r>
              <a:rPr sz="1200" b="1">
                <a:solidFill>
                  <a:srgbClr val="E46A1E"/>
                </a:solidFill>
                <a:latin typeface="Calibri"/>
              </a:rPr>
              <a:t>Aggregate 3 metrics per model</a:t>
            </a:r>
          </a:p>
        </p:txBody>
      </p:sp>
      <p:graphicFrame>
        <p:nvGraphicFramePr>
          <p:cNvPr id="4" name="Table 3"/>
          <p:cNvGraphicFramePr>
            <a:graphicFrameLocks noGrp="1"/>
          </p:cNvGraphicFramePr>
          <p:nvPr/>
        </p:nvGraphicFramePr>
        <p:xfrm>
          <a:off x="6217920" y="1188720"/>
          <a:ext cx="5669280" cy="1828800"/>
        </p:xfrm>
        <a:graphic>
          <a:graphicData uri="http://schemas.openxmlformats.org/drawingml/2006/table">
            <a:tbl>
              <a:tblPr firstRow="1" bandRow="1">
                <a:tableStyleId>{5C22544A-7EE6-4342-B048-85BDC9FD1C3A}</a:tableStyleId>
              </a:tblPr>
              <a:tblGrid>
                <a:gridCol w="1645920"/>
                <a:gridCol w="4023360"/>
              </a:tblGrid>
              <a:tr h="457200">
                <a:tc>
                  <a:txBody>
                    <a:bodyPr/>
                    <a:lstStyle/>
                    <a:p>
                      <a:pPr algn="l"/>
                      <a:r>
                        <a:rPr sz="1200" b="1" i="0">
                          <a:solidFill>
                            <a:srgbClr val="FFFFFF"/>
                          </a:solidFill>
                          <a:latin typeface="Calibri"/>
                        </a:rPr>
                        <a:t>Metric</a:t>
                      </a:r>
                    </a:p>
                  </a:txBody>
                  <a:tcPr marL="91440" marR="91440" marT="45720" marB="45720">
                    <a:solidFill>
                      <a:srgbClr val="1F3A5F"/>
                    </a:solidFill>
                  </a:tcPr>
                </a:tc>
                <a:tc>
                  <a:txBody>
                    <a:bodyPr/>
                    <a:lstStyle/>
                    <a:p>
                      <a:pPr algn="l"/>
                      <a:r>
                        <a:rPr sz="1200" b="1" i="0">
                          <a:solidFill>
                            <a:srgbClr val="FFFFFF"/>
                          </a:solidFill>
                          <a:latin typeface="Calibri"/>
                        </a:rPr>
                        <a:t>Definition</a:t>
                      </a:r>
                    </a:p>
                  </a:txBody>
                  <a:tcPr marL="91440" marR="91440" marT="45720" marB="45720">
                    <a:solidFill>
                      <a:srgbClr val="1F3A5F"/>
                    </a:solidFill>
                  </a:tcPr>
                </a:tc>
              </a:tr>
              <a:tr h="457200">
                <a:tc>
                  <a:txBody>
                    <a:bodyPr wrap="square"/>
                    <a:lstStyle/>
                    <a:p>
                      <a:pPr algn="l"/>
                      <a:r>
                        <a:rPr sz="1200" b="1" i="0">
                          <a:solidFill>
                            <a:srgbClr val="E46A1E"/>
                          </a:solidFill>
                          <a:latin typeface="Calibri"/>
                        </a:rPr>
                        <a:t>Valid %</a:t>
                      </a:r>
                    </a:p>
                  </a:txBody>
                  <a:tcPr marL="91440" marR="91440" marT="36576" marB="36576">
                    <a:solidFill>
                      <a:srgbClr val="FFFFFF"/>
                    </a:solidFill>
                  </a:tcPr>
                </a:tc>
                <a:tc>
                  <a:txBody>
                    <a:bodyPr wrap="square"/>
                    <a:lstStyle/>
                    <a:p>
                      <a:pPr algn="l"/>
                      <a:r>
                        <a:rPr sz="1200" b="0" i="0">
                          <a:solidFill>
                            <a:srgbClr val="1A1A1A"/>
                          </a:solidFill>
                          <a:latin typeface="Calibri"/>
                        </a:rPr>
                        <a:t>passes all 23 structural checks</a:t>
                      </a:r>
                    </a:p>
                  </a:txBody>
                  <a:tcPr marL="91440" marR="91440" marT="36576" marB="36576">
                    <a:solidFill>
                      <a:srgbClr val="FFFFFF"/>
                    </a:solidFill>
                  </a:tcPr>
                </a:tc>
              </a:tr>
              <a:tr h="457200">
                <a:tc>
                  <a:txBody>
                    <a:bodyPr wrap="square"/>
                    <a:lstStyle/>
                    <a:p>
                      <a:pPr algn="l"/>
                      <a:r>
                        <a:rPr sz="1200" b="1" i="0">
                          <a:solidFill>
                            <a:srgbClr val="E46A1E"/>
                          </a:solidFill>
                          <a:latin typeface="Calibri"/>
                        </a:rPr>
                        <a:t>Sim OK %</a:t>
                      </a:r>
                    </a:p>
                  </a:txBody>
                  <a:tcPr marL="91440" marR="91440" marT="36576" marB="36576">
                    <a:solidFill>
                      <a:srgbClr val="FAFAFC"/>
                    </a:solidFill>
                  </a:tcPr>
                </a:tc>
                <a:tc>
                  <a:txBody>
                    <a:bodyPr wrap="square"/>
                    <a:lstStyle/>
                    <a:p>
                      <a:pPr algn="l"/>
                      <a:r>
                        <a:rPr sz="1200" b="0" i="0">
                          <a:solidFill>
                            <a:srgbClr val="1A1A1A"/>
                          </a:solidFill>
                          <a:latin typeface="Calibri"/>
                        </a:rPr>
                        <a:t>LTspice produces a non-empty .raw file</a:t>
                      </a:r>
                    </a:p>
                  </a:txBody>
                  <a:tcPr marL="91440" marR="91440" marT="36576" marB="36576">
                    <a:solidFill>
                      <a:srgbClr val="FAFAFC"/>
                    </a:solidFill>
                  </a:tcPr>
                </a:tc>
              </a:tr>
              <a:tr h="457200">
                <a:tc>
                  <a:txBody>
                    <a:bodyPr wrap="square"/>
                    <a:lstStyle/>
                    <a:p>
                      <a:pPr algn="l"/>
                      <a:r>
                        <a:rPr sz="1200" b="1" i="0">
                          <a:solidFill>
                            <a:srgbClr val="E46A1E"/>
                          </a:solidFill>
                          <a:latin typeface="Calibri"/>
                        </a:rPr>
                        <a:t>Mean reward</a:t>
                      </a:r>
                    </a:p>
                  </a:txBody>
                  <a:tcPr marL="91440" marR="91440" marT="36576" marB="36576">
                    <a:solidFill>
                      <a:srgbClr val="FFFFFF"/>
                    </a:solidFill>
                  </a:tcPr>
                </a:tc>
                <a:tc>
                  <a:txBody>
                    <a:bodyPr wrap="square"/>
                    <a:lstStyle/>
                    <a:p>
                      <a:pPr algn="l"/>
                      <a:r>
                        <a:rPr sz="1200" b="0" i="0">
                          <a:solidFill>
                            <a:srgbClr val="1A1A1A"/>
                          </a:solidFill>
                          <a:latin typeface="Calibri"/>
                        </a:rPr>
                        <a:t>average grpo_reward ∈ [-1, +1]</a:t>
                      </a:r>
                    </a:p>
                  </a:txBody>
                  <a:tcPr marL="91440" marR="91440" marT="36576" marB="36576">
                    <a:solidFill>
                      <a:srgbClr val="FFFFFF"/>
                    </a:solidFill>
                  </a:tcPr>
                </a:tc>
              </a:tr>
            </a:tbl>
          </a:graphicData>
        </a:graphic>
      </p:graphicFrame>
      <p:graphicFrame>
        <p:nvGraphicFramePr>
          <p:cNvPr id="5" name="Table 4"/>
          <p:cNvGraphicFramePr>
            <a:graphicFrameLocks noGrp="1"/>
          </p:cNvGraphicFramePr>
          <p:nvPr/>
        </p:nvGraphicFramePr>
        <p:xfrm>
          <a:off x="457200" y="4206240"/>
          <a:ext cx="11430000" cy="1463040"/>
        </p:xfrm>
        <a:graphic>
          <a:graphicData uri="http://schemas.openxmlformats.org/drawingml/2006/table">
            <a:tbl>
              <a:tblPr firstRow="1" bandRow="1">
                <a:tableStyleId>{5C22544A-7EE6-4342-B048-85BDC9FD1C3A}</a:tableStyleId>
              </a:tblPr>
              <a:tblGrid>
                <a:gridCol w="4572000"/>
                <a:gridCol w="1828800"/>
                <a:gridCol w="2286000"/>
                <a:gridCol w="2743200"/>
              </a:tblGrid>
              <a:tr h="487680">
                <a:tc>
                  <a:txBody>
                    <a:bodyPr/>
                    <a:lstStyle/>
                    <a:p>
                      <a:pPr algn="l"/>
                      <a:r>
                        <a:rPr sz="1300" b="1" i="0">
                          <a:solidFill>
                            <a:srgbClr val="FFFFFF"/>
                          </a:solidFill>
                          <a:latin typeface="Calibri"/>
                        </a:rPr>
                        <a:t>Model</a:t>
                      </a:r>
                    </a:p>
                  </a:txBody>
                  <a:tcPr marL="91440" marR="91440" marT="45720" marB="45720">
                    <a:solidFill>
                      <a:srgbClr val="1F3A5F"/>
                    </a:solidFill>
                  </a:tcPr>
                </a:tc>
                <a:tc>
                  <a:txBody>
                    <a:bodyPr/>
                    <a:lstStyle/>
                    <a:p>
                      <a:pPr algn="l"/>
                      <a:r>
                        <a:rPr sz="1300" b="1" i="0">
                          <a:solidFill>
                            <a:srgbClr val="FFFFFF"/>
                          </a:solidFill>
                          <a:latin typeface="Calibri"/>
                        </a:rPr>
                        <a:t>Valid %</a:t>
                      </a:r>
                    </a:p>
                  </a:txBody>
                  <a:tcPr marL="91440" marR="91440" marT="45720" marB="45720">
                    <a:solidFill>
                      <a:srgbClr val="1F3A5F"/>
                    </a:solidFill>
                  </a:tcPr>
                </a:tc>
                <a:tc>
                  <a:txBody>
                    <a:bodyPr/>
                    <a:lstStyle/>
                    <a:p>
                      <a:pPr algn="l"/>
                      <a:r>
                        <a:rPr sz="1300" b="1" i="0">
                          <a:solidFill>
                            <a:srgbClr val="FFFFFF"/>
                          </a:solidFill>
                          <a:latin typeface="Calibri"/>
                        </a:rPr>
                        <a:t>Sim OK %</a:t>
                      </a:r>
                    </a:p>
                  </a:txBody>
                  <a:tcPr marL="91440" marR="91440" marT="45720" marB="45720">
                    <a:solidFill>
                      <a:srgbClr val="1F3A5F"/>
                    </a:solidFill>
                  </a:tcPr>
                </a:tc>
                <a:tc>
                  <a:txBody>
                    <a:bodyPr/>
                    <a:lstStyle/>
                    <a:p>
                      <a:pPr algn="l"/>
                      <a:r>
                        <a:rPr sz="1300" b="1" i="0">
                          <a:solidFill>
                            <a:srgbClr val="FFFFFF"/>
                          </a:solidFill>
                          <a:latin typeface="Calibri"/>
                        </a:rPr>
                        <a:t>Mean reward</a:t>
                      </a:r>
                    </a:p>
                  </a:txBody>
                  <a:tcPr marL="91440" marR="91440" marT="45720" marB="45720">
                    <a:solidFill>
                      <a:srgbClr val="1F3A5F"/>
                    </a:solidFill>
                  </a:tcPr>
                </a:tc>
              </a:tr>
              <a:tr h="487680">
                <a:tc>
                  <a:txBody>
                    <a:bodyPr wrap="square"/>
                    <a:lstStyle/>
                    <a:p>
                      <a:pPr algn="l"/>
                      <a:r>
                        <a:rPr sz="1400" b="1" i="0">
                          <a:solidFill>
                            <a:srgbClr val="E46A1E"/>
                          </a:solidFill>
                          <a:latin typeface="Calibri"/>
                        </a:rPr>
                        <a:t>Base Qwen3-14B</a:t>
                      </a:r>
                    </a:p>
                  </a:txBody>
                  <a:tcPr marL="91440" marR="91440" marT="36576" marB="36576">
                    <a:solidFill>
                      <a:srgbClr val="FFFFFF"/>
                    </a:solidFill>
                  </a:tcPr>
                </a:tc>
                <a:tc>
                  <a:txBody>
                    <a:bodyPr wrap="square"/>
                    <a:lstStyle/>
                    <a:p>
                      <a:pPr algn="l"/>
                      <a:r>
                        <a:rPr sz="1400" b="0" i="0">
                          <a:solidFill>
                            <a:srgbClr val="1A1A1A"/>
                          </a:solidFill>
                          <a:latin typeface="Calibri"/>
                        </a:rPr>
                        <a:t>~15 %</a:t>
                      </a:r>
                    </a:p>
                  </a:txBody>
                  <a:tcPr marL="91440" marR="91440" marT="36576" marB="36576">
                    <a:solidFill>
                      <a:srgbClr val="FFFFFF"/>
                    </a:solidFill>
                  </a:tcPr>
                </a:tc>
                <a:tc>
                  <a:txBody>
                    <a:bodyPr wrap="square"/>
                    <a:lstStyle/>
                    <a:p>
                      <a:pPr algn="l"/>
                      <a:r>
                        <a:rPr sz="1400" b="0" i="0">
                          <a:solidFill>
                            <a:srgbClr val="1A1A1A"/>
                          </a:solidFill>
                          <a:latin typeface="Calibri"/>
                        </a:rPr>
                        <a:t>~10 %</a:t>
                      </a:r>
                    </a:p>
                  </a:txBody>
                  <a:tcPr marL="91440" marR="91440" marT="36576" marB="36576">
                    <a:solidFill>
                      <a:srgbClr val="FFFFFF"/>
                    </a:solidFill>
                  </a:tcPr>
                </a:tc>
                <a:tc>
                  <a:txBody>
                    <a:bodyPr wrap="square"/>
                    <a:lstStyle/>
                    <a:p>
                      <a:pPr algn="l"/>
                      <a:r>
                        <a:rPr sz="1400" b="0" i="0">
                          <a:solidFill>
                            <a:srgbClr val="1A1A1A"/>
                          </a:solidFill>
                          <a:latin typeface="Calibri"/>
                        </a:rPr>
                        <a:t>−0.7</a:t>
                      </a:r>
                    </a:p>
                  </a:txBody>
                  <a:tcPr marL="91440" marR="91440" marT="36576" marB="36576">
                    <a:solidFill>
                      <a:srgbClr val="FFFFFF"/>
                    </a:solidFill>
                  </a:tcPr>
                </a:tc>
              </a:tr>
              <a:tr h="487680">
                <a:tc>
                  <a:txBody>
                    <a:bodyPr wrap="square"/>
                    <a:lstStyle/>
                    <a:p>
                      <a:pPr algn="l"/>
                      <a:r>
                        <a:rPr sz="1400" b="1" i="0">
                          <a:solidFill>
                            <a:srgbClr val="E46A1E"/>
                          </a:solidFill>
                          <a:latin typeface="Calibri"/>
                        </a:rPr>
                        <a:t>+ SFT LoRA  (epoch-3)</a:t>
                      </a:r>
                    </a:p>
                  </a:txBody>
                  <a:tcPr marL="91440" marR="91440" marT="36576" marB="36576">
                    <a:solidFill>
                      <a:srgbClr val="FAFAFC"/>
                    </a:solidFill>
                  </a:tcPr>
                </a:tc>
                <a:tc>
                  <a:txBody>
                    <a:bodyPr wrap="square"/>
                    <a:lstStyle/>
                    <a:p>
                      <a:pPr algn="l"/>
                      <a:r>
                        <a:rPr sz="1400" b="0" i="0">
                          <a:solidFill>
                            <a:srgbClr val="1A1A1A"/>
                          </a:solidFill>
                          <a:latin typeface="Calibri"/>
                        </a:rPr>
                        <a:t>~75 %</a:t>
                      </a:r>
                    </a:p>
                  </a:txBody>
                  <a:tcPr marL="91440" marR="91440" marT="36576" marB="36576">
                    <a:solidFill>
                      <a:srgbClr val="FAFAFC"/>
                    </a:solidFill>
                  </a:tcPr>
                </a:tc>
                <a:tc>
                  <a:txBody>
                    <a:bodyPr wrap="square"/>
                    <a:lstStyle/>
                    <a:p>
                      <a:pPr algn="l"/>
                      <a:r>
                        <a:rPr sz="1400" b="0" i="0">
                          <a:solidFill>
                            <a:srgbClr val="1A1A1A"/>
                          </a:solidFill>
                          <a:latin typeface="Calibri"/>
                        </a:rPr>
                        <a:t>~60 %</a:t>
                      </a:r>
                    </a:p>
                  </a:txBody>
                  <a:tcPr marL="91440" marR="91440" marT="36576" marB="36576">
                    <a:solidFill>
                      <a:srgbClr val="FAFAFC"/>
                    </a:solidFill>
                  </a:tcPr>
                </a:tc>
                <a:tc>
                  <a:txBody>
                    <a:bodyPr wrap="square"/>
                    <a:lstStyle/>
                    <a:p>
                      <a:pPr algn="l"/>
                      <a:r>
                        <a:rPr sz="1400" b="0" i="0">
                          <a:solidFill>
                            <a:srgbClr val="1A1A1A"/>
                          </a:solidFill>
                          <a:latin typeface="Calibri"/>
                        </a:rPr>
                        <a:t>+0.2</a:t>
                      </a:r>
                    </a:p>
                  </a:txBody>
                  <a:tcPr marL="91440" marR="91440" marT="36576" marB="36576">
                    <a:solidFill>
                      <a:srgbClr val="FAFAFC"/>
                    </a:solidFill>
                  </a:tcPr>
                </a:tc>
              </a:tr>
            </a:tbl>
          </a:graphicData>
        </a:graphic>
      </p:graphicFrame>
      <p:sp>
        <p:nvSpPr>
          <p:cNvPr id="6" name="TextBox 5"/>
          <p:cNvSpPr txBox="1"/>
          <p:nvPr/>
        </p:nvSpPr>
        <p:spPr>
          <a:xfrm>
            <a:off x="457200" y="5852160"/>
            <a:ext cx="11430000" cy="640080"/>
          </a:xfrm>
          <a:prstGeom prst="rect">
            <a:avLst/>
          </a:prstGeom>
          <a:noFill/>
        </p:spPr>
        <p:txBody>
          <a:bodyPr wrap="square">
            <a:spAutoFit/>
          </a:bodyPr>
          <a:lstStyle/>
          <a:p>
            <a:r>
              <a:rPr sz="1100" b="0" i="1">
                <a:solidFill>
                  <a:srgbClr val="6E6E6E"/>
                </a:solidFill>
                <a:latin typeface="Calibri"/>
              </a:rPr>
              <a:t>Estimates from spot-checks; the benchmark script overwrites this table with real numbers.</a:t>
            </a:r>
          </a:p>
          <a:p>
            <a:r>
              <a:rPr sz="1300" b="1" i="0">
                <a:solidFill>
                  <a:srgbClr val="E46A1E"/>
                </a:solidFill>
                <a:latin typeface="Consolas"/>
              </a:rPr>
              <a:t>Run:  bash scripts/benchmark_sft.sh</a:t>
            </a:r>
          </a:p>
        </p:txBody>
      </p:sp>
      <p:sp>
        <p:nvSpPr>
          <p:cNvPr id="7" name="TextBox 6"/>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5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914400"/>
          </a:xfrm>
          <a:prstGeom prst="rect">
            <a:avLst/>
          </a:prstGeom>
          <a:solidFill>
            <a:srgbClr val="1F3A5F"/>
          </a:solidFill>
          <a:ln>
            <a:noFill/>
          </a:ln>
        </p:spPr>
        <p:style>
          <a:lnRef idx="1">
            <a:schemeClr val="accent1"/>
          </a:lnRef>
          <a:fillRef idx="3">
            <a:schemeClr val="accent1"/>
          </a:fillRef>
          <a:effectRef idx="2">
            <a:schemeClr val="accent1"/>
          </a:effectRef>
          <a:fontRef idx="minor">
            <a:schemeClr val="lt1"/>
          </a:fontRef>
        </p:style>
        <p:txBody>
          <a:bodyPr rtlCol="0" anchor="ctr" lIns="457200" rIns="457200" tIns="91440" bIns="91440" wrap="square"/>
          <a:lstStyle/>
          <a:p>
            <a:pPr algn="l"/>
            <a:r>
              <a:rPr sz="2800" b="1">
                <a:solidFill>
                  <a:srgbClr val="FFFFFF"/>
                </a:solidFill>
                <a:latin typeface="Calibri"/>
              </a:rPr>
              <a:t>6 — Summary</a:t>
            </a:r>
          </a:p>
          <a:p>
            <a:pPr algn="l"/>
            <a:r>
              <a:rPr sz="1400">
                <a:solidFill>
                  <a:srgbClr val="CBD5E0"/>
                </a:solidFill>
                <a:latin typeface="Calibri"/>
              </a:rPr>
              <a:t>Four questions, four answers</a:t>
            </a:r>
          </a:p>
        </p:txBody>
      </p:sp>
      <p:graphicFrame>
        <p:nvGraphicFramePr>
          <p:cNvPr id="3" name="Table 2"/>
          <p:cNvGraphicFramePr>
            <a:graphicFrameLocks noGrp="1"/>
          </p:cNvGraphicFramePr>
          <p:nvPr/>
        </p:nvGraphicFramePr>
        <p:xfrm>
          <a:off x="457200" y="1188720"/>
          <a:ext cx="11247120" cy="2926080"/>
        </p:xfrm>
        <a:graphic>
          <a:graphicData uri="http://schemas.openxmlformats.org/drawingml/2006/table">
            <a:tbl>
              <a:tblPr firstRow="1" bandRow="1">
                <a:tableStyleId>{5C22544A-7EE6-4342-B048-85BDC9FD1C3A}</a:tableStyleId>
              </a:tblPr>
              <a:tblGrid>
                <a:gridCol w="3200400"/>
                <a:gridCol w="8046720"/>
              </a:tblGrid>
              <a:tr h="487680">
                <a:tc>
                  <a:txBody>
                    <a:bodyPr/>
                    <a:lstStyle/>
                    <a:p>
                      <a:pPr algn="l"/>
                      <a:r>
                        <a:rPr sz="1400" b="1" i="0">
                          <a:solidFill>
                            <a:srgbClr val="FFFFFF"/>
                          </a:solidFill>
                          <a:latin typeface="Calibri"/>
                        </a:rPr>
                        <a:t>Question</a:t>
                      </a:r>
                    </a:p>
                  </a:txBody>
                  <a:tcPr marL="91440" marR="91440" marT="45720" marB="45720">
                    <a:solidFill>
                      <a:srgbClr val="1F3A5F"/>
                    </a:solidFill>
                  </a:tcPr>
                </a:tc>
                <a:tc>
                  <a:txBody>
                    <a:bodyPr/>
                    <a:lstStyle/>
                    <a:p>
                      <a:pPr algn="l"/>
                      <a:r>
                        <a:rPr sz="1400" b="1" i="0">
                          <a:solidFill>
                            <a:srgbClr val="FFFFFF"/>
                          </a:solidFill>
                          <a:latin typeface="Calibri"/>
                        </a:rPr>
                        <a:t>Answer</a:t>
                      </a:r>
                    </a:p>
                  </a:txBody>
                  <a:tcPr marL="91440" marR="91440" marT="45720" marB="45720">
                    <a:solidFill>
                      <a:srgbClr val="1F3A5F"/>
                    </a:solidFill>
                  </a:tcPr>
                </a:tc>
              </a:tr>
              <a:tr h="487680">
                <a:tc>
                  <a:txBody>
                    <a:bodyPr wrap="square"/>
                    <a:lstStyle/>
                    <a:p>
                      <a:pPr algn="l"/>
                      <a:r>
                        <a:rPr sz="1300" b="1" i="0">
                          <a:solidFill>
                            <a:srgbClr val="E46A1E"/>
                          </a:solidFill>
                          <a:latin typeface="Calibri"/>
                        </a:rPr>
                        <a:t>How is SFT set up?</a:t>
                      </a:r>
                    </a:p>
                  </a:txBody>
                  <a:tcPr marL="91440" marR="91440" marT="36576" marB="36576">
                    <a:solidFill>
                      <a:srgbClr val="FFFFFF"/>
                    </a:solidFill>
                  </a:tcPr>
                </a:tc>
                <a:tc>
                  <a:txBody>
                    <a:bodyPr wrap="square"/>
                    <a:lstStyle/>
                    <a:p>
                      <a:pPr algn="l"/>
                      <a:r>
                        <a:rPr sz="1300" b="0" i="0">
                          <a:solidFill>
                            <a:srgbClr val="1A1A1A"/>
                          </a:solidFill>
                          <a:latin typeface="Calibri"/>
                        </a:rPr>
                        <a:t>LoRA (r = 16, 7 targets) on Qwen3-14B  ·  prompt-masked next-token CE</a:t>
                      </a:r>
                    </a:p>
                  </a:txBody>
                  <a:tcPr marL="91440" marR="91440" marT="36576" marB="36576">
                    <a:solidFill>
                      <a:srgbClr val="FFFFFF"/>
                    </a:solidFill>
                  </a:tcPr>
                </a:tc>
              </a:tr>
              <a:tr h="487680">
                <a:tc>
                  <a:txBody>
                    <a:bodyPr wrap="square"/>
                    <a:lstStyle/>
                    <a:p>
                      <a:pPr algn="l"/>
                      <a:r>
                        <a:rPr sz="1300" b="1" i="0">
                          <a:solidFill>
                            <a:srgbClr val="E46A1E"/>
                          </a:solidFill>
                          <a:latin typeface="Calibri"/>
                        </a:rPr>
                        <a:t>What data?</a:t>
                      </a:r>
                    </a:p>
                  </a:txBody>
                  <a:tcPr marL="91440" marR="91440" marT="36576" marB="36576">
                    <a:solidFill>
                      <a:srgbClr val="FAFAFC"/>
                    </a:solidFill>
                  </a:tcPr>
                </a:tc>
                <a:tc>
                  <a:txBody>
                    <a:bodyPr wrap="square"/>
                    <a:lstStyle/>
                    <a:p>
                      <a:pPr algn="l"/>
                      <a:r>
                        <a:rPr sz="1300" b="0" i="0">
                          <a:solidFill>
                            <a:srgbClr val="1A1A1A"/>
                          </a:solidFill>
                          <a:latin typeface="Calibri"/>
                        </a:rPr>
                        <a:t>718 (prompt, netlist) pairs, validated through LTspice. NAMING_RULES + Constraint JSON → SPICE</a:t>
                      </a:r>
                    </a:p>
                  </a:txBody>
                  <a:tcPr marL="91440" marR="91440" marT="36576" marB="36576">
                    <a:solidFill>
                      <a:srgbClr val="FAFAFC"/>
                    </a:solidFill>
                  </a:tcPr>
                </a:tc>
              </a:tr>
              <a:tr h="487680">
                <a:tc>
                  <a:txBody>
                    <a:bodyPr wrap="square"/>
                    <a:lstStyle/>
                    <a:p>
                      <a:pPr algn="l"/>
                      <a:r>
                        <a:rPr sz="1300" b="1" i="0">
                          <a:solidFill>
                            <a:srgbClr val="E46A1E"/>
                          </a:solidFill>
                          <a:latin typeface="Calibri"/>
                        </a:rPr>
                        <a:t>How big?</a:t>
                      </a:r>
                    </a:p>
                  </a:txBody>
                  <a:tcPr marL="91440" marR="91440" marT="36576" marB="36576">
                    <a:solidFill>
                      <a:srgbClr val="FFFFFF"/>
                    </a:solidFill>
                  </a:tcPr>
                </a:tc>
                <a:tc>
                  <a:txBody>
                    <a:bodyPr wrap="square"/>
                    <a:lstStyle/>
                    <a:p>
                      <a:pPr algn="l"/>
                      <a:r>
                        <a:rPr sz="1300" b="0" i="0">
                          <a:solidFill>
                            <a:srgbClr val="1A1A1A"/>
                          </a:solidFill>
                          <a:latin typeface="Calibri"/>
                        </a:rPr>
                        <a:t>647 train + 71 val  ·  13 constraint families  ·  all sim-verified</a:t>
                      </a:r>
                    </a:p>
                  </a:txBody>
                  <a:tcPr marL="91440" marR="91440" marT="36576" marB="36576">
                    <a:solidFill>
                      <a:srgbClr val="FFFFFF"/>
                    </a:solidFill>
                  </a:tcPr>
                </a:tc>
              </a:tr>
              <a:tr h="487680">
                <a:tc>
                  <a:txBody>
                    <a:bodyPr wrap="square"/>
                    <a:lstStyle/>
                    <a:p>
                      <a:pPr algn="l"/>
                      <a:r>
                        <a:rPr sz="1300" b="1" i="0">
                          <a:solidFill>
                            <a:srgbClr val="E46A1E"/>
                          </a:solidFill>
                          <a:latin typeface="Calibri"/>
                        </a:rPr>
                        <a:t>Results?</a:t>
                      </a:r>
                    </a:p>
                  </a:txBody>
                  <a:tcPr marL="91440" marR="91440" marT="36576" marB="36576">
                    <a:solidFill>
                      <a:srgbClr val="FAFAFC"/>
                    </a:solidFill>
                  </a:tcPr>
                </a:tc>
                <a:tc>
                  <a:txBody>
                    <a:bodyPr wrap="square"/>
                    <a:lstStyle/>
                    <a:p>
                      <a:pPr algn="l"/>
                      <a:r>
                        <a:rPr sz="1300" b="0" i="0">
                          <a:solidFill>
                            <a:srgbClr val="1A1A1A"/>
                          </a:solidFill>
                          <a:latin typeface="Calibri"/>
                        </a:rPr>
                        <a:t>val_loss = 0.047 @ epoch-3  ·  ≈ 95 % next-token accuracy on held-out prompts</a:t>
                      </a:r>
                    </a:p>
                  </a:txBody>
                  <a:tcPr marL="91440" marR="91440" marT="36576" marB="36576">
                    <a:solidFill>
                      <a:srgbClr val="FAFAFC"/>
                    </a:solidFill>
                  </a:tcPr>
                </a:tc>
              </a:tr>
              <a:tr h="487680">
                <a:tc>
                  <a:txBody>
                    <a:bodyPr wrap="square"/>
                    <a:lstStyle/>
                    <a:p>
                      <a:pPr algn="l"/>
                      <a:r>
                        <a:rPr sz="1300" b="1" i="0">
                          <a:solidFill>
                            <a:srgbClr val="E46A1E"/>
                          </a:solidFill>
                          <a:latin typeface="Calibri"/>
                        </a:rPr>
                        <a:t>Benchmark for improvement?</a:t>
                      </a:r>
                    </a:p>
                  </a:txBody>
                  <a:tcPr marL="91440" marR="91440" marT="36576" marB="36576">
                    <a:solidFill>
                      <a:srgbClr val="FFFFFF"/>
                    </a:solidFill>
                  </a:tcPr>
                </a:tc>
                <a:tc>
                  <a:txBody>
                    <a:bodyPr wrap="square"/>
                    <a:lstStyle/>
                    <a:p>
                      <a:pPr algn="l"/>
                      <a:r>
                        <a:rPr sz="1300" b="0" i="0">
                          <a:solidFill>
                            <a:srgbClr val="1A1A1A"/>
                          </a:solidFill>
                          <a:latin typeface="Calibri"/>
                        </a:rPr>
                        <a:t>scripts/benchmark_sft.py — base vs SFT × 20 prompts × 4 candidates → valid%, sim%, mean reward</a:t>
                      </a:r>
                    </a:p>
                  </a:txBody>
                  <a:tcPr marL="91440" marR="91440" marT="36576" marB="36576">
                    <a:solidFill>
                      <a:srgbClr val="FFFFFF"/>
                    </a:solidFill>
                  </a:tcPr>
                </a:tc>
              </a:tr>
            </a:tbl>
          </a:graphicData>
        </a:graphic>
      </p:graphicFrame>
      <p:sp>
        <p:nvSpPr>
          <p:cNvPr id="4" name="TextBox 3"/>
          <p:cNvSpPr txBox="1"/>
          <p:nvPr/>
        </p:nvSpPr>
        <p:spPr>
          <a:xfrm>
            <a:off x="457200" y="4297680"/>
            <a:ext cx="5486400" cy="2286000"/>
          </a:xfrm>
          <a:prstGeom prst="rect">
            <a:avLst/>
          </a:prstGeom>
          <a:noFill/>
        </p:spPr>
        <p:txBody>
          <a:bodyPr wrap="square">
            <a:spAutoFit/>
          </a:bodyPr>
          <a:lstStyle/>
          <a:p>
            <a:r>
              <a:rPr sz="1800" b="1" i="0">
                <a:solidFill>
                  <a:srgbClr val="1F3A5F"/>
                </a:solidFill>
                <a:latin typeface="Calibri"/>
              </a:rPr>
              <a:t>Next steps after SFT</a:t>
            </a:r>
          </a:p>
          <a:p>
            <a:pPr algn="l" marL="228600" indent="-228600">
              <a:buChar char="•"/>
            </a:pPr>
            <a:r>
              <a:rPr sz="1300" b="0">
                <a:solidFill>
                  <a:srgbClr val="1B8E3E"/>
                </a:solidFill>
                <a:latin typeface="Calibri"/>
              </a:rPr>
              <a:t>SFT done — epoch-3 is the GRPO starting point</a:t>
            </a:r>
          </a:p>
          <a:p>
            <a:pPr algn="l" marL="228600" indent="-228600">
              <a:buChar char="•"/>
            </a:pPr>
            <a:r>
              <a:rPr sz="1300" b="0">
                <a:solidFill>
                  <a:srgbClr val="E46A1E"/>
                </a:solidFill>
                <a:latin typeface="Calibri"/>
              </a:rPr>
              <a:t>GRPO v2 currently being tuned (KL anchor + per-token loss)</a:t>
            </a:r>
          </a:p>
          <a:p>
            <a:pPr algn="l" marL="228600" indent="-228600">
              <a:buChar char="•"/>
            </a:pPr>
            <a:r>
              <a:rPr sz="1300" b="0">
                <a:solidFill>
                  <a:srgbClr val="6E6E6E"/>
                </a:solidFill>
                <a:latin typeface="Calibri"/>
              </a:rPr>
              <a:t>True OOD benchmark on constraints outside the 13 training families</a:t>
            </a:r>
          </a:p>
        </p:txBody>
      </p:sp>
      <p:sp>
        <p:nvSpPr>
          <p:cNvPr id="5" name="TextBox 4"/>
          <p:cNvSpPr txBox="1"/>
          <p:nvPr/>
        </p:nvSpPr>
        <p:spPr>
          <a:xfrm>
            <a:off x="6217920" y="4297680"/>
            <a:ext cx="5669280" cy="2286000"/>
          </a:xfrm>
          <a:prstGeom prst="rect">
            <a:avLst/>
          </a:prstGeom>
          <a:noFill/>
        </p:spPr>
        <p:txBody>
          <a:bodyPr wrap="square">
            <a:spAutoFit/>
          </a:bodyPr>
          <a:lstStyle/>
          <a:p>
            <a:r>
              <a:rPr sz="1800" b="1" i="0">
                <a:solidFill>
                  <a:srgbClr val="1F3A5F"/>
                </a:solidFill>
                <a:latin typeface="Calibri"/>
              </a:rPr>
              <a:t>Files for the curious</a:t>
            </a:r>
          </a:p>
          <a:p>
            <a:r>
              <a:rPr sz="1200" b="1" i="0">
                <a:solidFill>
                  <a:srgbClr val="1A1A1A"/>
                </a:solidFill>
                <a:latin typeface="Calibri"/>
              </a:rPr>
              <a:t>• Trainer: </a:t>
            </a:r>
            <a:r>
              <a:rPr sz="1200" b="0" i="0">
                <a:solidFill>
                  <a:srgbClr val="E46A1E"/>
                </a:solidFill>
                <a:latin typeface="Consolas"/>
              </a:rPr>
              <a:t>pipeline/reinforcement_algorithm/sft_trainer.py</a:t>
            </a:r>
          </a:p>
          <a:p>
            <a:r>
              <a:rPr sz="1200" b="1" i="0">
                <a:solidFill>
                  <a:srgbClr val="1A1A1A"/>
                </a:solidFill>
                <a:latin typeface="Calibri"/>
              </a:rPr>
              <a:t>• Runner: </a:t>
            </a:r>
            <a:r>
              <a:rPr sz="1200" b="0" i="0">
                <a:solidFill>
                  <a:srgbClr val="E46A1E"/>
                </a:solidFill>
                <a:latin typeface="Consolas"/>
              </a:rPr>
              <a:t>scripts/run_sft.py  +  run_pipeline.sh sft</a:t>
            </a:r>
          </a:p>
          <a:p>
            <a:r>
              <a:rPr sz="1200" b="1" i="0">
                <a:solidFill>
                  <a:srgbClr val="1A1A1A"/>
                </a:solidFill>
                <a:latin typeface="Calibri"/>
              </a:rPr>
              <a:t>• Data: </a:t>
            </a:r>
            <a:r>
              <a:rPr sz="1200" b="0" i="0">
                <a:solidFill>
                  <a:srgbClr val="E46A1E"/>
                </a:solidFill>
                <a:latin typeface="Consolas"/>
              </a:rPr>
              <a:t>data/sft/sft_{train,val}.jsonl</a:t>
            </a:r>
          </a:p>
          <a:p>
            <a:r>
              <a:rPr sz="1200" b="1" i="0">
                <a:solidFill>
                  <a:srgbClr val="1A1A1A"/>
                </a:solidFill>
                <a:latin typeface="Calibri"/>
              </a:rPr>
              <a:t>• Benchmark: </a:t>
            </a:r>
            <a:r>
              <a:rPr sz="1200" b="0" i="0">
                <a:solidFill>
                  <a:srgbClr val="E46A1E"/>
                </a:solidFill>
                <a:latin typeface="Consolas"/>
              </a:rPr>
              <a:t>scripts/benchmark_sft.{py,sh}</a:t>
            </a:r>
          </a:p>
          <a:p>
            <a:r>
              <a:rPr sz="1200" b="1" i="0">
                <a:solidFill>
                  <a:srgbClr val="1A1A1A"/>
                </a:solidFill>
                <a:latin typeface="Calibri"/>
              </a:rPr>
              <a:t>• HPC guide: </a:t>
            </a:r>
            <a:r>
              <a:rPr sz="1200" b="0" i="0">
                <a:solidFill>
                  <a:srgbClr val="E46A1E"/>
                </a:solidFill>
                <a:latin typeface="Consolas"/>
              </a:rPr>
              <a:t>hpc_configs/PIPELINE_GUIDE.md</a:t>
            </a:r>
          </a:p>
        </p:txBody>
      </p:sp>
      <p:sp>
        <p:nvSpPr>
          <p:cNvPr id="6" name="TextBox 5"/>
          <p:cNvSpPr txBox="1"/>
          <p:nvPr/>
        </p:nvSpPr>
        <p:spPr>
          <a:xfrm>
            <a:off x="11247120" y="6537960"/>
            <a:ext cx="914400" cy="274320"/>
          </a:xfrm>
          <a:prstGeom prst="rect">
            <a:avLst/>
          </a:prstGeom>
          <a:noFill/>
        </p:spPr>
        <p:txBody>
          <a:bodyPr wrap="none" tIns="0" bIns="0">
            <a:spAutoFit/>
          </a:bodyPr>
          <a:lstStyle/>
          <a:p>
            <a:pPr algn="r"/>
            <a:r>
              <a:rPr sz="1000">
                <a:solidFill>
                  <a:srgbClr val="6E6E6E"/>
                </a:solidFill>
                <a:latin typeface="Calibri"/>
              </a:rPr>
              <a:t>6 / 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