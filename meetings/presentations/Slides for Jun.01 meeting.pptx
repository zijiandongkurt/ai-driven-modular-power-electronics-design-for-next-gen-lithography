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9F51B1-0219-4EFB-8D27-A9486B77A900}">
  <a:tblStyle styleId="{019F51B1-0219-4EFB-8D27-A9486B77A9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4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a7f5c1d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a7f5c1d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a7f5c1d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a7f5c1d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a7f5c1d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a7f5c1d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Atakan’s part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52e72f0f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52e72f0f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52e72f0f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52e72f0f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f1fd1721a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f1fd1721a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52e72f0f4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52e72f0f4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52e72f0f4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52e72f0f4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5e13d761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5e13d761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Chris part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5e13d761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5e13d761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Chris part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5e13d761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5e13d761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Chris part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5e13d761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5e13d761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Chris part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3a80792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3a80792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Chris part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5e13d76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e5e13d76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Chris part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5e13d761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5e13d761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Chris part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5e13d761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5e13d761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Chris part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3a80792c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3a80792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（</a:t>
            </a:r>
            <a:r>
              <a:rPr b="1" lang="en-GB">
                <a:solidFill>
                  <a:schemeClr val="dk1"/>
                </a:solidFill>
              </a:rPr>
              <a:t>Depth was not a reliable indicator of circuit quality, so parent selection was simplified to fitness-based ranking while keeping depth only for lineage tracking.</a:t>
            </a:r>
            <a:r>
              <a:rPr lang="en-GB"/>
              <a:t>）</a:t>
            </a:r>
            <a:br>
              <a:rPr lang="en-GB"/>
            </a:br>
            <a:r>
              <a:rPr lang="en-GB"/>
              <a:t>We considered using pure softmax over the entire historical database.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as the database grows, many low-performing circuits remain in the long tail.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Even though their probabilities are small, collectively they still receive a significant amount of sampling budget.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As a result, the search may repeatedly evaluate poor circuits.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Therefore, we restrict most sampling to the Top-K candidates and only reserve a small ε probability for exploration.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5e13d761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5e13d761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Batch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At the beginning of training there are only a few evaluated circuits.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Therefore almost all candidates are inside the Top-K region.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Batch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As more circuits enter the historical database, the separation between exploitation and exploration becomes visible.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Top-K region still receives most probability mass, while the long tail only receives the exploration budget.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5e13d761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5e13d761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5e13d761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5e13d761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By Batch 10 and Batch 11 we observe that the probability distribution inside Top-K becomes almost flat.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52e72f0f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52e72f0f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5ceac267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5ceac267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itle at the top">
  <p:cSld name="Title slide - Title at the top">
    <p:bg>
      <p:bgPr>
        <a:solidFill>
          <a:srgbClr val="EEE8E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dk1">
              <a:alpha val="2509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-1" y="756049"/>
            <a:ext cx="9143999" cy="792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ctr" bIns="0" lIns="756000" spcFirstLastPara="1" rIns="1962000" wrap="square" tIns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-1" y="1548000"/>
            <a:ext cx="9143999" cy="288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t" bIns="0" lIns="756000" spcFirstLastPara="1" rIns="1962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body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itle in the middle">
  <p:cSld name="Title slide - Title in the midd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dk1">
              <a:alpha val="2509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>
            <p:ph type="ctrTitle"/>
          </p:nvPr>
        </p:nvSpPr>
        <p:spPr>
          <a:xfrm>
            <a:off x="-1" y="1835549"/>
            <a:ext cx="9143999" cy="792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ctr" bIns="0" lIns="756000" spcFirstLastPara="1" rIns="1962000" wrap="square" tIns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-1" y="2628097"/>
            <a:ext cx="9143999" cy="288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t" bIns="0" lIns="756000" spcFirstLastPara="1" rIns="1962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body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itle at the bottom">
  <p:cSld name="Title slide - Title at the bottom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dk1">
              <a:alpha val="2509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>
            <p:ph type="ctrTitle"/>
          </p:nvPr>
        </p:nvSpPr>
        <p:spPr>
          <a:xfrm>
            <a:off x="-1" y="2915049"/>
            <a:ext cx="9143999" cy="792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ctr" bIns="0" lIns="756000" spcFirstLastPara="1" rIns="1962000" wrap="square" tIns="0">
            <a:noAutofit/>
          </a:bodyPr>
          <a:lstStyle>
            <a:lvl1pPr lv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  <a:defRPr sz="2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-1" y="3708591"/>
            <a:ext cx="9143999" cy="288000"/>
          </a:xfrm>
          <a:prstGeom prst="rect">
            <a:avLst/>
          </a:prstGeom>
          <a:solidFill>
            <a:schemeClr val="dk2">
              <a:alpha val="50196"/>
            </a:schemeClr>
          </a:solidFill>
          <a:ln>
            <a:noFill/>
          </a:ln>
        </p:spPr>
        <p:txBody>
          <a:bodyPr anchorCtr="0" anchor="t" bIns="0" lIns="756000" spcFirstLastPara="1" rIns="1962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0600" y="4568825"/>
            <a:ext cx="1803400" cy="5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0" y="3990975"/>
            <a:ext cx="9143999" cy="576263"/>
          </a:xfrm>
          <a:prstGeom prst="rect">
            <a:avLst/>
          </a:prstGeom>
          <a:solidFill>
            <a:srgbClr val="000000">
              <a:alpha val="25098"/>
            </a:srgbClr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3" type="body"/>
          </p:nvPr>
        </p:nvSpPr>
        <p:spPr>
          <a:xfrm>
            <a:off x="-6667" y="4567237"/>
            <a:ext cx="7347267" cy="57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" type="obj">
  <p:cSld name="OBJEC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2 columns">
  <p:cSld name="Text slide - 2 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58825" y="585793"/>
            <a:ext cx="3595688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755650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4723606" y="1296000"/>
            <a:ext cx="3595688" cy="2933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8"/>
          <p:cNvSpPr txBox="1"/>
          <p:nvPr>
            <p:ph idx="3" type="body"/>
          </p:nvPr>
        </p:nvSpPr>
        <p:spPr>
          <a:xfrm>
            <a:off x="4714875" y="586800"/>
            <a:ext cx="3604419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 b="0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/2 text - 1/2 image">
  <p:cSld name="1/2 text - 1/2 imag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756000" y="586800"/>
            <a:ext cx="3600000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755650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714875" y="0"/>
            <a:ext cx="4429125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/3 text - 1/3 image">
  <p:cSld name="2/3 text - 1/3 imag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756000" y="586800"/>
            <a:ext cx="4910138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755650" y="1295401"/>
            <a:ext cx="4913313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20"/>
          <p:cNvSpPr/>
          <p:nvPr>
            <p:ph idx="2" type="pic"/>
          </p:nvPr>
        </p:nvSpPr>
        <p:spPr>
          <a:xfrm>
            <a:off x="6046788" y="0"/>
            <a:ext cx="3097212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/2 image - 1/2 text">
  <p:cSld name="1/2 image - 1/2 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723518" y="586800"/>
            <a:ext cx="3600000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4720343" y="1295401"/>
            <a:ext cx="3598863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21"/>
          <p:cNvSpPr/>
          <p:nvPr>
            <p:ph idx="2" type="pic"/>
          </p:nvPr>
        </p:nvSpPr>
        <p:spPr>
          <a:xfrm>
            <a:off x="0" y="0"/>
            <a:ext cx="4354513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/3 image - 2/3 text">
  <p:cSld name="1/3 image - 2/3 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494405" y="586800"/>
            <a:ext cx="4820920" cy="732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491230" y="1295401"/>
            <a:ext cx="4824095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8" name="Google Shape;118;p22"/>
          <p:cNvSpPr/>
          <p:nvPr>
            <p:ph idx="2" type="pic"/>
          </p:nvPr>
        </p:nvSpPr>
        <p:spPr>
          <a:xfrm>
            <a:off x="0" y="0"/>
            <a:ext cx="3022600" cy="45672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+ image/movie 16:9">
  <p:cSld name="Headline + image/movie 16:9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1889125" y="1079501"/>
            <a:ext cx="5292725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2" type="body"/>
          </p:nvPr>
        </p:nvSpPr>
        <p:spPr>
          <a:xfrm>
            <a:off x="1889125" y="4106268"/>
            <a:ext cx="5292725" cy="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1"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3 images">
  <p:cSld name="Text + 3 image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758824" y="1306642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4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24"/>
          <p:cNvSpPr txBox="1"/>
          <p:nvPr>
            <p:ph idx="2" type="body"/>
          </p:nvPr>
        </p:nvSpPr>
        <p:spPr>
          <a:xfrm>
            <a:off x="3490913" y="1302661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3" type="body"/>
          </p:nvPr>
        </p:nvSpPr>
        <p:spPr>
          <a:xfrm>
            <a:off x="6235414" y="1302661"/>
            <a:ext cx="2084389" cy="6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None/>
              <a:defRPr sz="165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4"/>
          <p:cNvSpPr/>
          <p:nvPr>
            <p:ph idx="4" type="pic"/>
          </p:nvPr>
        </p:nvSpPr>
        <p:spPr>
          <a:xfrm>
            <a:off x="755650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4"/>
          <p:cNvSpPr/>
          <p:nvPr>
            <p:ph idx="5" type="pic"/>
          </p:nvPr>
        </p:nvSpPr>
        <p:spPr>
          <a:xfrm>
            <a:off x="3487739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4"/>
          <p:cNvSpPr/>
          <p:nvPr>
            <p:ph idx="6" type="pic"/>
          </p:nvPr>
        </p:nvSpPr>
        <p:spPr>
          <a:xfrm>
            <a:off x="6235414" y="1943101"/>
            <a:ext cx="2087563" cy="26252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+ full screen dark image">
  <p:cSld name="Heading + full screen dark image">
    <p:bg>
      <p:bgPr>
        <a:solidFill>
          <a:srgbClr val="A5A5A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ing + full screen light image">
  <p:cSld name="Heading + full screen light image">
    <p:bg>
      <p:bgPr>
        <a:solidFill>
          <a:srgbClr val="F2F2F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background">
  <p:cSld name="White background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758825" y="518400"/>
            <a:ext cx="7556500" cy="733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7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2" name="Google Shape;152;p27"/>
          <p:cNvCxnSpPr/>
          <p:nvPr/>
        </p:nvCxnSpPr>
        <p:spPr>
          <a:xfrm>
            <a:off x="0" y="456378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27"/>
          <p:cNvSpPr/>
          <p:nvPr>
            <p:ph idx="2" type="pic"/>
          </p:nvPr>
        </p:nvSpPr>
        <p:spPr>
          <a:xfrm>
            <a:off x="1890000" y="1299075"/>
            <a:ext cx="5292725" cy="297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rlet background">
  <p:cSld name="Scarlet background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None/>
              <a:defRPr>
                <a:solidFill>
                  <a:schemeClr val="lt1"/>
                </a:solidFill>
              </a:defRPr>
            </a:lvl2pPr>
            <a:lvl3pPr indent="-333375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3pPr>
            <a:lvl4pPr indent="-33337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4pPr>
            <a:lvl5pPr indent="-333375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28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+ text">
  <p:cSld name="Table + 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755650" y="586800"/>
            <a:ext cx="7563556" cy="516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755651" y="2638425"/>
            <a:ext cx="7563556" cy="159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9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755650" y="586800"/>
            <a:ext cx="7563556" cy="516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  <a:defRPr b="0" sz="1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30"/>
          <p:cNvSpPr/>
          <p:nvPr>
            <p:ph idx="2" type="chart"/>
          </p:nvPr>
        </p:nvSpPr>
        <p:spPr>
          <a:xfrm>
            <a:off x="755650" y="1079500"/>
            <a:ext cx="7559675" cy="3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b="0" i="0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8E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2" y="4568400"/>
            <a:ext cx="1114424" cy="5722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75600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b="0" i="0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3375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3375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3375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Char char="•"/>
              <a:def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114426" y="4568400"/>
            <a:ext cx="7042149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6575" y="4568825"/>
            <a:ext cx="987425" cy="5746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ctrTitle"/>
          </p:nvPr>
        </p:nvSpPr>
        <p:spPr>
          <a:xfrm>
            <a:off x="-1" y="1835549"/>
            <a:ext cx="9144000" cy="792000"/>
          </a:xfrm>
          <a:prstGeom prst="rect">
            <a:avLst/>
          </a:prstGeom>
        </p:spPr>
        <p:txBody>
          <a:bodyPr anchorCtr="0" anchor="ctr" bIns="0" lIns="756000" spcFirstLastPara="1" rIns="196200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Supervisor</a:t>
            </a:r>
            <a:r>
              <a:rPr lang="en-GB" sz="2700"/>
              <a:t> meeting, Thursday Jun. 1st </a:t>
            </a:r>
            <a:endParaRPr/>
          </a:p>
        </p:txBody>
      </p:sp>
      <p:sp>
        <p:nvSpPr>
          <p:cNvPr id="177" name="Google Shape;177;p31"/>
          <p:cNvSpPr txBox="1"/>
          <p:nvPr>
            <p:ph idx="2" type="body"/>
          </p:nvPr>
        </p:nvSpPr>
        <p:spPr>
          <a:xfrm>
            <a:off x="0" y="3990975"/>
            <a:ext cx="9144000" cy="576300"/>
          </a:xfrm>
          <a:prstGeom prst="rect">
            <a:avLst/>
          </a:prstGeom>
        </p:spPr>
        <p:txBody>
          <a:bodyPr anchorCtr="0" anchor="ctr" bIns="0" lIns="756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1"/>
          <p:cNvSpPr txBox="1"/>
          <p:nvPr>
            <p:ph idx="1" type="subTitle"/>
          </p:nvPr>
        </p:nvSpPr>
        <p:spPr>
          <a:xfrm>
            <a:off x="-1" y="2628097"/>
            <a:ext cx="9144000" cy="288000"/>
          </a:xfrm>
          <a:prstGeom prst="rect">
            <a:avLst/>
          </a:prstGeom>
        </p:spPr>
        <p:txBody>
          <a:bodyPr anchorCtr="0" anchor="t" bIns="0" lIns="756000" spcFirstLastPara="1" rIns="1962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1"/>
          <p:cNvSpPr txBox="1"/>
          <p:nvPr>
            <p:ph idx="3" type="body"/>
          </p:nvPr>
        </p:nvSpPr>
        <p:spPr>
          <a:xfrm>
            <a:off x="-6667" y="4567237"/>
            <a:ext cx="7347300" cy="576300"/>
          </a:xfrm>
          <a:prstGeom prst="rect">
            <a:avLst/>
          </a:prstGeom>
        </p:spPr>
        <p:txBody>
          <a:bodyPr anchorCtr="0" anchor="ctr" bIns="0" lIns="756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urrent Stage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Completed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topology generation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validation pipeline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simulation automation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reward framework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benchmark framework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In Progress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parallel simulation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RL training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grouped tree search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large-scale benchmarking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HPC / Container Infrastructure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118925" y="955675"/>
            <a:ext cx="8986500" cy="31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Main problem: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LTspice is not available on Linux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Solutions attempted (In the span of the first 2 weeks after meeting)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Ngspice: 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too slow, 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different spice syntax which constantly crashes, no parallel simulation supported, only binary available, snellius provides no module for ngspice (or xyce)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Apptainer-based LTSpice container: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Custom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.def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(developed by Bram Van de Berlo, HPC lab) which builds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.sif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execution image. Xvfb, wine required. Xvfb module is provided, however wine/ltspice.exe silently fails. Starts container, simulates single .net, returns .raw, closes container.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Sometimes running the container worked and finished approx in 20 secs. Sometimes fails silently, issue is almost never clear. Wine slow start also contributes to the issue.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Considered parallel approaches as well to separate multiple wine-prefixes: Isolated overlay images, container instances (remain open for the whole training process) assisted by threadpool execution. Regardless of these approaches, still fails silently.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Common with ngspice: Too slow (approximately 30 seconds per netlist!).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-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After many attempts decided to give up and move onto the next approach.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How we resolved the simulation bottleneck</a:t>
            </a:r>
            <a:endParaRPr/>
          </a:p>
        </p:txBody>
      </p:sp>
      <p:sp>
        <p:nvSpPr>
          <p:cNvPr id="197" name="Google Shape;197;p34"/>
          <p:cNvSpPr txBox="1"/>
          <p:nvPr/>
        </p:nvSpPr>
        <p:spPr>
          <a:xfrm>
            <a:off x="484025" y="1314975"/>
            <a:ext cx="28110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Network-based approach</a:t>
            </a:r>
            <a:endParaRPr b="1"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Char char="-"/>
            </a:pPr>
            <a:r>
              <a:rPr lang="en-GB"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ssh, connect snellius to local windows pc/laptop.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Char char="-"/>
            </a:pPr>
            <a:r>
              <a:rPr lang="en-GB"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RTT = 6-10 seconds per batch &gt;&gt;&gt;&gt; NGspice and Apptainer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Char char="-"/>
            </a:pPr>
            <a:r>
              <a:rPr lang="en-GB"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Downside: PC needs to stay on the whole time.</a:t>
            </a:r>
            <a:br>
              <a:rPr b="1" lang="en-GB"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7425" y="1210211"/>
            <a:ext cx="5544175" cy="2937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SFT</a:t>
            </a:r>
            <a:endParaRPr/>
          </a:p>
        </p:txBody>
      </p:sp>
      <p:graphicFrame>
        <p:nvGraphicFramePr>
          <p:cNvPr id="204" name="Google Shape;204;p35"/>
          <p:cNvGraphicFramePr/>
          <p:nvPr/>
        </p:nvGraphicFramePr>
        <p:xfrm>
          <a:off x="603713" y="97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{019F51B1-0219-4EFB-8D27-A9486B77A900}</a:tableStyleId>
              </a:tblPr>
              <a:tblGrid>
                <a:gridCol w="1999825"/>
                <a:gridCol w="5804500"/>
              </a:tblGrid>
              <a:tr h="38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b="1" sz="17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5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Choice</a:t>
                      </a:r>
                      <a:endParaRPr b="1" sz="17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5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model</a:t>
                      </a:r>
                      <a:endParaRPr b="1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5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Qwen/Qwen3-14B  (14.8 B parameters, bf16)</a:t>
                      </a:r>
                      <a:endParaRPr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5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b="1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LoRA via HuggingFace PEFT — no full fine-tune</a:t>
                      </a:r>
                      <a:endParaRPr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LoRA rank / α</a:t>
                      </a:r>
                      <a:endParaRPr b="1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= 16,   α = 32,   dropout = 0.05</a:t>
                      </a:r>
                      <a:endParaRPr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modules</a:t>
                      </a:r>
                      <a:endParaRPr b="1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q_proj, k_proj, v_proj, o_proj, gate_proj, up_proj, down_proj   (7 per layer)</a:t>
                      </a:r>
                      <a:endParaRPr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Trainable params</a:t>
                      </a:r>
                      <a:endParaRPr b="1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64.2 M  /  14.83 B   =   0.43 %</a:t>
                      </a:r>
                      <a:endParaRPr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</a:t>
                      </a:r>
                      <a:endParaRPr b="1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next-token cross-entropy</a:t>
                      </a:r>
                      <a:endParaRPr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 b="1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× NVIDIA H100 80 GB</a:t>
                      </a:r>
                      <a:endParaRPr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SFT Training data </a:t>
            </a:r>
            <a:endParaRPr/>
          </a:p>
        </p:txBody>
      </p:sp>
      <p:pic>
        <p:nvPicPr>
          <p:cNvPr id="210" name="Google Shape;2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450" y="898661"/>
            <a:ext cx="4237728" cy="3780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100" y="729175"/>
            <a:ext cx="2738400" cy="4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6"/>
          <p:cNvSpPr txBox="1"/>
          <p:nvPr/>
        </p:nvSpPr>
        <p:spPr>
          <a:xfrm>
            <a:off x="758825" y="1032900"/>
            <a:ext cx="3617100" cy="3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Size &amp; split</a:t>
            </a:r>
            <a:endParaRPr b="1" sz="18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lang="en-GB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647 training  +  71 validation  =  718 total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lang="en-GB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10 % held out for val_loss probe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data/sft/sft_train.jsonl  +  sft_val.jsonl</a:t>
            </a:r>
            <a:endParaRPr sz="1300">
              <a:solidFill>
                <a:srgbClr val="6E6E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Coverage (by topology family)</a:t>
            </a:r>
            <a:endParaRPr b="1" sz="18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Buck / step-down: 12V→5V, 380V→12V, 400V→24V, 208V→3.3V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Boost / step-up: 12V→380V, 9V→220V, 5V→208V, 12V→400V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Buck-Boost / SEPIC: wide-input, telecom, grid stabilizer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6A1E"/>
              </a:buClr>
              <a:buSzPts val="1300"/>
              <a:buFont typeface="Calibri"/>
              <a:buChar char="●"/>
            </a:pPr>
            <a:r>
              <a:rPr lang="en-GB" sz="1300">
                <a:solidFill>
                  <a:srgbClr val="E46A1E"/>
                </a:solidFill>
                <a:latin typeface="Calibri"/>
                <a:ea typeface="Calibri"/>
                <a:cs typeface="Calibri"/>
                <a:sym typeface="Calibri"/>
              </a:rPr>
              <a:t>13 constraint slots × ~50 valid candidates each</a:t>
            </a:r>
            <a:endParaRPr sz="1300">
              <a:solidFill>
                <a:srgbClr val="E46A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SFT Dataset coverage (constraint space)</a:t>
            </a:r>
            <a:endParaRPr sz="2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825" y="1057800"/>
            <a:ext cx="4947100" cy="39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7"/>
          <p:cNvSpPr txBox="1"/>
          <p:nvPr/>
        </p:nvSpPr>
        <p:spPr>
          <a:xfrm>
            <a:off x="5705925" y="1169100"/>
            <a:ext cx="30000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 V_out vs V_in: above diagonal = step-down (buck), below = step-up (boost)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  input tolerance: farther from diagonal = wider input swing (harder)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  power vs efficiency: all in 100–500 W / 0.90–0.95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●"/>
            </a:pPr>
            <a:r>
              <a:rPr lang="en-GB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  est. current = P_in/V_out: all &lt; 50 A → physically sane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Training recipe &amp; loss curve</a:t>
            </a:r>
            <a:r>
              <a:rPr b="0" lang="en-GB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aphicFrame>
        <p:nvGraphicFramePr>
          <p:cNvPr id="225" name="Google Shape;225;p38"/>
          <p:cNvGraphicFramePr/>
          <p:nvPr/>
        </p:nvGraphicFramePr>
        <p:xfrm>
          <a:off x="649775" y="122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{019F51B1-0219-4EFB-8D27-A9486B77A900}</a:tableStyleId>
              </a:tblPr>
              <a:tblGrid>
                <a:gridCol w="2242025"/>
                <a:gridCol w="2845400"/>
              </a:tblGrid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Hyperparameter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5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5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Epochs</a:t>
                      </a:r>
                      <a:endParaRPr b="1" sz="1200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5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52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Batch size</a:t>
                      </a:r>
                      <a:endParaRPr b="1" sz="1200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 (OOM-safe)</a:t>
                      </a:r>
                      <a:endParaRPr sz="12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Sequence length</a:t>
                      </a:r>
                      <a:endParaRPr b="1" sz="1200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1024 tokens</a:t>
                      </a:r>
                      <a:endParaRPr sz="12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Optimizer</a:t>
                      </a:r>
                      <a:endParaRPr b="1" sz="1200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AdamW, lr = 2 × 10⁻⁴</a:t>
                      </a:r>
                      <a:endParaRPr sz="12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clip</a:t>
                      </a:r>
                      <a:endParaRPr b="1" sz="1200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max_norm = 1.0</a:t>
                      </a:r>
                      <a:endParaRPr sz="12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Scheduler</a:t>
                      </a:r>
                      <a:endParaRPr b="1" sz="1200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constant (no warmup — short run)</a:t>
                      </a:r>
                      <a:endParaRPr sz="12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E46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Checkpoints</a:t>
                      </a:r>
                      <a:endParaRPr b="1" sz="1200">
                        <a:solidFill>
                          <a:srgbClr val="E46A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save after every epoch + final/</a:t>
                      </a:r>
                      <a:endParaRPr sz="1200">
                        <a:solidFill>
                          <a:srgbClr val="1A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6" name="Google Shape;22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4068" y="2068550"/>
            <a:ext cx="3579933" cy="13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Run metrics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9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Fitness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Voltage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Efficiency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Volume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Components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Validity rate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750" y="1057799"/>
            <a:ext cx="4882074" cy="327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551" y="2649975"/>
            <a:ext cx="3159076" cy="229527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9"/>
          <p:cNvSpPr txBox="1"/>
          <p:nvPr/>
        </p:nvSpPr>
        <p:spPr>
          <a:xfrm>
            <a:off x="4705088" y="518700"/>
            <a:ext cx="33234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Zycos 005/ Run 8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Run metrics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355" y="2743200"/>
            <a:ext cx="4032650" cy="240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2546" y="0"/>
            <a:ext cx="4441452" cy="266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4556447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743200"/>
            <a:ext cx="3837420" cy="229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Run metrics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Fitness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Voltage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Efficiency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Volume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Components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Validity rate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51" y="2649975"/>
            <a:ext cx="3159076" cy="229527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1"/>
          <p:cNvSpPr txBox="1"/>
          <p:nvPr/>
        </p:nvSpPr>
        <p:spPr>
          <a:xfrm>
            <a:off x="4705088" y="518700"/>
            <a:ext cx="33234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Zycos 005/ Run 9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5761" y="1057788"/>
            <a:ext cx="4882074" cy="3268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557" y="2649975"/>
            <a:ext cx="3159076" cy="2295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Run metrics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355" y="2743200"/>
            <a:ext cx="4032650" cy="240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2546" y="0"/>
            <a:ext cx="4441452" cy="266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4556447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743200"/>
            <a:ext cx="3837420" cy="229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1351" y="2743200"/>
            <a:ext cx="4032650" cy="2418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02550" y="5550"/>
            <a:ext cx="4441452" cy="2663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0"/>
            <a:ext cx="4556452" cy="2763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2763225"/>
            <a:ext cx="4032650" cy="241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Benchmark &amp; Evaluation Framework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3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Key goals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fair model comparison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reproducible evaluation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topology evolution tracking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Added features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multi-trial evaluation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statistical analysis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normalized metrics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topology lineage tracking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Benchmark &amp; Evaluation Framework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44" title="combined_learning_curv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00" y="1330824"/>
            <a:ext cx="4595323" cy="294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4" title="combined_max_fitness_benchma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915" y="1330819"/>
            <a:ext cx="4234383" cy="294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Benchmark &amp; Evaluation Framework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45" title="combined_validity_ra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00" y="1057800"/>
            <a:ext cx="7506227" cy="372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Benchmark &amp; Evaluation Framework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46" title="combined_pareto_tradeoff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54" y="901850"/>
            <a:ext cx="4620001" cy="3483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6" title="combined_radar_profi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4845" y="901850"/>
            <a:ext cx="4220897" cy="3483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Epsilon-Greedy Top-K Softmax Search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7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Exploitation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Rank all historical candidate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Sample from Top-K using softmax 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probability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Exploration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with probability ε, sample from long-tail candidates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keeps low-ranked but diverse topologies alive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Current setup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Top-K = 8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ε = 0.15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temperature = 0.1 (controls how strongly we favor the best candidate)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Epsilon-Greedy Top-K Softmax Search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8"/>
          <p:cNvSpPr txBox="1"/>
          <p:nvPr>
            <p:ph idx="1" type="body"/>
          </p:nvPr>
        </p:nvSpPr>
        <p:spPr>
          <a:xfrm>
            <a:off x="501675" y="4020825"/>
            <a:ext cx="109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Batch 2</a:t>
            </a:r>
            <a:endParaRPr sz="2250"/>
          </a:p>
        </p:txBody>
      </p:sp>
      <p:pic>
        <p:nvPicPr>
          <p:cNvPr id="307" name="Google Shape;30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50" y="1306651"/>
            <a:ext cx="4127949" cy="262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200" y="1306650"/>
            <a:ext cx="3723971" cy="26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8"/>
          <p:cNvSpPr txBox="1"/>
          <p:nvPr>
            <p:ph idx="1" type="body"/>
          </p:nvPr>
        </p:nvSpPr>
        <p:spPr>
          <a:xfrm>
            <a:off x="4648200" y="4020825"/>
            <a:ext cx="109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Batch 3</a:t>
            </a:r>
            <a:endParaRPr sz="22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Epsilon-Greedy Top-K Softmax Search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9"/>
          <p:cNvSpPr txBox="1"/>
          <p:nvPr>
            <p:ph idx="1" type="body"/>
          </p:nvPr>
        </p:nvSpPr>
        <p:spPr>
          <a:xfrm>
            <a:off x="513418" y="4020825"/>
            <a:ext cx="109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Batch 4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9"/>
          <p:cNvSpPr txBox="1"/>
          <p:nvPr>
            <p:ph idx="1" type="body"/>
          </p:nvPr>
        </p:nvSpPr>
        <p:spPr>
          <a:xfrm>
            <a:off x="4648200" y="4020825"/>
            <a:ext cx="109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Batch 5</a:t>
            </a:r>
            <a:endParaRPr sz="2250"/>
          </a:p>
        </p:txBody>
      </p:sp>
      <p:pic>
        <p:nvPicPr>
          <p:cNvPr id="317" name="Google Shape;31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75" y="1287674"/>
            <a:ext cx="3777951" cy="265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201" y="1287686"/>
            <a:ext cx="3777951" cy="2658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Epsilon-Greedy Top-K Softmax Search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0"/>
          <p:cNvSpPr txBox="1"/>
          <p:nvPr>
            <p:ph idx="1" type="body"/>
          </p:nvPr>
        </p:nvSpPr>
        <p:spPr>
          <a:xfrm>
            <a:off x="501675" y="4020825"/>
            <a:ext cx="109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Batch 10</a:t>
            </a:r>
            <a:endParaRPr sz="2250"/>
          </a:p>
        </p:txBody>
      </p:sp>
      <p:sp>
        <p:nvSpPr>
          <p:cNvPr id="325" name="Google Shape;325;p50"/>
          <p:cNvSpPr txBox="1"/>
          <p:nvPr>
            <p:ph idx="1" type="body"/>
          </p:nvPr>
        </p:nvSpPr>
        <p:spPr>
          <a:xfrm>
            <a:off x="4648200" y="4020825"/>
            <a:ext cx="1097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Batch 11</a:t>
            </a:r>
            <a:endParaRPr sz="2250"/>
          </a:p>
        </p:txBody>
      </p:sp>
      <p:pic>
        <p:nvPicPr>
          <p:cNvPr id="326" name="Google Shape;32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75" y="1287686"/>
            <a:ext cx="3777951" cy="265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1210211"/>
            <a:ext cx="3777951" cy="2658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Arial"/>
                <a:ea typeface="Arial"/>
                <a:cs typeface="Arial"/>
                <a:sym typeface="Arial"/>
              </a:rPr>
              <a:t>RL Tree Search Refactor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1"/>
          <p:cNvSpPr txBox="1"/>
          <p:nvPr>
            <p:ph idx="1" type="body"/>
          </p:nvPr>
        </p:nvSpPr>
        <p:spPr>
          <a:xfrm>
            <a:off x="758824" y="130664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Previous issue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Limited topology diversity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Repeated topology collapse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Unstable parent selection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Current solution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store all evaluated topologies in history_db.json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track parent_id and depth for lineage analysis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select parents from the full history using Top-K softmax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use ε-greedy long-tail sampling to preserve explorati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2"/>
          <p:cNvSpPr txBox="1"/>
          <p:nvPr>
            <p:ph type="title"/>
          </p:nvPr>
        </p:nvSpPr>
        <p:spPr>
          <a:xfrm>
            <a:off x="758825" y="518711"/>
            <a:ext cx="7556400" cy="5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339" name="Google Shape;339;p52"/>
          <p:cNvSpPr txBox="1"/>
          <p:nvPr>
            <p:ph idx="1" type="body"/>
          </p:nvPr>
        </p:nvSpPr>
        <p:spPr>
          <a:xfrm>
            <a:off x="758824" y="1057792"/>
            <a:ext cx="7556400" cy="29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constraint sets, easy/medium/hard.json, 10 runs per .json and 10 iterations per run. Making use of curriculum learning: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Zycos-5, uses weights of sft-2, trained on constraints_easy.json.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Zycos-6, uses weights of Zycos-5, trained on constraints_medium.json.</a:t>
            </a:r>
            <a:endParaRPr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-"/>
            </a:pPr>
            <a:r>
              <a:rPr lang="en-GB"/>
              <a:t>Zycos-7, uses weights of Zycos-6, trained on constraints_hard.json.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far: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Zycos 5: Avg fitness score = 0.857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Zycos 6: Avg fitness score = 0.685 (Crashed for run 10), tuning parameters may help.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Zycos 7: Not run yet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Benchmark for all 3 (Base vs SFT vs Zycos 5/6/7) is not done yet.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1675" y="0"/>
            <a:ext cx="1212325" cy="12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Kantoorthema">
  <a:themeElements>
    <a:clrScheme name="TUe_PPT_V2">
      <a:dk1>
        <a:srgbClr val="000000"/>
      </a:dk1>
      <a:lt1>
        <a:srgbClr val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