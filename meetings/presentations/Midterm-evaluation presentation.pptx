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6" r:id="rId4"/>
    <p:sldMasterId id="2147483677"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d2104e866b_2_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g3d2104e866b_2_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Atakan</a:t>
            </a:r>
            <a:endParaRPr/>
          </a:p>
        </p:txBody>
      </p:sp>
      <p:sp>
        <p:nvSpPr>
          <p:cNvPr id="175" name="Google Shape;175;g3d2104e866b_2_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d2104e86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d2104e86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d2104e86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d2104e86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Answers what, who and why</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2104e866b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2104e866b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Everyone (Zijian -&gt; Chris -&gt; Atakan -&gt; Yuhao)</a:t>
            </a:r>
            <a:br>
              <a:rPr lang="en-GB"/>
            </a:b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d2104e866b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d2104e866b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Chris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d2104e866b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d2104e866b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Zijian</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Our approach consists of three main components: generation, evaluation, and optimization.</a:t>
            </a:r>
            <a:endParaRPr sz="1000">
              <a:solidFill>
                <a:schemeClr val="dk1"/>
              </a:solidFill>
            </a:endParaRPr>
          </a:p>
          <a:p>
            <a:pPr indent="-292100" lvl="0" marL="457200" rtl="0" algn="l">
              <a:lnSpc>
                <a:spcPct val="115000"/>
              </a:lnSpc>
              <a:spcBef>
                <a:spcPts val="1200"/>
              </a:spcBef>
              <a:spcAft>
                <a:spcPts val="0"/>
              </a:spcAft>
              <a:buClr>
                <a:schemeClr val="dk1"/>
              </a:buClr>
              <a:buSzPts val="1000"/>
              <a:buAutoNum type="arabicPeriod"/>
            </a:pPr>
            <a:r>
              <a:rPr lang="en-GB" sz="1000">
                <a:solidFill>
                  <a:schemeClr val="dk1"/>
                </a:solidFill>
              </a:rPr>
              <a:t>First, we use an LLM to generate candidate circuit topologies from high-level specifications. The model is initialized with a supervised fine-tuning warm start, which enables it to generate reasonable designs from the beginning.</a:t>
            </a:r>
            <a:endParaRPr sz="1000">
              <a:solidFill>
                <a:schemeClr val="dk1"/>
              </a:solidFill>
            </a:endParaRPr>
          </a:p>
          <a:p>
            <a:pPr indent="-292100" lvl="0" marL="457200" rtl="0" algn="l">
              <a:lnSpc>
                <a:spcPct val="115000"/>
              </a:lnSpc>
              <a:spcBef>
                <a:spcPts val="0"/>
              </a:spcBef>
              <a:spcAft>
                <a:spcPts val="0"/>
              </a:spcAft>
              <a:buClr>
                <a:schemeClr val="dk1"/>
              </a:buClr>
              <a:buSzPts val="1000"/>
              <a:buAutoNum type="arabicPeriod"/>
            </a:pPr>
            <a:r>
              <a:rPr lang="en-GB" sz="1000">
                <a:solidFill>
                  <a:schemeClr val="dk1"/>
                </a:solidFill>
              </a:rPr>
              <a:t>Next, each generated topology is evaluated through validation and circuit simulation. This ensures that the designs are physically valid and get the performance result based on the requirement.</a:t>
            </a:r>
            <a:endParaRPr sz="1000">
              <a:solidFill>
                <a:schemeClr val="dk1"/>
              </a:solidFill>
            </a:endParaRPr>
          </a:p>
          <a:p>
            <a:pPr indent="-292100" lvl="0" marL="457200" rtl="0" algn="l">
              <a:lnSpc>
                <a:spcPct val="115000"/>
              </a:lnSpc>
              <a:spcBef>
                <a:spcPts val="0"/>
              </a:spcBef>
              <a:spcAft>
                <a:spcPts val="0"/>
              </a:spcAft>
              <a:buClr>
                <a:schemeClr val="dk1"/>
              </a:buClr>
              <a:buSzPts val="1000"/>
              <a:buAutoNum type="arabicPeriod"/>
            </a:pPr>
            <a:r>
              <a:rPr lang="en-GB" sz="1000">
                <a:solidFill>
                  <a:schemeClr val="dk1"/>
                </a:solidFill>
              </a:rPr>
              <a:t>Finally, we use reinforcement learning to update the policy based on simulation feedback. This enables the pipeline to iteratively improve and guide the generation toward better designs.</a:t>
            </a:r>
            <a:endParaRPr sz="1000">
              <a:solidFill>
                <a:schemeClr val="dk1"/>
              </a:solidFill>
            </a:endParaRPr>
          </a:p>
          <a:p>
            <a:pPr indent="0" lvl="0" marL="457200" rtl="0" algn="l">
              <a:lnSpc>
                <a:spcPct val="115000"/>
              </a:lnSpc>
              <a:spcBef>
                <a:spcPts val="1200"/>
              </a:spcBef>
              <a:spcAft>
                <a:spcPts val="0"/>
              </a:spcAft>
              <a:buNone/>
            </a:pPr>
            <a:r>
              <a:t/>
            </a:r>
            <a:endParaRPr sz="1000">
              <a:solidFill>
                <a:schemeClr val="dk1"/>
              </a:solidFill>
            </a:endParaRPr>
          </a:p>
          <a:p>
            <a:pPr indent="0" lvl="0" marL="0" rtl="0" algn="l">
              <a:lnSpc>
                <a:spcPct val="115000"/>
              </a:lnSpc>
              <a:spcBef>
                <a:spcPts val="1200"/>
              </a:spcBef>
              <a:spcAft>
                <a:spcPts val="120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d2104e866b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d2104e866b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Answers how</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d2104e866b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d2104e866b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Atakan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1.</a:t>
            </a:r>
            <a:endParaRPr/>
          </a:p>
          <a:p>
            <a:pPr indent="0" lvl="0" marL="0" rtl="0" algn="l">
              <a:spcBef>
                <a:spcPts val="0"/>
              </a:spcBef>
              <a:spcAft>
                <a:spcPts val="0"/>
              </a:spcAft>
              <a:buClr>
                <a:schemeClr val="dk1"/>
              </a:buClr>
              <a:buSzPts val="1100"/>
              <a:buFont typeface="Arial"/>
              <a:buNone/>
            </a:pPr>
            <a:r>
              <a:rPr lang="en-GB"/>
              <a:t>A comprehensive</a:t>
            </a:r>
            <a:endParaRPr/>
          </a:p>
          <a:p>
            <a:pPr indent="0" lvl="0" marL="0" rtl="0" algn="l">
              <a:spcBef>
                <a:spcPts val="0"/>
              </a:spcBef>
              <a:spcAft>
                <a:spcPts val="0"/>
              </a:spcAft>
              <a:buClr>
                <a:schemeClr val="dk1"/>
              </a:buClr>
              <a:buSzPts val="1100"/>
              <a:buFont typeface="Arial"/>
              <a:buNone/>
            </a:pPr>
            <a:r>
              <a:rPr lang="en-GB"/>
              <a:t>review of relevant articles will be conducted to identify knowledge</a:t>
            </a:r>
            <a:endParaRPr/>
          </a:p>
          <a:p>
            <a:pPr indent="0" lvl="0" marL="0" rtl="0" algn="l">
              <a:spcBef>
                <a:spcPts val="0"/>
              </a:spcBef>
              <a:spcAft>
                <a:spcPts val="0"/>
              </a:spcAft>
              <a:buClr>
                <a:schemeClr val="dk1"/>
              </a:buClr>
              <a:buSzPts val="1100"/>
              <a:buFont typeface="Arial"/>
              <a:buNone/>
            </a:pPr>
            <a:r>
              <a:rPr lang="en-GB"/>
              <a:t>gaps and understand state-of-the-art methods. Based on this analysis,</a:t>
            </a:r>
            <a:endParaRPr/>
          </a:p>
          <a:p>
            <a:pPr indent="0" lvl="0" marL="0" rtl="0" algn="l">
              <a:spcBef>
                <a:spcPts val="0"/>
              </a:spcBef>
              <a:spcAft>
                <a:spcPts val="0"/>
              </a:spcAft>
              <a:buClr>
                <a:schemeClr val="dk1"/>
              </a:buClr>
              <a:buSzPts val="1100"/>
              <a:buFont typeface="Arial"/>
              <a:buNone/>
            </a:pPr>
            <a:r>
              <a:rPr lang="en-GB"/>
              <a:t>an appropriate approach to the problem will be chosen.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2.</a:t>
            </a:r>
            <a:endParaRPr/>
          </a:p>
          <a:p>
            <a:pPr indent="0" lvl="0" marL="0" rtl="0" algn="l">
              <a:spcBef>
                <a:spcPts val="0"/>
              </a:spcBef>
              <a:spcAft>
                <a:spcPts val="0"/>
              </a:spcAft>
              <a:buClr>
                <a:schemeClr val="dk1"/>
              </a:buClr>
              <a:buSzPts val="1100"/>
              <a:buFont typeface="Arial"/>
              <a:buNone/>
            </a:pPr>
            <a:r>
              <a:rPr lang="en-GB"/>
              <a:t>Based on the</a:t>
            </a:r>
            <a:endParaRPr/>
          </a:p>
          <a:p>
            <a:pPr indent="0" lvl="0" marL="0" rtl="0" algn="l">
              <a:spcBef>
                <a:spcPts val="0"/>
              </a:spcBef>
              <a:spcAft>
                <a:spcPts val="0"/>
              </a:spcAft>
              <a:buClr>
                <a:schemeClr val="dk1"/>
              </a:buClr>
              <a:buSzPts val="1100"/>
              <a:buFont typeface="Arial"/>
              <a:buNone/>
            </a:pPr>
            <a:r>
              <a:rPr lang="en-GB"/>
              <a:t>chosen approach, the infrastructure for data generation will be estab-</a:t>
            </a:r>
            <a:endParaRPr/>
          </a:p>
          <a:p>
            <a:pPr indent="0" lvl="0" marL="0" rtl="0" algn="l">
              <a:spcBef>
                <a:spcPts val="0"/>
              </a:spcBef>
              <a:spcAft>
                <a:spcPts val="0"/>
              </a:spcAft>
              <a:buClr>
                <a:schemeClr val="dk1"/>
              </a:buClr>
              <a:buSzPts val="1100"/>
              <a:buFont typeface="Arial"/>
              <a:buNone/>
            </a:pPr>
            <a:r>
              <a:rPr lang="en-GB"/>
              <a:t>lished. If the approach calls for a dataset, this will be generated</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3.</a:t>
            </a:r>
            <a:endParaRPr/>
          </a:p>
          <a:p>
            <a:pPr indent="0" lvl="0" marL="0" rtl="0" algn="l">
              <a:spcBef>
                <a:spcPts val="0"/>
              </a:spcBef>
              <a:spcAft>
                <a:spcPts val="0"/>
              </a:spcAft>
              <a:buClr>
                <a:schemeClr val="dk1"/>
              </a:buClr>
              <a:buSzPts val="1100"/>
              <a:buFont typeface="Arial"/>
              <a:buNone/>
            </a:pPr>
            <a:r>
              <a:rPr lang="en-GB"/>
              <a:t>The model training pipeline will be</a:t>
            </a:r>
            <a:endParaRPr/>
          </a:p>
          <a:p>
            <a:pPr indent="0" lvl="0" marL="0" rtl="0" algn="l">
              <a:spcBef>
                <a:spcPts val="0"/>
              </a:spcBef>
              <a:spcAft>
                <a:spcPts val="0"/>
              </a:spcAft>
              <a:buClr>
                <a:schemeClr val="dk1"/>
              </a:buClr>
              <a:buSzPts val="1100"/>
              <a:buFont typeface="Arial"/>
              <a:buNone/>
            </a:pPr>
            <a:r>
              <a:rPr lang="en-GB"/>
              <a:t>implemented. Model performance will be evaluated and improved</a:t>
            </a:r>
            <a:endParaRPr/>
          </a:p>
          <a:p>
            <a:pPr indent="0" lvl="0" marL="0" rtl="0" algn="l">
              <a:spcBef>
                <a:spcPts val="0"/>
              </a:spcBef>
              <a:spcAft>
                <a:spcPts val="0"/>
              </a:spcAft>
              <a:buClr>
                <a:schemeClr val="dk1"/>
              </a:buClr>
              <a:buSzPts val="1100"/>
              <a:buFont typeface="Arial"/>
              <a:buNone/>
            </a:pPr>
            <a:r>
              <a:rPr lang="en-GB"/>
              <a:t>through iterative optimization, including hyperparameter tuning,</a:t>
            </a:r>
            <a:endParaRPr/>
          </a:p>
          <a:p>
            <a:pPr indent="0" lvl="0" marL="0" rtl="0" algn="l">
              <a:spcBef>
                <a:spcPts val="0"/>
              </a:spcBef>
              <a:spcAft>
                <a:spcPts val="0"/>
              </a:spcAft>
              <a:buClr>
                <a:schemeClr val="dk1"/>
              </a:buClr>
              <a:buSzPts val="1100"/>
              <a:buFont typeface="Arial"/>
              <a:buNone/>
            </a:pPr>
            <a:r>
              <a:rPr lang="en-GB"/>
              <a:t>architectural adjustments, or additional data generation from simula-</a:t>
            </a:r>
            <a:endParaRPr/>
          </a:p>
          <a:p>
            <a:pPr indent="0" lvl="0" marL="0" rtl="0" algn="l">
              <a:spcBef>
                <a:spcPts val="0"/>
              </a:spcBef>
              <a:spcAft>
                <a:spcPts val="0"/>
              </a:spcAft>
              <a:buClr>
                <a:schemeClr val="dk1"/>
              </a:buClr>
              <a:buSzPts val="1100"/>
              <a:buFont typeface="Arial"/>
              <a:buNone/>
            </a:pPr>
            <a:r>
              <a:rPr lang="en-GB"/>
              <a:t>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4. </a:t>
            </a:r>
            <a:endParaRPr/>
          </a:p>
          <a:p>
            <a:pPr indent="0" lvl="0" marL="0" rtl="0" algn="l">
              <a:spcBef>
                <a:spcPts val="0"/>
              </a:spcBef>
              <a:spcAft>
                <a:spcPts val="0"/>
              </a:spcAft>
              <a:buClr>
                <a:schemeClr val="dk1"/>
              </a:buClr>
              <a:buSzPts val="1100"/>
              <a:buFont typeface="Arial"/>
              <a:buNone/>
            </a:pPr>
            <a:r>
              <a:rPr lang="en-GB"/>
              <a:t>A prototype will be deployed to</a:t>
            </a:r>
            <a:endParaRPr/>
          </a:p>
          <a:p>
            <a:pPr indent="0" lvl="0" marL="0" rtl="0" algn="l">
              <a:spcBef>
                <a:spcPts val="0"/>
              </a:spcBef>
              <a:spcAft>
                <a:spcPts val="0"/>
              </a:spcAft>
              <a:buClr>
                <a:schemeClr val="dk1"/>
              </a:buClr>
              <a:buSzPts val="1100"/>
              <a:buFont typeface="Arial"/>
              <a:buNone/>
            </a:pPr>
            <a:r>
              <a:rPr lang="en-GB"/>
              <a:t>demonstrate the model’s performance. This implementation will be</a:t>
            </a:r>
            <a:endParaRPr/>
          </a:p>
          <a:p>
            <a:pPr indent="0" lvl="0" marL="0" rtl="0" algn="l">
              <a:spcBef>
                <a:spcPts val="0"/>
              </a:spcBef>
              <a:spcAft>
                <a:spcPts val="0"/>
              </a:spcAft>
              <a:buClr>
                <a:schemeClr val="dk1"/>
              </a:buClr>
              <a:buSzPts val="1100"/>
              <a:buFont typeface="Arial"/>
              <a:buNone/>
            </a:pPr>
            <a:r>
              <a:rPr lang="en-GB"/>
              <a:t>used during the final demonstration.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5.</a:t>
            </a:r>
            <a:endParaRPr/>
          </a:p>
          <a:p>
            <a:pPr indent="0" lvl="0" marL="0" rtl="0" algn="l">
              <a:spcBef>
                <a:spcPts val="0"/>
              </a:spcBef>
              <a:spcAft>
                <a:spcPts val="0"/>
              </a:spcAft>
              <a:buClr>
                <a:schemeClr val="dk1"/>
              </a:buClr>
              <a:buSzPts val="1100"/>
              <a:buFont typeface="Arial"/>
              <a:buNone/>
            </a:pPr>
            <a:r>
              <a:rPr lang="en-GB"/>
              <a:t>Comprehensive documentation will be pre-</a:t>
            </a:r>
            <a:endParaRPr/>
          </a:p>
          <a:p>
            <a:pPr indent="0" lvl="0" marL="0" rtl="0" algn="l">
              <a:spcBef>
                <a:spcPts val="0"/>
              </a:spcBef>
              <a:spcAft>
                <a:spcPts val="0"/>
              </a:spcAft>
              <a:buClr>
                <a:schemeClr val="dk1"/>
              </a:buClr>
              <a:buSzPts val="1100"/>
              <a:buFont typeface="Arial"/>
              <a:buNone/>
            </a:pPr>
            <a:r>
              <a:rPr lang="en-GB"/>
              <a:t>pared to ensure reproducibility and enable verification of the func-</a:t>
            </a:r>
            <a:endParaRPr/>
          </a:p>
          <a:p>
            <a:pPr indent="0" lvl="0" marL="0" rtl="0" algn="l">
              <a:spcBef>
                <a:spcPts val="0"/>
              </a:spcBef>
              <a:spcAft>
                <a:spcPts val="0"/>
              </a:spcAft>
              <a:buClr>
                <a:schemeClr val="dk1"/>
              </a:buClr>
              <a:buSzPts val="1100"/>
              <a:buFont typeface="Arial"/>
              <a:buNone/>
            </a:pPr>
            <a:r>
              <a:rPr lang="en-GB"/>
              <a:t>tional integrity of the developed models.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2104e866b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2104e866b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Atakan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GB"/>
              <a:t>Literature Review and process research: A comprehensive</a:t>
            </a:r>
            <a:endParaRPr/>
          </a:p>
          <a:p>
            <a:pPr indent="0" lvl="0" marL="0" rtl="0" algn="l">
              <a:spcBef>
                <a:spcPts val="0"/>
              </a:spcBef>
              <a:spcAft>
                <a:spcPts val="0"/>
              </a:spcAft>
              <a:buClr>
                <a:schemeClr val="dk1"/>
              </a:buClr>
              <a:buSzPts val="1100"/>
              <a:buFont typeface="Arial"/>
              <a:buNone/>
            </a:pPr>
            <a:r>
              <a:rPr lang="en-GB"/>
              <a:t>review of relevant articles will be conducted to identify knowledge</a:t>
            </a:r>
            <a:endParaRPr/>
          </a:p>
          <a:p>
            <a:pPr indent="0" lvl="0" marL="0" rtl="0" algn="l">
              <a:spcBef>
                <a:spcPts val="0"/>
              </a:spcBef>
              <a:spcAft>
                <a:spcPts val="0"/>
              </a:spcAft>
              <a:buClr>
                <a:schemeClr val="dk1"/>
              </a:buClr>
              <a:buSzPts val="1100"/>
              <a:buFont typeface="Arial"/>
              <a:buNone/>
            </a:pPr>
            <a:r>
              <a:rPr lang="en-GB"/>
              <a:t>gaps and understand state-of-the-art methods. Based on this analysis,</a:t>
            </a:r>
            <a:endParaRPr/>
          </a:p>
          <a:p>
            <a:pPr indent="0" lvl="0" marL="0" rtl="0" algn="l">
              <a:spcBef>
                <a:spcPts val="0"/>
              </a:spcBef>
              <a:spcAft>
                <a:spcPts val="0"/>
              </a:spcAft>
              <a:buClr>
                <a:schemeClr val="dk1"/>
              </a:buClr>
              <a:buSzPts val="1100"/>
              <a:buFont typeface="Arial"/>
              <a:buNone/>
            </a:pPr>
            <a:r>
              <a:rPr lang="en-GB"/>
              <a:t>an appropriate approach to the problem will be chosen.</a:t>
            </a:r>
            <a:endParaRPr/>
          </a:p>
          <a:p>
            <a:pPr indent="0" lvl="0" marL="0" rtl="0" algn="l">
              <a:spcBef>
                <a:spcPts val="0"/>
              </a:spcBef>
              <a:spcAft>
                <a:spcPts val="0"/>
              </a:spcAft>
              <a:buClr>
                <a:schemeClr val="dk1"/>
              </a:buClr>
              <a:buSzPts val="1100"/>
              <a:buFont typeface="Arial"/>
              <a:buNone/>
            </a:pPr>
            <a:r>
              <a:rPr lang="en-GB"/>
              <a:t>1 week, Q3</a:t>
            </a:r>
            <a:endParaRPr/>
          </a:p>
          <a:p>
            <a:pPr indent="0" lvl="0" marL="0" rtl="0" algn="l">
              <a:spcBef>
                <a:spcPts val="0"/>
              </a:spcBef>
              <a:spcAft>
                <a:spcPts val="0"/>
              </a:spcAft>
              <a:buClr>
                <a:schemeClr val="dk1"/>
              </a:buClr>
              <a:buSzPts val="1100"/>
              <a:buFont typeface="Arial"/>
              <a:buNone/>
            </a:pPr>
            <a:r>
              <a:rPr lang="en-GB"/>
              <a:t>2 Data generation and simulation processing: Based on the</a:t>
            </a:r>
            <a:endParaRPr/>
          </a:p>
          <a:p>
            <a:pPr indent="0" lvl="0" marL="0" rtl="0" algn="l">
              <a:spcBef>
                <a:spcPts val="0"/>
              </a:spcBef>
              <a:spcAft>
                <a:spcPts val="0"/>
              </a:spcAft>
              <a:buClr>
                <a:schemeClr val="dk1"/>
              </a:buClr>
              <a:buSzPts val="1100"/>
              <a:buFont typeface="Arial"/>
              <a:buNone/>
            </a:pPr>
            <a:r>
              <a:rPr lang="en-GB"/>
              <a:t>chosen approach, the infrastructure for data generation will be estab-</a:t>
            </a:r>
            <a:endParaRPr/>
          </a:p>
          <a:p>
            <a:pPr indent="0" lvl="0" marL="0" rtl="0" algn="l">
              <a:spcBef>
                <a:spcPts val="0"/>
              </a:spcBef>
              <a:spcAft>
                <a:spcPts val="0"/>
              </a:spcAft>
              <a:buClr>
                <a:schemeClr val="dk1"/>
              </a:buClr>
              <a:buSzPts val="1100"/>
              <a:buFont typeface="Arial"/>
              <a:buNone/>
            </a:pPr>
            <a:r>
              <a:rPr lang="en-GB"/>
              <a:t>lished. If the approach calls for a dataset, this will be generated.</a:t>
            </a:r>
            <a:endParaRPr/>
          </a:p>
          <a:p>
            <a:pPr indent="0" lvl="0" marL="0" rtl="0" algn="l">
              <a:spcBef>
                <a:spcPts val="0"/>
              </a:spcBef>
              <a:spcAft>
                <a:spcPts val="0"/>
              </a:spcAft>
              <a:buClr>
                <a:schemeClr val="dk1"/>
              </a:buClr>
              <a:buSzPts val="1100"/>
              <a:buFont typeface="Arial"/>
              <a:buNone/>
            </a:pPr>
            <a:r>
              <a:rPr lang="en-GB"/>
              <a:t>2 weeks, Q3</a:t>
            </a:r>
            <a:endParaRPr/>
          </a:p>
          <a:p>
            <a:pPr indent="0" lvl="0" marL="0" rtl="0" algn="l">
              <a:spcBef>
                <a:spcPts val="0"/>
              </a:spcBef>
              <a:spcAft>
                <a:spcPts val="0"/>
              </a:spcAft>
              <a:buClr>
                <a:schemeClr val="dk1"/>
              </a:buClr>
              <a:buSzPts val="1100"/>
              <a:buFont typeface="Arial"/>
              <a:buNone/>
            </a:pPr>
            <a:r>
              <a:rPr lang="en-GB"/>
              <a:t>3 Model training and tuning: The model training pipeline will be</a:t>
            </a:r>
            <a:endParaRPr/>
          </a:p>
          <a:p>
            <a:pPr indent="0" lvl="0" marL="0" rtl="0" algn="l">
              <a:spcBef>
                <a:spcPts val="0"/>
              </a:spcBef>
              <a:spcAft>
                <a:spcPts val="0"/>
              </a:spcAft>
              <a:buClr>
                <a:schemeClr val="dk1"/>
              </a:buClr>
              <a:buSzPts val="1100"/>
              <a:buFont typeface="Arial"/>
              <a:buNone/>
            </a:pPr>
            <a:r>
              <a:rPr lang="en-GB"/>
              <a:t>implemented. Model performance will be evaluated and improved</a:t>
            </a:r>
            <a:endParaRPr/>
          </a:p>
          <a:p>
            <a:pPr indent="0" lvl="0" marL="0" rtl="0" algn="l">
              <a:spcBef>
                <a:spcPts val="0"/>
              </a:spcBef>
              <a:spcAft>
                <a:spcPts val="0"/>
              </a:spcAft>
              <a:buClr>
                <a:schemeClr val="dk1"/>
              </a:buClr>
              <a:buSzPts val="1100"/>
              <a:buFont typeface="Arial"/>
              <a:buNone/>
            </a:pPr>
            <a:r>
              <a:rPr lang="en-GB"/>
              <a:t>through iterative optimization, including hyperparameter tuning,</a:t>
            </a:r>
            <a:endParaRPr/>
          </a:p>
          <a:p>
            <a:pPr indent="0" lvl="0" marL="0" rtl="0" algn="l">
              <a:spcBef>
                <a:spcPts val="0"/>
              </a:spcBef>
              <a:spcAft>
                <a:spcPts val="0"/>
              </a:spcAft>
              <a:buClr>
                <a:schemeClr val="dk1"/>
              </a:buClr>
              <a:buSzPts val="1100"/>
              <a:buFont typeface="Arial"/>
              <a:buNone/>
            </a:pPr>
            <a:r>
              <a:rPr lang="en-GB"/>
              <a:t>architectural adjustments, or additional data generation from simula-</a:t>
            </a:r>
            <a:endParaRPr/>
          </a:p>
          <a:p>
            <a:pPr indent="0" lvl="0" marL="0" rtl="0" algn="l">
              <a:spcBef>
                <a:spcPts val="0"/>
              </a:spcBef>
              <a:spcAft>
                <a:spcPts val="0"/>
              </a:spcAft>
              <a:buClr>
                <a:schemeClr val="dk1"/>
              </a:buClr>
              <a:buSzPts val="1100"/>
              <a:buFont typeface="Arial"/>
              <a:buNone/>
            </a:pPr>
            <a:r>
              <a:rPr lang="en-GB"/>
              <a:t>tions.</a:t>
            </a:r>
            <a:endParaRPr/>
          </a:p>
          <a:p>
            <a:pPr indent="0" lvl="0" marL="0" rtl="0" algn="l">
              <a:spcBef>
                <a:spcPts val="0"/>
              </a:spcBef>
              <a:spcAft>
                <a:spcPts val="0"/>
              </a:spcAft>
              <a:buClr>
                <a:schemeClr val="dk1"/>
              </a:buClr>
              <a:buSzPts val="1100"/>
              <a:buFont typeface="Arial"/>
              <a:buNone/>
            </a:pPr>
            <a:r>
              <a:rPr lang="en-GB"/>
              <a:t>5 weeks, Q3/Q4</a:t>
            </a:r>
            <a:endParaRPr/>
          </a:p>
          <a:p>
            <a:pPr indent="0" lvl="0" marL="0" rtl="0" algn="l">
              <a:spcBef>
                <a:spcPts val="0"/>
              </a:spcBef>
              <a:spcAft>
                <a:spcPts val="0"/>
              </a:spcAft>
              <a:buClr>
                <a:schemeClr val="dk1"/>
              </a:buClr>
              <a:buSzPts val="1100"/>
              <a:buFont typeface="Arial"/>
              <a:buNone/>
            </a:pPr>
            <a:r>
              <a:rPr lang="en-GB"/>
              <a:t>4 Interactive Implementation: A prototype will be deployed to</a:t>
            </a:r>
            <a:endParaRPr/>
          </a:p>
          <a:p>
            <a:pPr indent="0" lvl="0" marL="0" rtl="0" algn="l">
              <a:spcBef>
                <a:spcPts val="0"/>
              </a:spcBef>
              <a:spcAft>
                <a:spcPts val="0"/>
              </a:spcAft>
              <a:buClr>
                <a:schemeClr val="dk1"/>
              </a:buClr>
              <a:buSzPts val="1100"/>
              <a:buFont typeface="Arial"/>
              <a:buNone/>
            </a:pPr>
            <a:r>
              <a:rPr lang="en-GB"/>
              <a:t>demonstrate the model’s performance. This implementation will be</a:t>
            </a:r>
            <a:endParaRPr/>
          </a:p>
          <a:p>
            <a:pPr indent="0" lvl="0" marL="0" rtl="0" algn="l">
              <a:spcBef>
                <a:spcPts val="0"/>
              </a:spcBef>
              <a:spcAft>
                <a:spcPts val="0"/>
              </a:spcAft>
              <a:buClr>
                <a:schemeClr val="dk1"/>
              </a:buClr>
              <a:buSzPts val="1100"/>
              <a:buFont typeface="Arial"/>
              <a:buNone/>
            </a:pPr>
            <a:r>
              <a:rPr lang="en-GB"/>
              <a:t>used during the final demonstration.</a:t>
            </a:r>
            <a:endParaRPr/>
          </a:p>
          <a:p>
            <a:pPr indent="0" lvl="0" marL="0" rtl="0" algn="l">
              <a:spcBef>
                <a:spcPts val="0"/>
              </a:spcBef>
              <a:spcAft>
                <a:spcPts val="0"/>
              </a:spcAft>
              <a:buClr>
                <a:schemeClr val="dk1"/>
              </a:buClr>
              <a:buSzPts val="1100"/>
              <a:buFont typeface="Arial"/>
              <a:buNone/>
            </a:pPr>
            <a:r>
              <a:rPr lang="en-GB"/>
              <a:t>2 weeks, Q4</a:t>
            </a:r>
            <a:endParaRPr/>
          </a:p>
          <a:p>
            <a:pPr indent="0" lvl="0" marL="0" rtl="0" algn="l">
              <a:spcBef>
                <a:spcPts val="0"/>
              </a:spcBef>
              <a:spcAft>
                <a:spcPts val="0"/>
              </a:spcAft>
              <a:buClr>
                <a:schemeClr val="dk1"/>
              </a:buClr>
              <a:buSzPts val="1100"/>
              <a:buFont typeface="Arial"/>
              <a:buNone/>
            </a:pPr>
            <a:r>
              <a:rPr lang="en-GB"/>
              <a:t>5 Final report writing: Comprehensive documentation will be pre-</a:t>
            </a:r>
            <a:endParaRPr/>
          </a:p>
          <a:p>
            <a:pPr indent="0" lvl="0" marL="0" rtl="0" algn="l">
              <a:spcBef>
                <a:spcPts val="0"/>
              </a:spcBef>
              <a:spcAft>
                <a:spcPts val="0"/>
              </a:spcAft>
              <a:buClr>
                <a:schemeClr val="dk1"/>
              </a:buClr>
              <a:buSzPts val="1100"/>
              <a:buFont typeface="Arial"/>
              <a:buNone/>
            </a:pPr>
            <a:r>
              <a:rPr lang="en-GB"/>
              <a:t>pared to ensure reproducibility and enable verification of the func-</a:t>
            </a:r>
            <a:endParaRPr/>
          </a:p>
          <a:p>
            <a:pPr indent="0" lvl="0" marL="0" rtl="0" algn="l">
              <a:spcBef>
                <a:spcPts val="0"/>
              </a:spcBef>
              <a:spcAft>
                <a:spcPts val="0"/>
              </a:spcAft>
              <a:buClr>
                <a:schemeClr val="dk1"/>
              </a:buClr>
              <a:buSzPts val="1100"/>
              <a:buFont typeface="Arial"/>
              <a:buNone/>
            </a:pPr>
            <a:r>
              <a:rPr lang="en-GB"/>
              <a:t>tional integrity of the developed models.</a:t>
            </a:r>
            <a:endParaRPr/>
          </a:p>
          <a:p>
            <a:pPr indent="0" lvl="0" marL="0" rtl="0" algn="l">
              <a:spcBef>
                <a:spcPts val="0"/>
              </a:spcBef>
              <a:spcAft>
                <a:spcPts val="0"/>
              </a:spcAft>
              <a:buClr>
                <a:schemeClr val="dk1"/>
              </a:buClr>
              <a:buSzPts val="1100"/>
              <a:buFont typeface="Arial"/>
              <a:buNone/>
            </a:pPr>
            <a:r>
              <a:rPr lang="en-GB"/>
              <a:t>1.5 weeks, Q4</a:t>
            </a:r>
            <a:endParaRPr/>
          </a:p>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d2104e866b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9" name="Google Shape;259;g3d2104e866b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Chris</a:t>
            </a:r>
            <a:endParaRPr/>
          </a:p>
          <a:p>
            <a:pPr indent="0" lvl="0" marL="0" rtl="0" algn="l">
              <a:spcBef>
                <a:spcPts val="0"/>
              </a:spcBef>
              <a:spcAft>
                <a:spcPts val="0"/>
              </a:spcAft>
              <a:buNone/>
            </a:pPr>
            <a:r>
              <a:rPr lang="en-GB"/>
              <a:t>This is our training pipeline, This is how we plan to train our LLM to understand how to output valid netlist give some constraints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d2309ff1ba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d2309ff1ba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sz="1950">
                <a:solidFill>
                  <a:schemeClr val="dk1"/>
                </a:solidFill>
              </a:rPr>
              <a:t>Yuhao</a:t>
            </a:r>
            <a:endParaRPr sz="1950">
              <a:solidFill>
                <a:schemeClr val="dk1"/>
              </a:solidFill>
            </a:endParaRPr>
          </a:p>
          <a:p>
            <a:pPr indent="0" lvl="0" marL="0" rtl="0" algn="l">
              <a:spcBef>
                <a:spcPts val="0"/>
              </a:spcBef>
              <a:spcAft>
                <a:spcPts val="0"/>
              </a:spcAft>
              <a:buNone/>
            </a:pPr>
            <a:r>
              <a:t/>
            </a:r>
            <a:endParaRPr sz="1950">
              <a:solidFill>
                <a:schemeClr val="dk1"/>
              </a:solidFill>
            </a:endParaRPr>
          </a:p>
          <a:p>
            <a:pPr indent="0" lvl="0" marL="0" rtl="0" algn="l">
              <a:spcBef>
                <a:spcPts val="0"/>
              </a:spcBef>
              <a:spcAft>
                <a:spcPts val="0"/>
              </a:spcAft>
              <a:buClr>
                <a:schemeClr val="dk1"/>
              </a:buClr>
              <a:buSzPts val="1100"/>
              <a:buFont typeface="Arial"/>
              <a:buNone/>
            </a:pPr>
            <a:r>
              <a:rPr lang="en-GB" sz="1950">
                <a:solidFill>
                  <a:schemeClr val="dk1"/>
                </a:solidFill>
              </a:rPr>
              <a:t>A constraint set, in the form of a json will be delivered as an input to a larger LLM that generates a an adjustable number of topologies in the form of a SPICE netlist (.net).</a:t>
            </a:r>
            <a:endParaRPr sz="1950">
              <a:solidFill>
                <a:schemeClr val="dk1"/>
              </a:solidFill>
            </a:endParaRPr>
          </a:p>
          <a:p>
            <a:pPr indent="0" lvl="0" marL="0" rtl="0" algn="l">
              <a:spcBef>
                <a:spcPts val="0"/>
              </a:spcBef>
              <a:spcAft>
                <a:spcPts val="0"/>
              </a:spcAft>
              <a:buClr>
                <a:schemeClr val="dk1"/>
              </a:buClr>
              <a:buSzPts val="1100"/>
              <a:buFont typeface="Arial"/>
              <a:buNone/>
            </a:pPr>
            <a:r>
              <a:t/>
            </a:r>
            <a:endParaRPr sz="1950">
              <a:solidFill>
                <a:schemeClr val="dk1"/>
              </a:solidFill>
            </a:endParaRPr>
          </a:p>
          <a:p>
            <a:pPr indent="0" lvl="0" marL="0" rtl="0" algn="l">
              <a:spcBef>
                <a:spcPts val="0"/>
              </a:spcBef>
              <a:spcAft>
                <a:spcPts val="0"/>
              </a:spcAft>
              <a:buClr>
                <a:schemeClr val="dk1"/>
              </a:buClr>
              <a:buSzPts val="1100"/>
              <a:buFont typeface="Arial"/>
              <a:buNone/>
            </a:pPr>
            <a:r>
              <a:rPr lang="en-GB" sz="1950">
                <a:solidFill>
                  <a:schemeClr val="dk1"/>
                </a:solidFill>
              </a:rPr>
              <a:t>These netlists go through a validation process to classify hallucinations and actual working topologies.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d2309ff1ba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d2309ff1ba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sz="1950">
                <a:solidFill>
                  <a:schemeClr val="dk1"/>
                </a:solidFill>
              </a:rPr>
              <a:t>Atakan</a:t>
            </a:r>
            <a:endParaRPr sz="1950">
              <a:solidFill>
                <a:schemeClr val="dk1"/>
              </a:solidFill>
            </a:endParaRPr>
          </a:p>
          <a:p>
            <a:pPr indent="0" lvl="0" marL="0" rtl="0" algn="l">
              <a:spcBef>
                <a:spcPts val="0"/>
              </a:spcBef>
              <a:spcAft>
                <a:spcPts val="0"/>
              </a:spcAft>
              <a:buNone/>
            </a:pPr>
            <a:r>
              <a:t/>
            </a:r>
            <a:endParaRPr sz="1950">
              <a:solidFill>
                <a:schemeClr val="dk1"/>
              </a:solidFill>
            </a:endParaRPr>
          </a:p>
          <a:p>
            <a:pPr indent="0" lvl="0" marL="0" rtl="0" algn="l">
              <a:spcBef>
                <a:spcPts val="0"/>
              </a:spcBef>
              <a:spcAft>
                <a:spcPts val="0"/>
              </a:spcAft>
              <a:buClr>
                <a:schemeClr val="dk1"/>
              </a:buClr>
              <a:buSzPts val="1100"/>
              <a:buFont typeface="Arial"/>
              <a:buNone/>
            </a:pPr>
            <a:r>
              <a:rPr lang="en-GB" sz="1950">
                <a:solidFill>
                  <a:schemeClr val="dk1"/>
                </a:solidFill>
              </a:rPr>
              <a:t>The validation algorithm classifies topologies either as valid or invalid based on pre-simulation hard constraints </a:t>
            </a:r>
            <a:endParaRPr sz="1950">
              <a:solidFill>
                <a:schemeClr val="dk1"/>
              </a:solidFill>
            </a:endParaRPr>
          </a:p>
          <a:p>
            <a:pPr indent="0" lvl="0" marL="0" rtl="0" algn="l">
              <a:spcBef>
                <a:spcPts val="0"/>
              </a:spcBef>
              <a:spcAft>
                <a:spcPts val="0"/>
              </a:spcAft>
              <a:buClr>
                <a:schemeClr val="dk1"/>
              </a:buClr>
              <a:buSzPts val="1100"/>
              <a:buFont typeface="Arial"/>
              <a:buNone/>
            </a:pPr>
            <a:r>
              <a:rPr lang="en-GB" sz="1950">
                <a:solidFill>
                  <a:schemeClr val="dk1"/>
                </a:solidFill>
              </a:rPr>
              <a:t>(e.g. syntax, floating nodes, short circuits, …).</a:t>
            </a:r>
            <a:endParaRPr sz="1950">
              <a:solidFill>
                <a:schemeClr val="dk1"/>
              </a:solidFill>
            </a:endParaRPr>
          </a:p>
          <a:p>
            <a:pPr indent="0" lvl="0" marL="0" rtl="0" algn="l">
              <a:spcBef>
                <a:spcPts val="0"/>
              </a:spcBef>
              <a:spcAft>
                <a:spcPts val="0"/>
              </a:spcAft>
              <a:buClr>
                <a:schemeClr val="dk1"/>
              </a:buClr>
              <a:buSzPts val="1100"/>
              <a:buFont typeface="Arial"/>
              <a:buNone/>
            </a:pPr>
            <a:r>
              <a:t/>
            </a:r>
            <a:endParaRPr sz="1950">
              <a:solidFill>
                <a:schemeClr val="dk1"/>
              </a:solidFill>
            </a:endParaRPr>
          </a:p>
          <a:p>
            <a:pPr indent="0" lvl="0" marL="0" rtl="0" algn="l">
              <a:spcBef>
                <a:spcPts val="0"/>
              </a:spcBef>
              <a:spcAft>
                <a:spcPts val="0"/>
              </a:spcAft>
              <a:buClr>
                <a:schemeClr val="dk1"/>
              </a:buClr>
              <a:buSzPts val="1100"/>
              <a:buFont typeface="Arial"/>
              <a:buNone/>
            </a:pPr>
            <a:r>
              <a:rPr lang="en-GB" sz="1950">
                <a:solidFill>
                  <a:schemeClr val="dk1"/>
                </a:solidFill>
              </a:rPr>
              <a:t>Valid topologies are simulated through LTSpice. Invalid topologies are augmented to a netlist validation class dataset. </a:t>
            </a:r>
            <a:endParaRPr sz="1950">
              <a:solidFill>
                <a:schemeClr val="dk1"/>
              </a:solidFill>
            </a:endParaRPr>
          </a:p>
          <a:p>
            <a:pPr indent="0" lvl="0" marL="0" rtl="0" algn="l">
              <a:spcBef>
                <a:spcPts val="0"/>
              </a:spcBef>
              <a:spcAft>
                <a:spcPts val="0"/>
              </a:spcAft>
              <a:buClr>
                <a:schemeClr val="dk1"/>
              </a:buClr>
              <a:buSzPts val="1100"/>
              <a:buFont typeface="Arial"/>
              <a:buNone/>
            </a:pPr>
            <a:r>
              <a:t/>
            </a:r>
            <a:endParaRPr sz="1950">
              <a:solidFill>
                <a:schemeClr val="dk1"/>
              </a:solidFill>
            </a:endParaRPr>
          </a:p>
          <a:p>
            <a:pPr indent="0" lvl="0" marL="0" rtl="0" algn="l">
              <a:spcBef>
                <a:spcPts val="0"/>
              </a:spcBef>
              <a:spcAft>
                <a:spcPts val="0"/>
              </a:spcAft>
              <a:buClr>
                <a:schemeClr val="dk1"/>
              </a:buClr>
              <a:buSzPts val="1100"/>
              <a:buFont typeface="Arial"/>
              <a:buNone/>
            </a:pPr>
            <a:r>
              <a:rPr lang="en-GB" sz="1950">
                <a:solidFill>
                  <a:schemeClr val="dk1"/>
                </a:solidFill>
              </a:rPr>
              <a:t>The validation algorithm may not work perfectly, thus the simulation process may fail for false positive cases (invalid classified as valid).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d23deb45a9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g3d23deb45a9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Chris: Reward Function</a:t>
            </a:r>
            <a:endParaRPr/>
          </a:p>
          <a:p>
            <a:pPr indent="0" lvl="0" marL="0" rtl="0" algn="l">
              <a:spcBef>
                <a:spcPts val="0"/>
              </a:spcBef>
              <a:spcAft>
                <a:spcPts val="0"/>
              </a:spcAft>
              <a:buClr>
                <a:schemeClr val="dk1"/>
              </a:buClr>
              <a:buSzPts val="1100"/>
              <a:buFont typeface="Arial"/>
              <a:buNone/>
            </a:pPr>
            <a:r>
              <a:rPr lang="en-GB"/>
              <a:t>This is how we plan to distinguish between good topologies and bad topologies. </a:t>
            </a:r>
            <a:endParaRPr/>
          </a:p>
          <a:p>
            <a:pPr indent="0" lvl="0" marL="0" rtl="0" algn="l">
              <a:spcBef>
                <a:spcPts val="0"/>
              </a:spcBef>
              <a:spcAft>
                <a:spcPts val="0"/>
              </a:spcAft>
              <a:buClr>
                <a:schemeClr val="dk1"/>
              </a:buClr>
              <a:buSzPts val="1100"/>
              <a:buFont typeface="Arial"/>
              <a:buNone/>
            </a:pPr>
            <a:r>
              <a:rPr lang="en-GB"/>
              <a:t>Based on the simulation results we calculate a fitness score based on the Hard constraints, an Area estimate and the </a:t>
            </a:r>
            <a:r>
              <a:rPr lang="en-GB"/>
              <a:t>efficiency. </a:t>
            </a:r>
            <a:endParaRPr/>
          </a:p>
          <a:p>
            <a:pPr indent="0" lvl="0" marL="0" rtl="0" algn="l">
              <a:spcBef>
                <a:spcPts val="0"/>
              </a:spcBef>
              <a:spcAft>
                <a:spcPts val="0"/>
              </a:spcAft>
              <a:buClr>
                <a:schemeClr val="dk1"/>
              </a:buClr>
              <a:buSzPts val="1100"/>
              <a:buFont typeface="Arial"/>
              <a:buNone/>
            </a:pPr>
            <a:r>
              <a:rPr lang="en-GB"/>
              <a:t>This value is then sent to the reinforcement learning part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GB"/>
              <a:t>Zijian: Reinforcement learning Part:</a:t>
            </a:r>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Reinforcement learning serves as the optimization layer in our pipeline.</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We first aggregate reward signals from simulation, including efficiency, and constraints.</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These signals are then used to update the policy, using batched learning for stability and efficiency.</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The updated policy is fed back to guide future topology generation.</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This creates a closed loop that allows the system to continuously improve over time.</a:t>
            </a:r>
            <a:endParaRPr sz="1000">
              <a:solidFill>
                <a:schemeClr val="dk1"/>
              </a:solidFill>
            </a:endParaRPr>
          </a:p>
          <a:p>
            <a:pPr indent="0" lvl="0" marL="0" rtl="0" algn="l">
              <a:spcBef>
                <a:spcPts val="0"/>
              </a:spcBef>
              <a:spcAft>
                <a:spcPts val="0"/>
              </a:spcAft>
              <a:buClr>
                <a:schemeClr val="dk1"/>
              </a:buClr>
              <a:buSzPts val="1100"/>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d23deb45a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6" name="Google Shape;356;g3d23deb45a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sz="1950">
                <a:solidFill>
                  <a:schemeClr val="dk1"/>
                </a:solidFill>
              </a:rPr>
              <a:t>Zijian</a:t>
            </a:r>
            <a:endParaRPr sz="1950">
              <a:solidFill>
                <a:schemeClr val="dk1"/>
              </a:solidFill>
            </a:endParaRPr>
          </a:p>
          <a:p>
            <a:pPr indent="0" lvl="0" marL="0" rtl="0" algn="l">
              <a:spcBef>
                <a:spcPts val="0"/>
              </a:spcBef>
              <a:spcAft>
                <a:spcPts val="0"/>
              </a:spcAft>
              <a:buClr>
                <a:schemeClr val="dk1"/>
              </a:buClr>
              <a:buSzPts val="1100"/>
              <a:buFont typeface="Arial"/>
              <a:buNone/>
            </a:pPr>
            <a:r>
              <a:t/>
            </a:r>
            <a:endParaRPr sz="16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GB" sz="1050">
                <a:solidFill>
                  <a:srgbClr val="0E0E0E"/>
                </a:solidFill>
              </a:rPr>
              <a:t>SFT stands for Supervised Fine-Tuning</a:t>
            </a:r>
            <a:endParaRPr sz="16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50">
                <a:solidFill>
                  <a:schemeClr val="dk1"/>
                </a:solidFill>
              </a:rPr>
              <a:t>All generated netlists, including both valid and invalid ones, are added to a dataset.</a:t>
            </a:r>
            <a:endParaRPr sz="105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50">
                <a:solidFill>
                  <a:schemeClr val="dk1"/>
                </a:solidFill>
              </a:rPr>
              <a:t>Using this dataset, we perform supervised fine-tuning so that the LLM can learn to distinguish between valid and invalid topologies.</a:t>
            </a:r>
            <a:endParaRPr sz="105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50">
                <a:solidFill>
                  <a:schemeClr val="dk1"/>
                </a:solidFill>
              </a:rPr>
              <a:t>This helps the model better understand what a feasible circuit looks like before reinforcement learning.</a:t>
            </a:r>
            <a:endParaRPr sz="1050">
              <a:solidFill>
                <a:schemeClr val="dk1"/>
              </a:solidFill>
            </a:endParaRPr>
          </a:p>
          <a:p>
            <a:pPr indent="0" lvl="0" marL="0" rtl="0" algn="l">
              <a:spcBef>
                <a:spcPts val="0"/>
              </a:spcBef>
              <a:spcAft>
                <a:spcPts val="0"/>
              </a:spcAft>
              <a:buClr>
                <a:schemeClr val="dk1"/>
              </a:buClr>
              <a:buSzPts val="1100"/>
              <a:buFont typeface="Arial"/>
              <a:buNone/>
            </a:pPr>
            <a:r>
              <a:t/>
            </a:r>
            <a:endParaRPr sz="1600">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d23deb45a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d23deb45a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Atakan</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d2104e866b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d2104e866b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Answers so what?</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d2104e866b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8" name="Google Shape;398;g3d2104e866b_0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Yuhao</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d2309ff1ba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d2309ff1ba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GB"/>
              <a:t>Efficiency</a:t>
            </a:r>
            <a:endParaRPr/>
          </a:p>
          <a:p>
            <a:pPr indent="-298450" lvl="0" marL="457200" rtl="0" algn="l">
              <a:spcBef>
                <a:spcPts val="0"/>
              </a:spcBef>
              <a:spcAft>
                <a:spcPts val="0"/>
              </a:spcAft>
              <a:buSzPts val="1100"/>
              <a:buChar char="-"/>
            </a:pPr>
            <a:r>
              <a:rPr lang="en-GB"/>
              <a:t>Cost</a:t>
            </a:r>
            <a:endParaRPr/>
          </a:p>
          <a:p>
            <a:pPr indent="-298450" lvl="0" marL="457200" rtl="0" algn="l">
              <a:spcBef>
                <a:spcPts val="0"/>
              </a:spcBef>
              <a:spcAft>
                <a:spcPts val="0"/>
              </a:spcAft>
              <a:buSzPts val="1100"/>
              <a:buChar char="-"/>
            </a:pPr>
            <a:r>
              <a:rPr lang="en-GB"/>
              <a:t>Density</a:t>
            </a:r>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d2309ff1ba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d2309ff1ba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g3d2309ff1ba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5" name="Google Shape;415;g3d2309ff1ba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d2309ff1ba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d2309ff1ba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d2309ff1ba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3d2309ff1ba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d2309ff1ba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3d2309ff1ba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d2104e866b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3d2104e866b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300"/>
              <a:t>Beginning</a:t>
            </a:r>
            <a:endParaRPr b="1" sz="1300"/>
          </a:p>
          <a:p>
            <a:pPr indent="0" lvl="0" marL="0" rtl="0" algn="l">
              <a:spcBef>
                <a:spcPts val="0"/>
              </a:spcBef>
              <a:spcAft>
                <a:spcPts val="0"/>
              </a:spcAft>
              <a:buNone/>
            </a:pPr>
            <a:r>
              <a:rPr lang="en-GB" sz="1300"/>
              <a:t>Computers have chips, they work like our brain doing all the thinking and decision making</a:t>
            </a:r>
            <a:endParaRPr sz="1300"/>
          </a:p>
          <a:p>
            <a:pPr indent="0" lvl="0" marL="0" rtl="0" algn="l">
              <a:spcBef>
                <a:spcPts val="0"/>
              </a:spcBef>
              <a:spcAft>
                <a:spcPts val="0"/>
              </a:spcAft>
              <a:buNone/>
            </a:pPr>
            <a:r>
              <a:rPr lang="en-GB" sz="1300"/>
              <a:t>Unlike brains, chips can be manufactured and reproduced</a:t>
            </a:r>
            <a:endParaRPr sz="1300"/>
          </a:p>
          <a:p>
            <a:pPr indent="0" lvl="0" marL="0" rtl="0" algn="l">
              <a:spcBef>
                <a:spcPts val="0"/>
              </a:spcBef>
              <a:spcAft>
                <a:spcPts val="0"/>
              </a:spcAft>
              <a:buNone/>
            </a:pPr>
            <a:r>
              <a:rPr lang="en-GB" sz="1300"/>
              <a:t>Once upon a time, a company called ASML, decided to make machines that can build these little tiny </a:t>
            </a:r>
            <a:r>
              <a:rPr lang="en-GB" sz="1300"/>
              <a:t>reproducible</a:t>
            </a:r>
            <a:r>
              <a:rPr lang="en-GB" sz="1300"/>
              <a:t> brains.</a:t>
            </a:r>
            <a:br>
              <a:rPr lang="en-GB" sz="1300"/>
            </a:br>
            <a:r>
              <a:rPr lang="en-GB" sz="1300">
                <a:solidFill>
                  <a:schemeClr val="dk1"/>
                </a:solidFill>
              </a:rPr>
              <a:t>To make these machines reliable, efficient and swift, we need to make sure its circuits are properly set up. You can look at circuits as organs in your body that work together to ensure your body functions properly. Coming up with a structure for these circuits takes too much time. We are interested in one particular organ, which is the heart. In the machine’s analogy, this is what we call power electronic circuits providing power to the rest of the machine. </a:t>
            </a:r>
            <a:endParaRPr sz="1300"/>
          </a:p>
          <a:p>
            <a:pPr indent="0" lvl="0" marL="0" rtl="0" algn="l">
              <a:spcBef>
                <a:spcPts val="0"/>
              </a:spcBef>
              <a:spcAft>
                <a:spcPts val="0"/>
              </a:spcAft>
              <a:buNone/>
            </a:pPr>
            <a:r>
              <a:t/>
            </a:r>
            <a:endParaRPr b="1" sz="1300"/>
          </a:p>
          <a:p>
            <a:pPr indent="0" lvl="0" marL="0" rtl="0" algn="l">
              <a:spcBef>
                <a:spcPts val="0"/>
              </a:spcBef>
              <a:spcAft>
                <a:spcPts val="0"/>
              </a:spcAft>
              <a:buNone/>
            </a:pPr>
            <a:r>
              <a:rPr b="1" lang="en-GB" sz="1300"/>
              <a:t>Middle</a:t>
            </a:r>
            <a:endParaRPr b="1" sz="1300"/>
          </a:p>
          <a:p>
            <a:pPr indent="0" lvl="0" marL="0" rtl="0" algn="l">
              <a:spcBef>
                <a:spcPts val="0"/>
              </a:spcBef>
              <a:spcAft>
                <a:spcPts val="0"/>
              </a:spcAft>
              <a:buNone/>
            </a:pPr>
            <a:r>
              <a:rPr lang="en-GB" sz="1300"/>
              <a:t>But there is a problem, </a:t>
            </a:r>
            <a:r>
              <a:rPr lang="en-GB" sz="1300">
                <a:solidFill>
                  <a:schemeClr val="dk1"/>
                </a:solidFill>
              </a:rPr>
              <a:t>The designing of the power electronics for different systems is difficult and time consuming. This makes the development of new machines slower.</a:t>
            </a:r>
            <a:r>
              <a:rPr lang="en-GB" sz="1300"/>
              <a:t> Bad and slow machines means missed opportunities and rivals may take over. </a:t>
            </a:r>
            <a:endParaRPr sz="1300"/>
          </a:p>
          <a:p>
            <a:pPr indent="0" lvl="0" marL="0" rtl="0" algn="l">
              <a:spcBef>
                <a:spcPts val="0"/>
              </a:spcBef>
              <a:spcAft>
                <a:spcPts val="0"/>
              </a:spcAft>
              <a:buNone/>
            </a:pPr>
            <a:r>
              <a:t/>
            </a:r>
            <a:endParaRPr b="1" sz="1300"/>
          </a:p>
          <a:p>
            <a:pPr indent="0" lvl="0" marL="0" rtl="0" algn="l">
              <a:spcBef>
                <a:spcPts val="0"/>
              </a:spcBef>
              <a:spcAft>
                <a:spcPts val="0"/>
              </a:spcAft>
              <a:buNone/>
            </a:pPr>
            <a:r>
              <a:rPr b="1" lang="en-GB" sz="1300"/>
              <a:t>End</a:t>
            </a:r>
            <a:br>
              <a:rPr lang="en-GB" sz="1300"/>
            </a:br>
            <a:r>
              <a:rPr lang="en-GB" sz="1300"/>
              <a:t>But a solution is in sight! ASML has been interested in integrating AI in their business to solve problems like this one. H</a:t>
            </a:r>
            <a:r>
              <a:rPr lang="en-GB" sz="1300">
                <a:solidFill>
                  <a:schemeClr val="dk1"/>
                </a:solidFill>
              </a:rPr>
              <a:t>ence, we aim to develop an AI-powered model that is able to process what the company specifically needs and provides structures for these hearts. We need good circuits, because they power the world consequently ensuring better chips which would improve mankind. Allowing cancer research, stopping climate change and so on, all these goals will be sped up or even made possible with new better chips.</a:t>
            </a:r>
            <a:endParaRPr sz="1300">
              <a:solidFill>
                <a:schemeClr val="dk1"/>
              </a:solidFill>
            </a:endParaRPr>
          </a:p>
          <a:p>
            <a:pPr indent="0" lvl="0" marL="0" rtl="0" algn="l">
              <a:spcBef>
                <a:spcPts val="0"/>
              </a:spcBef>
              <a:spcAft>
                <a:spcPts val="0"/>
              </a:spcAft>
              <a:buNone/>
            </a:pPr>
            <a:r>
              <a:t/>
            </a:r>
            <a:endParaRPr i="1" sz="1300">
              <a:solidFill>
                <a:schemeClr val="dk1"/>
              </a:solidFill>
            </a:endParaRPr>
          </a:p>
          <a:p>
            <a:pPr indent="0" lvl="0" marL="0" rtl="0" algn="l">
              <a:spcBef>
                <a:spcPts val="0"/>
              </a:spcBef>
              <a:spcAft>
                <a:spcPts val="0"/>
              </a:spcAft>
              <a:buNone/>
            </a:pPr>
            <a:r>
              <a:rPr i="1" lang="en-GB" sz="1300">
                <a:solidFill>
                  <a:schemeClr val="dk1"/>
                </a:solidFill>
              </a:rPr>
              <a:t>Circuits: They power the world, having better chips would improve mankind. Allowing cancer research, stopping climate change, all these goals will be sped up or even made possible with new better chips</a:t>
            </a:r>
            <a:endParaRPr i="1" sz="1300">
              <a:solidFill>
                <a:schemeClr val="dk1"/>
              </a:solidFill>
            </a:endParaRPr>
          </a:p>
          <a:p>
            <a:pPr indent="0" lvl="0" marL="0" rtl="0" algn="l">
              <a:spcBef>
                <a:spcPts val="0"/>
              </a:spcBef>
              <a:spcAft>
                <a:spcPts val="0"/>
              </a:spcAft>
              <a:buNone/>
            </a:pPr>
            <a:r>
              <a:rPr i="1" lang="en-GB" sz="1300">
                <a:solidFill>
                  <a:schemeClr val="dk1"/>
                </a:solidFill>
              </a:rPr>
              <a:t>Why: Power converter designs are time time consuming, causing the design process to take longer. This makes the development of new machines slower. </a:t>
            </a:r>
            <a:endParaRPr i="1" sz="1300">
              <a:solidFill>
                <a:schemeClr val="dk1"/>
              </a:solidFill>
            </a:endParaRPr>
          </a:p>
          <a:p>
            <a:pPr indent="0" lvl="0" marL="0" rtl="0" algn="l">
              <a:spcBef>
                <a:spcPts val="0"/>
              </a:spcBef>
              <a:spcAft>
                <a:spcPts val="0"/>
              </a:spcAft>
              <a:buNone/>
            </a:pPr>
            <a:r>
              <a:rPr i="1" lang="en-GB" sz="1300">
                <a:solidFill>
                  <a:schemeClr val="dk1"/>
                </a:solidFill>
              </a:rPr>
              <a:t>Goal: Create an AI model that could give power converter circuits given some constraints. </a:t>
            </a:r>
            <a:endParaRPr i="1" sz="1300">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g3d23deb45a9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0" name="Google Shape;460;g3d23deb45a9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at the top">
  <p:cSld name="Title slide - Title at the top">
    <p:bg>
      <p:bgPr>
        <a:solidFill>
          <a:srgbClr val="EEE8E8"/>
        </a:solidFill>
      </p:bgPr>
    </p:bg>
    <p:spTree>
      <p:nvGrpSpPr>
        <p:cNvPr id="56" name="Shape 56"/>
        <p:cNvGrpSpPr/>
        <p:nvPr/>
      </p:nvGrpSpPr>
      <p:grpSpPr>
        <a:xfrm>
          <a:off x="0" y="0"/>
          <a:ext cx="0" cy="0"/>
          <a:chOff x="0" y="0"/>
          <a:chExt cx="0" cy="0"/>
        </a:xfrm>
      </p:grpSpPr>
      <p:sp>
        <p:nvSpPr>
          <p:cNvPr id="57" name="Google Shape;57;p14"/>
          <p:cNvSpPr/>
          <p:nvPr/>
        </p:nvSpPr>
        <p:spPr>
          <a:xfrm>
            <a:off x="0" y="75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Calibri"/>
              <a:ea typeface="Calibri"/>
              <a:cs typeface="Calibri"/>
              <a:sym typeface="Calibri"/>
            </a:endParaRPr>
          </a:p>
        </p:txBody>
      </p:sp>
      <p:sp>
        <p:nvSpPr>
          <p:cNvPr id="58" name="Google Shape;58;p14"/>
          <p:cNvSpPr txBox="1"/>
          <p:nvPr>
            <p:ph type="ctrTitle"/>
          </p:nvPr>
        </p:nvSpPr>
        <p:spPr>
          <a:xfrm>
            <a:off x="-1" y="756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4"/>
          <p:cNvSpPr txBox="1"/>
          <p:nvPr>
            <p:ph idx="1" type="subTitle"/>
          </p:nvPr>
        </p:nvSpPr>
        <p:spPr>
          <a:xfrm>
            <a:off x="-1" y="1548000"/>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60" name="Google Shape;60;p14"/>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61" name="Google Shape;61;p14"/>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62" name="Google Shape;62;p14"/>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in the middle">
  <p:cSld name="Title slide - Title in the middle">
    <p:spTree>
      <p:nvGrpSpPr>
        <p:cNvPr id="63" name="Shape 63"/>
        <p:cNvGrpSpPr/>
        <p:nvPr/>
      </p:nvGrpSpPr>
      <p:grpSpPr>
        <a:xfrm>
          <a:off x="0" y="0"/>
          <a:ext cx="0" cy="0"/>
          <a:chOff x="0" y="0"/>
          <a:chExt cx="0" cy="0"/>
        </a:xfrm>
      </p:grpSpPr>
      <p:sp>
        <p:nvSpPr>
          <p:cNvPr id="64" name="Google Shape;64;p15"/>
          <p:cNvSpPr/>
          <p:nvPr/>
        </p:nvSpPr>
        <p:spPr>
          <a:xfrm>
            <a:off x="0" y="183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Calibri"/>
              <a:ea typeface="Calibri"/>
              <a:cs typeface="Calibri"/>
              <a:sym typeface="Calibri"/>
            </a:endParaRPr>
          </a:p>
        </p:txBody>
      </p:sp>
      <p:sp>
        <p:nvSpPr>
          <p:cNvPr id="65" name="Google Shape;65;p15"/>
          <p:cNvSpPr txBox="1"/>
          <p:nvPr>
            <p:ph type="ctrTitle"/>
          </p:nvPr>
        </p:nvSpPr>
        <p:spPr>
          <a:xfrm>
            <a:off x="-1" y="18355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5"/>
          <p:cNvSpPr txBox="1"/>
          <p:nvPr>
            <p:ph idx="1" type="subTitle"/>
          </p:nvPr>
        </p:nvSpPr>
        <p:spPr>
          <a:xfrm>
            <a:off x="-1" y="2628097"/>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67" name="Google Shape;67;p15"/>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68" name="Google Shape;68;p15"/>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69" name="Google Shape;69;p15"/>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at the bottom">
  <p:cSld name="Title slide - Title at the bottom">
    <p:spTree>
      <p:nvGrpSpPr>
        <p:cNvPr id="70" name="Shape 70"/>
        <p:cNvGrpSpPr/>
        <p:nvPr/>
      </p:nvGrpSpPr>
      <p:grpSpPr>
        <a:xfrm>
          <a:off x="0" y="0"/>
          <a:ext cx="0" cy="0"/>
          <a:chOff x="0" y="0"/>
          <a:chExt cx="0" cy="0"/>
        </a:xfrm>
      </p:grpSpPr>
      <p:sp>
        <p:nvSpPr>
          <p:cNvPr id="71" name="Google Shape;71;p16"/>
          <p:cNvSpPr/>
          <p:nvPr/>
        </p:nvSpPr>
        <p:spPr>
          <a:xfrm>
            <a:off x="0" y="291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Calibri"/>
              <a:ea typeface="Calibri"/>
              <a:cs typeface="Calibri"/>
              <a:sym typeface="Calibri"/>
            </a:endParaRPr>
          </a:p>
        </p:txBody>
      </p:sp>
      <p:sp>
        <p:nvSpPr>
          <p:cNvPr id="72" name="Google Shape;72;p16"/>
          <p:cNvSpPr txBox="1"/>
          <p:nvPr>
            <p:ph type="ctrTitle"/>
          </p:nvPr>
        </p:nvSpPr>
        <p:spPr>
          <a:xfrm>
            <a:off x="-1" y="2915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6"/>
          <p:cNvSpPr txBox="1"/>
          <p:nvPr>
            <p:ph idx="1" type="subTitle"/>
          </p:nvPr>
        </p:nvSpPr>
        <p:spPr>
          <a:xfrm>
            <a:off x="-1" y="3708591"/>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74" name="Google Shape;74;p16"/>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75" name="Google Shape;75;p16"/>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6" name="Google Shape;76;p16"/>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slide" type="obj">
  <p:cSld name="OBJECT">
    <p:spTree>
      <p:nvGrpSpPr>
        <p:cNvPr id="77" name="Shape 77"/>
        <p:cNvGrpSpPr/>
        <p:nvPr/>
      </p:nvGrpSpPr>
      <p:grpSpPr>
        <a:xfrm>
          <a:off x="0" y="0"/>
          <a:ext cx="0" cy="0"/>
          <a:chOff x="0" y="0"/>
          <a:chExt cx="0" cy="0"/>
        </a:xfrm>
      </p:grpSpPr>
      <p:sp>
        <p:nvSpPr>
          <p:cNvPr id="78" name="Google Shape;78;p17"/>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7"/>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0" name="Google Shape;80;p17"/>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81" name="Google Shape;81;p17"/>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7"/>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slide - 2 columns">
  <p:cSld name="Text slide - 2 columns">
    <p:spTree>
      <p:nvGrpSpPr>
        <p:cNvPr id="83" name="Shape 83"/>
        <p:cNvGrpSpPr/>
        <p:nvPr/>
      </p:nvGrpSpPr>
      <p:grpSpPr>
        <a:xfrm>
          <a:off x="0" y="0"/>
          <a:ext cx="0" cy="0"/>
          <a:chOff x="0" y="0"/>
          <a:chExt cx="0" cy="0"/>
        </a:xfrm>
      </p:grpSpPr>
      <p:sp>
        <p:nvSpPr>
          <p:cNvPr id="84" name="Google Shape;84;p18"/>
          <p:cNvSpPr txBox="1"/>
          <p:nvPr>
            <p:ph type="title"/>
          </p:nvPr>
        </p:nvSpPr>
        <p:spPr>
          <a:xfrm>
            <a:off x="758825" y="585793"/>
            <a:ext cx="3595688"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18"/>
          <p:cNvSpPr txBox="1"/>
          <p:nvPr>
            <p:ph idx="1" type="body"/>
          </p:nvPr>
        </p:nvSpPr>
        <p:spPr>
          <a:xfrm>
            <a:off x="755650"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6" name="Google Shape;86;p18"/>
          <p:cNvSpPr txBox="1"/>
          <p:nvPr>
            <p:ph idx="2" type="body"/>
          </p:nvPr>
        </p:nvSpPr>
        <p:spPr>
          <a:xfrm>
            <a:off x="4723606" y="1296000"/>
            <a:ext cx="3595688" cy="2933101"/>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7" name="Google Shape;87;p18"/>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88" name="Google Shape;88;p18"/>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8"/>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90" name="Google Shape;90;p18"/>
          <p:cNvSpPr txBox="1"/>
          <p:nvPr>
            <p:ph idx="3" type="body"/>
          </p:nvPr>
        </p:nvSpPr>
        <p:spPr>
          <a:xfrm>
            <a:off x="4714875" y="586800"/>
            <a:ext cx="3604419" cy="73223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b="0" sz="1950">
                <a:solidFill>
                  <a:schemeClr val="dk1"/>
                </a:solidFill>
                <a:latin typeface="Calibri"/>
                <a:ea typeface="Calibri"/>
                <a:cs typeface="Calibri"/>
                <a:sym typeface="Calibri"/>
              </a:defRPr>
            </a:lvl1pPr>
            <a:lvl2pPr indent="-228600" lvl="1" marL="914400" algn="l">
              <a:lnSpc>
                <a:spcPct val="100000"/>
              </a:lnSpc>
              <a:spcBef>
                <a:spcPts val="0"/>
              </a:spcBef>
              <a:spcAft>
                <a:spcPts val="0"/>
              </a:spcAft>
              <a:buClr>
                <a:schemeClr val="dk1"/>
              </a:buClr>
              <a:buSzPts val="1500"/>
              <a:buNone/>
              <a:defRPr b="1" sz="1500"/>
            </a:lvl2pPr>
            <a:lvl3pPr indent="-228600" lvl="2" marL="1371600" algn="l">
              <a:lnSpc>
                <a:spcPct val="100000"/>
              </a:lnSpc>
              <a:spcBef>
                <a:spcPts val="0"/>
              </a:spcBef>
              <a:spcAft>
                <a:spcPts val="0"/>
              </a:spcAft>
              <a:buClr>
                <a:schemeClr val="dk1"/>
              </a:buClr>
              <a:buSzPts val="1350"/>
              <a:buNone/>
              <a:defRPr b="1" sz="1350"/>
            </a:lvl3pPr>
            <a:lvl4pPr indent="-228600" lvl="3" marL="1828800" algn="l">
              <a:lnSpc>
                <a:spcPct val="100000"/>
              </a:lnSpc>
              <a:spcBef>
                <a:spcPts val="0"/>
              </a:spcBef>
              <a:spcAft>
                <a:spcPts val="0"/>
              </a:spcAft>
              <a:buClr>
                <a:schemeClr val="dk1"/>
              </a:buClr>
              <a:buSzPts val="1200"/>
              <a:buNone/>
              <a:defRPr b="1" sz="1200"/>
            </a:lvl4pPr>
            <a:lvl5pPr indent="-228600" lvl="4" marL="2286000" algn="l">
              <a:lnSpc>
                <a:spcPct val="100000"/>
              </a:lnSpc>
              <a:spcBef>
                <a:spcPts val="0"/>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text - 1/2 image">
  <p:cSld name="1/2 text - 1/2 image">
    <p:spTree>
      <p:nvGrpSpPr>
        <p:cNvPr id="91" name="Shape 91"/>
        <p:cNvGrpSpPr/>
        <p:nvPr/>
      </p:nvGrpSpPr>
      <p:grpSpPr>
        <a:xfrm>
          <a:off x="0" y="0"/>
          <a:ext cx="0" cy="0"/>
          <a:chOff x="0" y="0"/>
          <a:chExt cx="0" cy="0"/>
        </a:xfrm>
      </p:grpSpPr>
      <p:sp>
        <p:nvSpPr>
          <p:cNvPr id="92" name="Google Shape;92;p19"/>
          <p:cNvSpPr txBox="1"/>
          <p:nvPr>
            <p:ph type="title"/>
          </p:nvPr>
        </p:nvSpPr>
        <p:spPr>
          <a:xfrm>
            <a:off x="756000" y="586800"/>
            <a:ext cx="360000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9"/>
          <p:cNvSpPr txBox="1"/>
          <p:nvPr>
            <p:ph idx="1" type="body"/>
          </p:nvPr>
        </p:nvSpPr>
        <p:spPr>
          <a:xfrm>
            <a:off x="755650"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94" name="Google Shape;94;p19"/>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95" name="Google Shape;95;p19"/>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19"/>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97" name="Google Shape;97;p19"/>
          <p:cNvSpPr/>
          <p:nvPr>
            <p:ph idx="2" type="pic"/>
          </p:nvPr>
        </p:nvSpPr>
        <p:spPr>
          <a:xfrm>
            <a:off x="4714875" y="0"/>
            <a:ext cx="4429125" cy="4567238"/>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3 text - 1/3 image">
  <p:cSld name="2/3 text - 1/3 image">
    <p:spTree>
      <p:nvGrpSpPr>
        <p:cNvPr id="98" name="Shape 98"/>
        <p:cNvGrpSpPr/>
        <p:nvPr/>
      </p:nvGrpSpPr>
      <p:grpSpPr>
        <a:xfrm>
          <a:off x="0" y="0"/>
          <a:ext cx="0" cy="0"/>
          <a:chOff x="0" y="0"/>
          <a:chExt cx="0" cy="0"/>
        </a:xfrm>
      </p:grpSpPr>
      <p:sp>
        <p:nvSpPr>
          <p:cNvPr id="99" name="Google Shape;99;p20"/>
          <p:cNvSpPr txBox="1"/>
          <p:nvPr>
            <p:ph type="title"/>
          </p:nvPr>
        </p:nvSpPr>
        <p:spPr>
          <a:xfrm>
            <a:off x="756000" y="586800"/>
            <a:ext cx="4910138"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0" name="Google Shape;100;p20"/>
          <p:cNvSpPr txBox="1"/>
          <p:nvPr>
            <p:ph idx="1" type="body"/>
          </p:nvPr>
        </p:nvSpPr>
        <p:spPr>
          <a:xfrm>
            <a:off x="755650" y="1295401"/>
            <a:ext cx="491331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1" name="Google Shape;101;p20"/>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02" name="Google Shape;102;p20"/>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3" name="Google Shape;103;p20"/>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04" name="Google Shape;104;p20"/>
          <p:cNvSpPr/>
          <p:nvPr>
            <p:ph idx="2" type="pic"/>
          </p:nvPr>
        </p:nvSpPr>
        <p:spPr>
          <a:xfrm>
            <a:off x="6046788" y="0"/>
            <a:ext cx="3097212" cy="4567238"/>
          </a:xfrm>
          <a:prstGeom prst="rect">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image - 1/2 text">
  <p:cSld name="1/2 image - 1/2 text">
    <p:spTree>
      <p:nvGrpSpPr>
        <p:cNvPr id="105" name="Shape 105"/>
        <p:cNvGrpSpPr/>
        <p:nvPr/>
      </p:nvGrpSpPr>
      <p:grpSpPr>
        <a:xfrm>
          <a:off x="0" y="0"/>
          <a:ext cx="0" cy="0"/>
          <a:chOff x="0" y="0"/>
          <a:chExt cx="0" cy="0"/>
        </a:xfrm>
      </p:grpSpPr>
      <p:sp>
        <p:nvSpPr>
          <p:cNvPr id="106" name="Google Shape;106;p21"/>
          <p:cNvSpPr txBox="1"/>
          <p:nvPr>
            <p:ph type="title"/>
          </p:nvPr>
        </p:nvSpPr>
        <p:spPr>
          <a:xfrm>
            <a:off x="4723518" y="586800"/>
            <a:ext cx="360000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7" name="Google Shape;107;p21"/>
          <p:cNvSpPr txBox="1"/>
          <p:nvPr>
            <p:ph idx="1" type="body"/>
          </p:nvPr>
        </p:nvSpPr>
        <p:spPr>
          <a:xfrm>
            <a:off x="4720343"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8" name="Google Shape;108;p21"/>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09" name="Google Shape;109;p21"/>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0" name="Google Shape;110;p21"/>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11" name="Google Shape;111;p21"/>
          <p:cNvSpPr/>
          <p:nvPr>
            <p:ph idx="2" type="pic"/>
          </p:nvPr>
        </p:nvSpPr>
        <p:spPr>
          <a:xfrm>
            <a:off x="0" y="0"/>
            <a:ext cx="4354513" cy="4567238"/>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 2/3 text">
  <p:cSld name="1/3 image - 2/3 text">
    <p:spTree>
      <p:nvGrpSpPr>
        <p:cNvPr id="112" name="Shape 112"/>
        <p:cNvGrpSpPr/>
        <p:nvPr/>
      </p:nvGrpSpPr>
      <p:grpSpPr>
        <a:xfrm>
          <a:off x="0" y="0"/>
          <a:ext cx="0" cy="0"/>
          <a:chOff x="0" y="0"/>
          <a:chExt cx="0" cy="0"/>
        </a:xfrm>
      </p:grpSpPr>
      <p:sp>
        <p:nvSpPr>
          <p:cNvPr id="113" name="Google Shape;113;p22"/>
          <p:cNvSpPr txBox="1"/>
          <p:nvPr>
            <p:ph type="title"/>
          </p:nvPr>
        </p:nvSpPr>
        <p:spPr>
          <a:xfrm>
            <a:off x="3494405" y="586800"/>
            <a:ext cx="482092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22"/>
          <p:cNvSpPr txBox="1"/>
          <p:nvPr>
            <p:ph idx="1" type="body"/>
          </p:nvPr>
        </p:nvSpPr>
        <p:spPr>
          <a:xfrm>
            <a:off x="3491230" y="1295401"/>
            <a:ext cx="4824095"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15" name="Google Shape;115;p22"/>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16" name="Google Shape;116;p22"/>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2"/>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18" name="Google Shape;118;p22"/>
          <p:cNvSpPr/>
          <p:nvPr>
            <p:ph idx="2" type="pic"/>
          </p:nvPr>
        </p:nvSpPr>
        <p:spPr>
          <a:xfrm>
            <a:off x="0" y="0"/>
            <a:ext cx="3022600" cy="4567238"/>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 image/movie 16:9">
  <p:cSld name="Headline + image/movie 16:9">
    <p:spTree>
      <p:nvGrpSpPr>
        <p:cNvPr id="119" name="Shape 119"/>
        <p:cNvGrpSpPr/>
        <p:nvPr/>
      </p:nvGrpSpPr>
      <p:grpSpPr>
        <a:xfrm>
          <a:off x="0" y="0"/>
          <a:ext cx="0" cy="0"/>
          <a:chOff x="0" y="0"/>
          <a:chExt cx="0" cy="0"/>
        </a:xfrm>
      </p:grpSpPr>
      <p:sp>
        <p:nvSpPr>
          <p:cNvPr id="120" name="Google Shape;120;p23"/>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3"/>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22" name="Google Shape;122;p23"/>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3"/>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24" name="Google Shape;124;p23"/>
          <p:cNvSpPr txBox="1"/>
          <p:nvPr>
            <p:ph idx="1" type="body"/>
          </p:nvPr>
        </p:nvSpPr>
        <p:spPr>
          <a:xfrm>
            <a:off x="1889125" y="1079501"/>
            <a:ext cx="5292725" cy="2977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25" name="Google Shape;125;p23"/>
          <p:cNvSpPr txBox="1"/>
          <p:nvPr>
            <p:ph idx="2" type="body"/>
          </p:nvPr>
        </p:nvSpPr>
        <p:spPr>
          <a:xfrm>
            <a:off x="1889125" y="4106268"/>
            <a:ext cx="5292725" cy="165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None/>
              <a:defRPr i="1" sz="110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3 images">
  <p:cSld name="Text + 3 images">
    <p:spTree>
      <p:nvGrpSpPr>
        <p:cNvPr id="126" name="Shape 126"/>
        <p:cNvGrpSpPr/>
        <p:nvPr/>
      </p:nvGrpSpPr>
      <p:grpSpPr>
        <a:xfrm>
          <a:off x="0" y="0"/>
          <a:ext cx="0" cy="0"/>
          <a:chOff x="0" y="0"/>
          <a:chExt cx="0" cy="0"/>
        </a:xfrm>
      </p:grpSpPr>
      <p:sp>
        <p:nvSpPr>
          <p:cNvPr id="127" name="Google Shape;127;p24"/>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 name="Google Shape;128;p24"/>
          <p:cNvSpPr txBox="1"/>
          <p:nvPr>
            <p:ph idx="1" type="body"/>
          </p:nvPr>
        </p:nvSpPr>
        <p:spPr>
          <a:xfrm>
            <a:off x="758824" y="1306642"/>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29" name="Google Shape;129;p24"/>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30" name="Google Shape;130;p24"/>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1" name="Google Shape;131;p24"/>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32" name="Google Shape;132;p24"/>
          <p:cNvSpPr txBox="1"/>
          <p:nvPr>
            <p:ph idx="2" type="body"/>
          </p:nvPr>
        </p:nvSpPr>
        <p:spPr>
          <a:xfrm>
            <a:off x="3490913" y="1302661"/>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33" name="Google Shape;133;p24"/>
          <p:cNvSpPr txBox="1"/>
          <p:nvPr>
            <p:ph idx="3" type="body"/>
          </p:nvPr>
        </p:nvSpPr>
        <p:spPr>
          <a:xfrm>
            <a:off x="6235414" y="1302661"/>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34" name="Google Shape;134;p24"/>
          <p:cNvSpPr/>
          <p:nvPr>
            <p:ph idx="4" type="pic"/>
          </p:nvPr>
        </p:nvSpPr>
        <p:spPr>
          <a:xfrm>
            <a:off x="755650" y="1943101"/>
            <a:ext cx="2087563" cy="2625298"/>
          </a:xfrm>
          <a:prstGeom prst="rect">
            <a:avLst/>
          </a:prstGeom>
          <a:noFill/>
          <a:ln>
            <a:noFill/>
          </a:ln>
        </p:spPr>
      </p:sp>
      <p:sp>
        <p:nvSpPr>
          <p:cNvPr id="135" name="Google Shape;135;p24"/>
          <p:cNvSpPr/>
          <p:nvPr>
            <p:ph idx="5" type="pic"/>
          </p:nvPr>
        </p:nvSpPr>
        <p:spPr>
          <a:xfrm>
            <a:off x="3487739" y="1943101"/>
            <a:ext cx="2087563" cy="2625298"/>
          </a:xfrm>
          <a:prstGeom prst="rect">
            <a:avLst/>
          </a:prstGeom>
          <a:noFill/>
          <a:ln>
            <a:noFill/>
          </a:ln>
        </p:spPr>
      </p:sp>
      <p:sp>
        <p:nvSpPr>
          <p:cNvPr id="136" name="Google Shape;136;p24"/>
          <p:cNvSpPr/>
          <p:nvPr>
            <p:ph idx="6" type="pic"/>
          </p:nvPr>
        </p:nvSpPr>
        <p:spPr>
          <a:xfrm>
            <a:off x="6235414" y="1943101"/>
            <a:ext cx="2087563" cy="2625298"/>
          </a:xfrm>
          <a:prstGeom prst="rect">
            <a:avLst/>
          </a:prstGeom>
          <a:noFill/>
          <a:ln>
            <a:noFill/>
          </a:ln>
        </p:spPr>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ing + full screen dark image">
  <p:cSld name="Heading + full screen dark image">
    <p:bg>
      <p:bgPr>
        <a:solidFill>
          <a:srgbClr val="A5A5A5"/>
        </a:solidFill>
      </p:bgPr>
    </p:bg>
    <p:spTree>
      <p:nvGrpSpPr>
        <p:cNvPr id="137" name="Shape 137"/>
        <p:cNvGrpSpPr/>
        <p:nvPr/>
      </p:nvGrpSpPr>
      <p:grpSpPr>
        <a:xfrm>
          <a:off x="0" y="0"/>
          <a:ext cx="0" cy="0"/>
          <a:chOff x="0" y="0"/>
          <a:chExt cx="0" cy="0"/>
        </a:xfrm>
      </p:grpSpPr>
      <p:sp>
        <p:nvSpPr>
          <p:cNvPr id="138" name="Google Shape;138;p25"/>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2700"/>
              <a:buFont typeface="Calibri"/>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9" name="Google Shape;139;p25"/>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40" name="Google Shape;140;p25"/>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25"/>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ing + full screen light image">
  <p:cSld name="Heading + full screen light image">
    <p:bg>
      <p:bgPr>
        <a:solidFill>
          <a:srgbClr val="F2F2F2"/>
        </a:solidFill>
      </p:bgPr>
    </p:bg>
    <p:spTree>
      <p:nvGrpSpPr>
        <p:cNvPr id="142" name="Shape 142"/>
        <p:cNvGrpSpPr/>
        <p:nvPr/>
      </p:nvGrpSpPr>
      <p:grpSpPr>
        <a:xfrm>
          <a:off x="0" y="0"/>
          <a:ext cx="0" cy="0"/>
          <a:chOff x="0" y="0"/>
          <a:chExt cx="0" cy="0"/>
        </a:xfrm>
      </p:grpSpPr>
      <p:sp>
        <p:nvSpPr>
          <p:cNvPr id="143" name="Google Shape;143;p26"/>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2700"/>
              <a:buFont typeface="Calibri"/>
              <a:buNone/>
              <a:defRPr>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4" name="Google Shape;144;p26"/>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45" name="Google Shape;145;p26"/>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6" name="Google Shape;146;p26"/>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background">
  <p:cSld name="White background">
    <p:bg>
      <p:bgPr>
        <a:solidFill>
          <a:schemeClr val="lt1"/>
        </a:solidFill>
      </p:bgPr>
    </p:bg>
    <p:spTree>
      <p:nvGrpSpPr>
        <p:cNvPr id="147" name="Shape 147"/>
        <p:cNvGrpSpPr/>
        <p:nvPr/>
      </p:nvGrpSpPr>
      <p:grpSpPr>
        <a:xfrm>
          <a:off x="0" y="0"/>
          <a:ext cx="0" cy="0"/>
          <a:chOff x="0" y="0"/>
          <a:chExt cx="0" cy="0"/>
        </a:xfrm>
      </p:grpSpPr>
      <p:sp>
        <p:nvSpPr>
          <p:cNvPr id="148" name="Google Shape;148;p27"/>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2700"/>
              <a:buFont typeface="Calibri"/>
              <a:buNone/>
              <a:defRPr>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9" name="Google Shape;149;p27"/>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50" name="Google Shape;150;p27"/>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1" name="Google Shape;151;p27"/>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152" name="Google Shape;152;p27"/>
          <p:cNvCxnSpPr/>
          <p:nvPr/>
        </p:nvCxnSpPr>
        <p:spPr>
          <a:xfrm>
            <a:off x="0" y="4563782"/>
            <a:ext cx="9144000" cy="0"/>
          </a:xfrm>
          <a:prstGeom prst="straightConnector1">
            <a:avLst/>
          </a:prstGeom>
          <a:noFill/>
          <a:ln cap="flat" cmpd="sng" w="9525">
            <a:solidFill>
              <a:schemeClr val="dk1"/>
            </a:solidFill>
            <a:prstDash val="solid"/>
            <a:miter lim="800000"/>
            <a:headEnd len="sm" w="sm" type="none"/>
            <a:tailEnd len="sm" w="sm" type="none"/>
          </a:ln>
        </p:spPr>
      </p:cxnSp>
      <p:sp>
        <p:nvSpPr>
          <p:cNvPr id="153" name="Google Shape;153;p27"/>
          <p:cNvSpPr/>
          <p:nvPr>
            <p:ph idx="2" type="pic"/>
          </p:nvPr>
        </p:nvSpPr>
        <p:spPr>
          <a:xfrm>
            <a:off x="1890000" y="1299075"/>
            <a:ext cx="5292725" cy="2977200"/>
          </a:xfrm>
          <a:prstGeom prst="rect">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carlet background">
  <p:cSld name="Scarlet background">
    <p:bg>
      <p:bgPr>
        <a:solidFill>
          <a:schemeClr val="dk2"/>
        </a:solidFill>
      </p:bgPr>
    </p:bg>
    <p:spTree>
      <p:nvGrpSpPr>
        <p:cNvPr id="154" name="Shape 154"/>
        <p:cNvGrpSpPr/>
        <p:nvPr/>
      </p:nvGrpSpPr>
      <p:grpSpPr>
        <a:xfrm>
          <a:off x="0" y="0"/>
          <a:ext cx="0" cy="0"/>
          <a:chOff x="0" y="0"/>
          <a:chExt cx="0" cy="0"/>
        </a:xfrm>
      </p:grpSpPr>
      <p:sp>
        <p:nvSpPr>
          <p:cNvPr id="155" name="Google Shape;155;p28"/>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2700"/>
              <a:buFont typeface="Calibri"/>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6" name="Google Shape;156;p28"/>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lt1"/>
              </a:buClr>
              <a:buSzPts val="1950"/>
              <a:buNone/>
              <a:defRPr>
                <a:solidFill>
                  <a:schemeClr val="lt1"/>
                </a:solidFill>
              </a:defRPr>
            </a:lvl1pPr>
            <a:lvl2pPr indent="-228600" lvl="1" marL="914400" algn="l">
              <a:lnSpc>
                <a:spcPct val="100000"/>
              </a:lnSpc>
              <a:spcBef>
                <a:spcPts val="0"/>
              </a:spcBef>
              <a:spcAft>
                <a:spcPts val="0"/>
              </a:spcAft>
              <a:buClr>
                <a:schemeClr val="lt1"/>
              </a:buClr>
              <a:buSzPts val="1650"/>
              <a:buNone/>
              <a:defRPr>
                <a:solidFill>
                  <a:schemeClr val="lt1"/>
                </a:solidFill>
              </a:defRPr>
            </a:lvl2pPr>
            <a:lvl3pPr indent="-333375" lvl="2" marL="1371600" algn="l">
              <a:lnSpc>
                <a:spcPct val="100000"/>
              </a:lnSpc>
              <a:spcBef>
                <a:spcPts val="0"/>
              </a:spcBef>
              <a:spcAft>
                <a:spcPts val="0"/>
              </a:spcAft>
              <a:buClr>
                <a:schemeClr val="lt1"/>
              </a:buClr>
              <a:buSzPts val="1650"/>
              <a:buChar char="•"/>
              <a:defRPr>
                <a:solidFill>
                  <a:schemeClr val="lt1"/>
                </a:solidFill>
              </a:defRPr>
            </a:lvl3pPr>
            <a:lvl4pPr indent="-333375" lvl="3" marL="1828800" algn="l">
              <a:lnSpc>
                <a:spcPct val="100000"/>
              </a:lnSpc>
              <a:spcBef>
                <a:spcPts val="0"/>
              </a:spcBef>
              <a:spcAft>
                <a:spcPts val="0"/>
              </a:spcAft>
              <a:buClr>
                <a:schemeClr val="lt1"/>
              </a:buClr>
              <a:buSzPts val="1650"/>
              <a:buChar char="•"/>
              <a:defRPr>
                <a:solidFill>
                  <a:schemeClr val="lt1"/>
                </a:solidFill>
              </a:defRPr>
            </a:lvl4pPr>
            <a:lvl5pPr indent="-333375" lvl="4" marL="2286000" algn="l">
              <a:lnSpc>
                <a:spcPct val="100000"/>
              </a:lnSpc>
              <a:spcBef>
                <a:spcPts val="0"/>
              </a:spcBef>
              <a:spcAft>
                <a:spcPts val="0"/>
              </a:spcAft>
              <a:buClr>
                <a:schemeClr val="lt1"/>
              </a:buClr>
              <a:buSzPts val="1650"/>
              <a:buChar char="•"/>
              <a:defRPr>
                <a:solidFill>
                  <a:schemeClr val="lt1"/>
                </a:solidFill>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57" name="Google Shape;157;p28"/>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58" name="Google Shape;158;p28"/>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9" name="Google Shape;159;p28"/>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 text">
  <p:cSld name="Table + text">
    <p:spTree>
      <p:nvGrpSpPr>
        <p:cNvPr id="160" name="Shape 160"/>
        <p:cNvGrpSpPr/>
        <p:nvPr/>
      </p:nvGrpSpPr>
      <p:grpSpPr>
        <a:xfrm>
          <a:off x="0" y="0"/>
          <a:ext cx="0" cy="0"/>
          <a:chOff x="0" y="0"/>
          <a:chExt cx="0" cy="0"/>
        </a:xfrm>
      </p:grpSpPr>
      <p:sp>
        <p:nvSpPr>
          <p:cNvPr id="161" name="Google Shape;161;p29"/>
          <p:cNvSpPr txBox="1"/>
          <p:nvPr>
            <p:ph type="title"/>
          </p:nvPr>
        </p:nvSpPr>
        <p:spPr>
          <a:xfrm>
            <a:off x="755650" y="586800"/>
            <a:ext cx="7563556" cy="516339"/>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2" name="Google Shape;162;p29"/>
          <p:cNvSpPr txBox="1"/>
          <p:nvPr>
            <p:ph idx="1" type="body"/>
          </p:nvPr>
        </p:nvSpPr>
        <p:spPr>
          <a:xfrm>
            <a:off x="755651" y="2638425"/>
            <a:ext cx="7563556" cy="15906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63" name="Google Shape;163;p29"/>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64" name="Google Shape;164;p29"/>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5" name="Google Shape;165;p29"/>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rt">
  <p:cSld name="Chart">
    <p:spTree>
      <p:nvGrpSpPr>
        <p:cNvPr id="166" name="Shape 166"/>
        <p:cNvGrpSpPr/>
        <p:nvPr/>
      </p:nvGrpSpPr>
      <p:grpSpPr>
        <a:xfrm>
          <a:off x="0" y="0"/>
          <a:ext cx="0" cy="0"/>
          <a:chOff x="0" y="0"/>
          <a:chExt cx="0" cy="0"/>
        </a:xfrm>
      </p:grpSpPr>
      <p:sp>
        <p:nvSpPr>
          <p:cNvPr id="167" name="Google Shape;167;p30"/>
          <p:cNvSpPr txBox="1"/>
          <p:nvPr>
            <p:ph type="title"/>
          </p:nvPr>
        </p:nvSpPr>
        <p:spPr>
          <a:xfrm>
            <a:off x="755650" y="586800"/>
            <a:ext cx="7563556" cy="516339"/>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8" name="Google Shape;168;p30"/>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69" name="Google Shape;169;p30"/>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0" name="Google Shape;170;p30"/>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71" name="Google Shape;171;p30"/>
          <p:cNvSpPr/>
          <p:nvPr>
            <p:ph idx="2" type="chart"/>
          </p:nvPr>
        </p:nvSpPr>
        <p:spPr>
          <a:xfrm>
            <a:off x="755650" y="1079500"/>
            <a:ext cx="7559675" cy="314960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dk1"/>
              </a:buClr>
              <a:buSzPts val="1950"/>
              <a:buFont typeface="Arial"/>
              <a:buNone/>
              <a:defRPr b="0" i="0" sz="19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650"/>
              <a:buFont typeface="Arial"/>
              <a:buNone/>
              <a:defRPr b="0" i="0" sz="16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5pPr>
            <a:lvl6pPr lvl="5"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lvl="6"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lvl="7"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lvl="8"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1.xml"/><Relationship Id="rId10" Type="http://schemas.openxmlformats.org/officeDocument/2006/relationships/slideLayout" Target="../slideLayouts/slideLayout20.xml"/><Relationship Id="rId13" Type="http://schemas.openxmlformats.org/officeDocument/2006/relationships/slideLayout" Target="../slideLayouts/slideLayout23.xml"/><Relationship Id="rId12" Type="http://schemas.openxmlformats.org/officeDocument/2006/relationships/slideLayout" Target="../slideLayouts/slideLayout22.xml"/><Relationship Id="rId1" Type="http://schemas.openxmlformats.org/officeDocument/2006/relationships/image" Target="../media/image2.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5" Type="http://schemas.openxmlformats.org/officeDocument/2006/relationships/slideLayout" Target="../slideLayouts/slideLayout25.xml"/><Relationship Id="rId14" Type="http://schemas.openxmlformats.org/officeDocument/2006/relationships/slideLayout" Target="../slideLayouts/slideLayout24.xml"/><Relationship Id="rId17" Type="http://schemas.openxmlformats.org/officeDocument/2006/relationships/slideLayout" Target="../slideLayouts/slideLayout27.xml"/><Relationship Id="rId16" Type="http://schemas.openxmlformats.org/officeDocument/2006/relationships/slideLayout" Target="../slideLayouts/slideLayout26.xml"/><Relationship Id="rId5" Type="http://schemas.openxmlformats.org/officeDocument/2006/relationships/slideLayout" Target="../slideLayouts/slideLayout15.xml"/><Relationship Id="rId19" Type="http://schemas.openxmlformats.org/officeDocument/2006/relationships/theme" Target="../theme/theme3.xml"/><Relationship Id="rId6" Type="http://schemas.openxmlformats.org/officeDocument/2006/relationships/slideLayout" Target="../slideLayouts/slideLayout16.xml"/><Relationship Id="rId18" Type="http://schemas.openxmlformats.org/officeDocument/2006/relationships/slideLayout" Target="../slideLayouts/slideLayout28.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E8E8"/>
        </a:solidFill>
      </p:bgPr>
    </p:bg>
    <p:spTree>
      <p:nvGrpSpPr>
        <p:cNvPr id="50" name="Shape 50"/>
        <p:cNvGrpSpPr/>
        <p:nvPr/>
      </p:nvGrpSpPr>
      <p:grpSpPr>
        <a:xfrm>
          <a:off x="0" y="0"/>
          <a:ext cx="0" cy="0"/>
          <a:chOff x="0" y="0"/>
          <a:chExt cx="0" cy="0"/>
        </a:xfrm>
      </p:grpSpPr>
      <p:sp>
        <p:nvSpPr>
          <p:cNvPr id="51" name="Google Shape;51;p13"/>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rtl="0" algn="l">
              <a:spcBef>
                <a:spcPts val="0"/>
              </a:spcBef>
              <a:buNone/>
              <a:defRPr b="0" i="0" sz="1100" u="none" cap="none" strike="noStrike">
                <a:solidFill>
                  <a:schemeClr val="dk1"/>
                </a:solidFill>
                <a:latin typeface="Calibri"/>
                <a:ea typeface="Calibri"/>
                <a:cs typeface="Calibri"/>
                <a:sym typeface="Calibri"/>
              </a:defRPr>
            </a:lvl1pPr>
            <a:lvl2pPr indent="0" lvl="1" marL="0" marR="0" rtl="0" algn="l">
              <a:spcBef>
                <a:spcPts val="0"/>
              </a:spcBef>
              <a:buNone/>
              <a:defRPr b="0" i="0" sz="1100" u="none" cap="none" strike="noStrike">
                <a:solidFill>
                  <a:schemeClr val="dk1"/>
                </a:solidFill>
                <a:latin typeface="Calibri"/>
                <a:ea typeface="Calibri"/>
                <a:cs typeface="Calibri"/>
                <a:sym typeface="Calibri"/>
              </a:defRPr>
            </a:lvl2pPr>
            <a:lvl3pPr indent="0" lvl="2" marL="0" marR="0" rtl="0" algn="l">
              <a:spcBef>
                <a:spcPts val="0"/>
              </a:spcBef>
              <a:buNone/>
              <a:defRPr b="0" i="0" sz="1100" u="none" cap="none" strike="noStrike">
                <a:solidFill>
                  <a:schemeClr val="dk1"/>
                </a:solidFill>
                <a:latin typeface="Calibri"/>
                <a:ea typeface="Calibri"/>
                <a:cs typeface="Calibri"/>
                <a:sym typeface="Calibri"/>
              </a:defRPr>
            </a:lvl3pPr>
            <a:lvl4pPr indent="0" lvl="3" marL="0" marR="0" rtl="0" algn="l">
              <a:spcBef>
                <a:spcPts val="0"/>
              </a:spcBef>
              <a:buNone/>
              <a:defRPr b="0" i="0" sz="1100" u="none" cap="none" strike="noStrike">
                <a:solidFill>
                  <a:schemeClr val="dk1"/>
                </a:solidFill>
                <a:latin typeface="Calibri"/>
                <a:ea typeface="Calibri"/>
                <a:cs typeface="Calibri"/>
                <a:sym typeface="Calibri"/>
              </a:defRPr>
            </a:lvl4pPr>
            <a:lvl5pPr indent="0" lvl="4" marL="0" marR="0" rtl="0" algn="l">
              <a:spcBef>
                <a:spcPts val="0"/>
              </a:spcBef>
              <a:buNone/>
              <a:defRPr b="0" i="0" sz="1100" u="none" cap="none" strike="noStrike">
                <a:solidFill>
                  <a:schemeClr val="dk1"/>
                </a:solidFill>
                <a:latin typeface="Calibri"/>
                <a:ea typeface="Calibri"/>
                <a:cs typeface="Calibri"/>
                <a:sym typeface="Calibri"/>
              </a:defRPr>
            </a:lvl5pPr>
            <a:lvl6pPr indent="0" lvl="5" marL="0" marR="0" rtl="0" algn="l">
              <a:spcBef>
                <a:spcPts val="0"/>
              </a:spcBef>
              <a:buNone/>
              <a:defRPr b="0" i="0" sz="1100" u="none" cap="none" strike="noStrike">
                <a:solidFill>
                  <a:schemeClr val="dk1"/>
                </a:solidFill>
                <a:latin typeface="Calibri"/>
                <a:ea typeface="Calibri"/>
                <a:cs typeface="Calibri"/>
                <a:sym typeface="Calibri"/>
              </a:defRPr>
            </a:lvl6pPr>
            <a:lvl7pPr indent="0" lvl="6" marL="0" marR="0" rtl="0" algn="l">
              <a:spcBef>
                <a:spcPts val="0"/>
              </a:spcBef>
              <a:buNone/>
              <a:defRPr b="0" i="0" sz="1100" u="none" cap="none" strike="noStrike">
                <a:solidFill>
                  <a:schemeClr val="dk1"/>
                </a:solidFill>
                <a:latin typeface="Calibri"/>
                <a:ea typeface="Calibri"/>
                <a:cs typeface="Calibri"/>
                <a:sym typeface="Calibri"/>
              </a:defRPr>
            </a:lvl7pPr>
            <a:lvl8pPr indent="0" lvl="7" marL="0" marR="0" rtl="0" algn="l">
              <a:spcBef>
                <a:spcPts val="0"/>
              </a:spcBef>
              <a:buNone/>
              <a:defRPr b="0" i="0" sz="1100" u="none" cap="none" strike="noStrike">
                <a:solidFill>
                  <a:schemeClr val="dk1"/>
                </a:solidFill>
                <a:latin typeface="Calibri"/>
                <a:ea typeface="Calibri"/>
                <a:cs typeface="Calibri"/>
                <a:sym typeface="Calibri"/>
              </a:defRPr>
            </a:lvl8pPr>
            <a:lvl9pPr indent="0" lvl="8" marL="0" marR="0" rtl="0" algn="l">
              <a:spcBef>
                <a:spcPts val="0"/>
              </a:spcBef>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52" name="Google Shape;52;p13"/>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dk1"/>
              </a:buClr>
              <a:buSzPts val="2700"/>
              <a:buFont typeface="Calibri"/>
              <a:buNone/>
              <a:defRPr b="1" i="0" sz="27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950"/>
              <a:buFont typeface="Arial"/>
              <a:buNone/>
              <a:defRPr b="0" i="0" sz="195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chemeClr val="dk1"/>
              </a:buClr>
              <a:buSzPts val="1650"/>
              <a:buFont typeface="Arial"/>
              <a:buNone/>
              <a:defRPr b="0" i="0" sz="1650" u="none" cap="none" strike="noStrike">
                <a:solidFill>
                  <a:schemeClr val="dk1"/>
                </a:solidFill>
                <a:latin typeface="Calibri"/>
                <a:ea typeface="Calibri"/>
                <a:cs typeface="Calibri"/>
                <a:sym typeface="Calibri"/>
              </a:defRPr>
            </a:lvl2pPr>
            <a:lvl3pPr indent="-333375" lvl="2" marL="13716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3pPr>
            <a:lvl4pPr indent="-333375" lvl="3" marL="18288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4pPr>
            <a:lvl5pPr indent="-333375" lvl="4" marL="22860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marR="0" rtl="0" algn="l">
              <a:spcBef>
                <a:spcPts val="0"/>
              </a:spcBef>
              <a:spcAft>
                <a:spcPts val="0"/>
              </a:spcAft>
              <a:buSzPts val="1400"/>
              <a:buNone/>
              <a:defRPr b="0" i="0" sz="11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pic>
        <p:nvPicPr>
          <p:cNvPr id="55" name="Google Shape;55;p13"/>
          <p:cNvPicPr preferRelativeResize="0"/>
          <p:nvPr/>
        </p:nvPicPr>
        <p:blipFill rotWithShape="1">
          <a:blip r:embed="rId1">
            <a:alphaModFix/>
          </a:blip>
          <a:srcRect b="0" l="0" r="0" t="0"/>
          <a:stretch/>
        </p:blipFill>
        <p:spPr>
          <a:xfrm>
            <a:off x="8156575" y="4568825"/>
            <a:ext cx="987425" cy="5746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 id="2147483674" r:id="rId17"/>
    <p:sldLayoutId id="2147483675" r:id="rId1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9.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4.jpg"/><Relationship Id="rId5" Type="http://schemas.openxmlformats.org/officeDocument/2006/relationships/image" Target="../media/image7.png"/><Relationship Id="rId6" Type="http://schemas.openxmlformats.org/officeDocument/2006/relationships/image" Target="../media/image10.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hyperlink" Target="https://ieeexplore.ieee.org/stamp/stamp.jsp?tp=&amp;arnumber=11153923" TargetMode="External"/><Relationship Id="rId4" Type="http://schemas.openxmlformats.org/officeDocument/2006/relationships/hyperlink" Target="https://ieeexplore.ieee.org/stamp/stamp.jsp?tp=&amp;arnumber=9576505" TargetMode="External"/><Relationship Id="rId9" Type="http://schemas.openxmlformats.org/officeDocument/2006/relationships/hyperlink" Target="https://webthesis.biblio.polito.it/28628/1/tesi.pdf" TargetMode="External"/><Relationship Id="rId5" Type="http://schemas.openxmlformats.org/officeDocument/2006/relationships/hyperlink" Target="https://shunzh.github.io/pdfs/fan-iccad-2021.pdf" TargetMode="External"/><Relationship Id="rId6" Type="http://schemas.openxmlformats.org/officeDocument/2006/relationships/hyperlink" Target="https://www.sciencedirect.com/science/article/pii/S136403212501264X" TargetMode="External"/><Relationship Id="rId7" Type="http://schemas.openxmlformats.org/officeDocument/2006/relationships/hyperlink" Target="https://researchwith.njit.edu/en/publications/from-specification-to-topology-automatic-power-converter-design-v/" TargetMode="External"/><Relationship Id="rId8" Type="http://schemas.openxmlformats.org/officeDocument/2006/relationships/hyperlink" Target="https://www.sciencedirect.com/science/article/pii/S0045790625001910"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4.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6" name="Shape 176"/>
        <p:cNvGrpSpPr/>
        <p:nvPr/>
      </p:nvGrpSpPr>
      <p:grpSpPr>
        <a:xfrm>
          <a:off x="0" y="0"/>
          <a:ext cx="0" cy="0"/>
          <a:chOff x="0" y="0"/>
          <a:chExt cx="0" cy="0"/>
        </a:xfrm>
      </p:grpSpPr>
      <p:sp>
        <p:nvSpPr>
          <p:cNvPr id="177" name="Google Shape;177;p31"/>
          <p:cNvSpPr txBox="1"/>
          <p:nvPr>
            <p:ph type="ctrTitle"/>
          </p:nvPr>
        </p:nvSpPr>
        <p:spPr>
          <a:xfrm>
            <a:off x="-1" y="756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p>
            <a:pPr indent="0" lvl="0" marL="0" rtl="0" algn="l">
              <a:lnSpc>
                <a:spcPct val="104545"/>
              </a:lnSpc>
              <a:spcBef>
                <a:spcPts val="0"/>
              </a:spcBef>
              <a:spcAft>
                <a:spcPts val="0"/>
              </a:spcAft>
              <a:buClr>
                <a:schemeClr val="lt1"/>
              </a:buClr>
              <a:buSzPts val="2200"/>
              <a:buFont typeface="Calibri"/>
              <a:buNone/>
            </a:pPr>
            <a:r>
              <a:rPr lang="en-GB"/>
              <a:t>AI-driven power electronics design for next-gen lithography</a:t>
            </a:r>
            <a:endParaRPr/>
          </a:p>
        </p:txBody>
      </p:sp>
      <p:sp>
        <p:nvSpPr>
          <p:cNvPr id="178" name="Google Shape;178;p31"/>
          <p:cNvSpPr txBox="1"/>
          <p:nvPr>
            <p:ph idx="1" type="subTitle"/>
          </p:nvPr>
        </p:nvSpPr>
        <p:spPr>
          <a:xfrm>
            <a:off x="-1" y="1548000"/>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p>
            <a:pPr indent="0" lvl="0" marL="0" rtl="0" algn="l">
              <a:lnSpc>
                <a:spcPct val="100000"/>
              </a:lnSpc>
              <a:spcBef>
                <a:spcPts val="0"/>
              </a:spcBef>
              <a:spcAft>
                <a:spcPts val="0"/>
              </a:spcAft>
              <a:buClr>
                <a:schemeClr val="lt1"/>
              </a:buClr>
              <a:buSzPts val="1000"/>
              <a:buNone/>
            </a:pPr>
            <a:r>
              <a:rPr lang="en-GB"/>
              <a:t>March 31st, 2026</a:t>
            </a:r>
            <a:endParaRPr/>
          </a:p>
        </p:txBody>
      </p:sp>
      <p:sp>
        <p:nvSpPr>
          <p:cNvPr id="179" name="Google Shape;179;p31"/>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p>
            <a:pPr indent="0" lvl="0" marL="0" rtl="0" algn="l">
              <a:lnSpc>
                <a:spcPct val="100000"/>
              </a:lnSpc>
              <a:spcBef>
                <a:spcPts val="0"/>
              </a:spcBef>
              <a:spcAft>
                <a:spcPts val="0"/>
              </a:spcAft>
              <a:buClr>
                <a:schemeClr val="lt1"/>
              </a:buClr>
              <a:buSzPts val="1100"/>
              <a:buNone/>
            </a:pPr>
            <a:r>
              <a:rPr lang="en-GB"/>
              <a:t>5ARIP10 Team Internship</a:t>
            </a:r>
            <a:endParaRPr/>
          </a:p>
        </p:txBody>
      </p:sp>
      <p:sp>
        <p:nvSpPr>
          <p:cNvPr id="180" name="Google Shape;180;p31"/>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p>
            <a:pPr indent="0" lvl="0" marL="0" rtl="0" algn="l">
              <a:lnSpc>
                <a:spcPct val="100000"/>
              </a:lnSpc>
              <a:spcBef>
                <a:spcPts val="0"/>
              </a:spcBef>
              <a:spcAft>
                <a:spcPts val="0"/>
              </a:spcAft>
              <a:buClr>
                <a:schemeClr val="dk1"/>
              </a:buClr>
              <a:buSzPts val="1100"/>
              <a:buNone/>
            </a:pPr>
            <a:r>
              <a:rPr lang="en-GB"/>
              <a:t>EE department, Power electronics group</a:t>
            </a:r>
            <a:endParaRPr/>
          </a:p>
        </p:txBody>
      </p:sp>
      <p:pic>
        <p:nvPicPr>
          <p:cNvPr id="181" name="Google Shape;181;p31"/>
          <p:cNvPicPr preferRelativeResize="0"/>
          <p:nvPr/>
        </p:nvPicPr>
        <p:blipFill>
          <a:blip r:embed="rId4">
            <a:alphaModFix/>
          </a:blip>
          <a:stretch>
            <a:fillRect/>
          </a:stretch>
        </p:blipFill>
        <p:spPr>
          <a:xfrm>
            <a:off x="5560250" y="4605000"/>
            <a:ext cx="1780349" cy="5007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5" name="Shape 185"/>
        <p:cNvGrpSpPr/>
        <p:nvPr/>
      </p:nvGrpSpPr>
      <p:grpSpPr>
        <a:xfrm>
          <a:off x="0" y="0"/>
          <a:ext cx="0" cy="0"/>
          <a:chOff x="0" y="0"/>
          <a:chExt cx="0" cy="0"/>
        </a:xfrm>
      </p:grpSpPr>
      <p:sp>
        <p:nvSpPr>
          <p:cNvPr id="186" name="Google Shape;186;p32"/>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What will be covered in this meeting?</a:t>
            </a:r>
            <a:endParaRPr/>
          </a:p>
        </p:txBody>
      </p:sp>
      <p:sp>
        <p:nvSpPr>
          <p:cNvPr id="187" name="Google Shape;187;p32"/>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352425" lvl="0" marL="457200" rtl="0" algn="l">
              <a:spcBef>
                <a:spcPts val="0"/>
              </a:spcBef>
              <a:spcAft>
                <a:spcPts val="0"/>
              </a:spcAft>
              <a:buSzPts val="1950"/>
              <a:buChar char="-"/>
            </a:pPr>
            <a:r>
              <a:rPr lang="en-GB"/>
              <a:t>Brief introduction to the project and team</a:t>
            </a:r>
            <a:endParaRPr/>
          </a:p>
          <a:p>
            <a:pPr indent="-352425" lvl="0" marL="457200" rtl="0" algn="l">
              <a:spcBef>
                <a:spcPts val="0"/>
              </a:spcBef>
              <a:spcAft>
                <a:spcPts val="0"/>
              </a:spcAft>
              <a:buSzPts val="1950"/>
              <a:buChar char="-"/>
            </a:pPr>
            <a:r>
              <a:rPr lang="en-GB"/>
              <a:t>The progress made so far on this project</a:t>
            </a:r>
            <a:endParaRPr/>
          </a:p>
          <a:p>
            <a:pPr indent="-342900" lvl="1" marL="914400" rtl="0" algn="l">
              <a:spcBef>
                <a:spcPts val="0"/>
              </a:spcBef>
              <a:spcAft>
                <a:spcPts val="0"/>
              </a:spcAft>
              <a:buSzPts val="1800"/>
              <a:buChar char="-"/>
            </a:pPr>
            <a:r>
              <a:rPr lang="en-GB"/>
              <a:t>Milestones</a:t>
            </a:r>
            <a:endParaRPr/>
          </a:p>
          <a:p>
            <a:pPr indent="-342900" lvl="1" marL="914400" rtl="0" algn="l">
              <a:spcBef>
                <a:spcPts val="0"/>
              </a:spcBef>
              <a:spcAft>
                <a:spcPts val="0"/>
              </a:spcAft>
              <a:buSzPts val="1800"/>
              <a:buChar char="-"/>
            </a:pPr>
            <a:r>
              <a:rPr lang="en-GB"/>
              <a:t>Pipeline</a:t>
            </a:r>
            <a:endParaRPr/>
          </a:p>
          <a:p>
            <a:pPr indent="-352425" lvl="0" marL="457200" rtl="0" algn="l">
              <a:spcBef>
                <a:spcPts val="0"/>
              </a:spcBef>
              <a:spcAft>
                <a:spcPts val="0"/>
              </a:spcAft>
              <a:buSzPts val="1950"/>
              <a:buChar char="-"/>
            </a:pPr>
            <a:r>
              <a:rPr lang="en-GB"/>
              <a:t>Next steps to be taken</a:t>
            </a:r>
            <a:endParaRPr/>
          </a:p>
          <a:p>
            <a:pPr indent="-352425" lvl="0" marL="457200" rtl="0" algn="l">
              <a:spcBef>
                <a:spcPts val="0"/>
              </a:spcBef>
              <a:spcAft>
                <a:spcPts val="0"/>
              </a:spcAft>
              <a:buSzPts val="1950"/>
              <a:buChar char="-"/>
            </a:pPr>
            <a:r>
              <a:rPr lang="en-GB"/>
              <a:t>Questions</a:t>
            </a:r>
            <a:endParaRPr/>
          </a:p>
          <a:p>
            <a:pPr indent="0" lvl="0" marL="0" rtl="0" algn="l">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1" name="Shape 191"/>
        <p:cNvGrpSpPr/>
        <p:nvPr/>
      </p:nvGrpSpPr>
      <p:grpSpPr>
        <a:xfrm>
          <a:off x="0" y="0"/>
          <a:ext cx="0" cy="0"/>
          <a:chOff x="0" y="0"/>
          <a:chExt cx="0" cy="0"/>
        </a:xfrm>
      </p:grpSpPr>
      <p:sp>
        <p:nvSpPr>
          <p:cNvPr id="192" name="Google Shape;192;p33"/>
          <p:cNvSpPr txBox="1"/>
          <p:nvPr>
            <p:ph type="title"/>
          </p:nvPr>
        </p:nvSpPr>
        <p:spPr>
          <a:xfrm>
            <a:off x="675375" y="2031098"/>
            <a:ext cx="7556400" cy="582000"/>
          </a:xfrm>
          <a:prstGeom prst="rect">
            <a:avLst/>
          </a:prstGeom>
          <a:ln>
            <a:noFill/>
          </a:ln>
        </p:spPr>
        <p:txBody>
          <a:bodyPr anchorCtr="0" anchor="ctr" bIns="0" lIns="0" spcFirstLastPara="1" rIns="0" wrap="square" tIns="0">
            <a:noAutofit/>
          </a:bodyPr>
          <a:lstStyle/>
          <a:p>
            <a:pPr indent="0" lvl="0" marL="0" rtl="0" algn="ctr">
              <a:spcBef>
                <a:spcPts val="0"/>
              </a:spcBef>
              <a:spcAft>
                <a:spcPts val="0"/>
              </a:spcAft>
              <a:buNone/>
            </a:pPr>
            <a:r>
              <a:rPr lang="en-GB" sz="2400"/>
              <a:t>Brief introduction to the project and team</a:t>
            </a:r>
            <a:endParaRPr sz="24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6" name="Shape 196"/>
        <p:cNvGrpSpPr/>
        <p:nvPr/>
      </p:nvGrpSpPr>
      <p:grpSpPr>
        <a:xfrm>
          <a:off x="0" y="0"/>
          <a:ext cx="0" cy="0"/>
          <a:chOff x="0" y="0"/>
          <a:chExt cx="0" cy="0"/>
        </a:xfrm>
      </p:grpSpPr>
      <p:sp>
        <p:nvSpPr>
          <p:cNvPr id="197" name="Google Shape;197;p34"/>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Who are we?</a:t>
            </a:r>
            <a:endParaRPr/>
          </a:p>
        </p:txBody>
      </p:sp>
      <p:sp>
        <p:nvSpPr>
          <p:cNvPr id="198" name="Google Shape;198;p34"/>
          <p:cNvSpPr txBox="1"/>
          <p:nvPr>
            <p:ph idx="3" type="body"/>
          </p:nvPr>
        </p:nvSpPr>
        <p:spPr>
          <a:xfrm>
            <a:off x="621573" y="1159150"/>
            <a:ext cx="1759500" cy="636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Dong, </a:t>
            </a:r>
            <a:r>
              <a:rPr b="1" lang="en-GB"/>
              <a:t>Zijian</a:t>
            </a:r>
            <a:r>
              <a:rPr lang="en-GB"/>
              <a:t>,</a:t>
            </a:r>
            <a:endParaRPr/>
          </a:p>
          <a:p>
            <a:pPr indent="0" lvl="0" marL="0" rtl="0" algn="l">
              <a:spcBef>
                <a:spcPts val="0"/>
              </a:spcBef>
              <a:spcAft>
                <a:spcPts val="0"/>
              </a:spcAft>
              <a:buNone/>
            </a:pPr>
            <a:r>
              <a:rPr lang="en-GB"/>
              <a:t>AI Major</a:t>
            </a:r>
            <a:endParaRPr/>
          </a:p>
        </p:txBody>
      </p:sp>
      <p:pic>
        <p:nvPicPr>
          <p:cNvPr id="199" name="Google Shape;199;p34" title="Screenshot 2026-03-24 at 21.52.36.png"/>
          <p:cNvPicPr preferRelativeResize="0"/>
          <p:nvPr>
            <p:ph idx="6" type="pic"/>
          </p:nvPr>
        </p:nvPicPr>
        <p:blipFill rotWithShape="1">
          <a:blip r:embed="rId3">
            <a:alphaModFix/>
          </a:blip>
          <a:srcRect b="0" l="9016" r="9024" t="0"/>
          <a:stretch/>
        </p:blipFill>
        <p:spPr>
          <a:xfrm>
            <a:off x="621573" y="1799592"/>
            <a:ext cx="1762201" cy="2625300"/>
          </a:xfrm>
          <a:prstGeom prst="rect">
            <a:avLst/>
          </a:prstGeom>
        </p:spPr>
      </p:pic>
      <p:sp>
        <p:nvSpPr>
          <p:cNvPr id="200" name="Google Shape;200;p34"/>
          <p:cNvSpPr txBox="1"/>
          <p:nvPr>
            <p:ph idx="3" type="body"/>
          </p:nvPr>
        </p:nvSpPr>
        <p:spPr>
          <a:xfrm>
            <a:off x="2693298" y="1159150"/>
            <a:ext cx="1759500" cy="636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Hogendoorn, </a:t>
            </a:r>
            <a:r>
              <a:rPr b="1" lang="en-GB"/>
              <a:t>Chris</a:t>
            </a:r>
            <a:r>
              <a:rPr lang="en-GB"/>
              <a:t>,</a:t>
            </a:r>
            <a:endParaRPr/>
          </a:p>
          <a:p>
            <a:pPr indent="0" lvl="0" marL="0" rtl="0" algn="l">
              <a:spcBef>
                <a:spcPts val="0"/>
              </a:spcBef>
              <a:spcAft>
                <a:spcPts val="0"/>
              </a:spcAft>
              <a:buNone/>
            </a:pPr>
            <a:r>
              <a:rPr lang="en-GB"/>
              <a:t>ME Major	</a:t>
            </a:r>
            <a:endParaRPr/>
          </a:p>
        </p:txBody>
      </p:sp>
      <p:pic>
        <p:nvPicPr>
          <p:cNvPr id="201" name="Google Shape;201;p34" title="P1050892.JPG"/>
          <p:cNvPicPr preferRelativeResize="0"/>
          <p:nvPr>
            <p:ph idx="6" type="pic"/>
          </p:nvPr>
        </p:nvPicPr>
        <p:blipFill rotWithShape="1">
          <a:blip r:embed="rId4">
            <a:alphaModFix/>
          </a:blip>
          <a:srcRect b="348" l="0" r="0" t="357"/>
          <a:stretch/>
        </p:blipFill>
        <p:spPr>
          <a:xfrm>
            <a:off x="2693298" y="1799592"/>
            <a:ext cx="1762201" cy="2625300"/>
          </a:xfrm>
          <a:prstGeom prst="rect">
            <a:avLst/>
          </a:prstGeom>
        </p:spPr>
      </p:pic>
      <p:sp>
        <p:nvSpPr>
          <p:cNvPr id="202" name="Google Shape;202;p34"/>
          <p:cNvSpPr txBox="1"/>
          <p:nvPr>
            <p:ph idx="3" type="body"/>
          </p:nvPr>
        </p:nvSpPr>
        <p:spPr>
          <a:xfrm>
            <a:off x="4863648" y="1159150"/>
            <a:ext cx="1759500" cy="636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Kumas, </a:t>
            </a:r>
            <a:r>
              <a:rPr b="1" lang="en-GB"/>
              <a:t>Atakan</a:t>
            </a:r>
            <a:r>
              <a:rPr lang="en-GB"/>
              <a:t>,</a:t>
            </a:r>
            <a:endParaRPr/>
          </a:p>
          <a:p>
            <a:pPr indent="0" lvl="0" marL="0" rtl="0" algn="l">
              <a:spcBef>
                <a:spcPts val="0"/>
              </a:spcBef>
              <a:spcAft>
                <a:spcPts val="0"/>
              </a:spcAft>
              <a:buNone/>
            </a:pPr>
            <a:r>
              <a:rPr lang="en-GB"/>
              <a:t>CS Major</a:t>
            </a:r>
            <a:endParaRPr/>
          </a:p>
        </p:txBody>
      </p:sp>
      <p:pic>
        <p:nvPicPr>
          <p:cNvPr id="203" name="Google Shape;203;p34" title="Magnet.me profielfoto.png"/>
          <p:cNvPicPr preferRelativeResize="0"/>
          <p:nvPr>
            <p:ph idx="6" type="pic"/>
          </p:nvPr>
        </p:nvPicPr>
        <p:blipFill rotWithShape="1">
          <a:blip r:embed="rId5">
            <a:alphaModFix/>
          </a:blip>
          <a:srcRect b="318" l="0" r="0" t="318"/>
          <a:stretch/>
        </p:blipFill>
        <p:spPr>
          <a:xfrm>
            <a:off x="4863648" y="1799592"/>
            <a:ext cx="1762201" cy="2625300"/>
          </a:xfrm>
          <a:prstGeom prst="rect">
            <a:avLst/>
          </a:prstGeom>
        </p:spPr>
      </p:pic>
      <p:sp>
        <p:nvSpPr>
          <p:cNvPr id="204" name="Google Shape;204;p34"/>
          <p:cNvSpPr txBox="1"/>
          <p:nvPr>
            <p:ph idx="3" type="body"/>
          </p:nvPr>
        </p:nvSpPr>
        <p:spPr>
          <a:xfrm>
            <a:off x="7033998" y="1159150"/>
            <a:ext cx="1759500" cy="636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Shan, </a:t>
            </a:r>
            <a:r>
              <a:rPr b="1" lang="en-GB"/>
              <a:t>Yuhao</a:t>
            </a:r>
            <a:r>
              <a:rPr lang="en-GB"/>
              <a:t>,</a:t>
            </a:r>
            <a:endParaRPr/>
          </a:p>
          <a:p>
            <a:pPr indent="0" lvl="0" marL="0" rtl="0" algn="l">
              <a:spcBef>
                <a:spcPts val="0"/>
              </a:spcBef>
              <a:spcAft>
                <a:spcPts val="0"/>
              </a:spcAft>
              <a:buNone/>
            </a:pPr>
            <a:r>
              <a:rPr lang="en-GB"/>
              <a:t>ME Major</a:t>
            </a:r>
            <a:endParaRPr/>
          </a:p>
        </p:txBody>
      </p:sp>
      <p:pic>
        <p:nvPicPr>
          <p:cNvPr id="205" name="Google Shape;205;p34" title="f7bbf3d03abfa7d30db83c4c55b1a668.JPG"/>
          <p:cNvPicPr preferRelativeResize="0"/>
          <p:nvPr>
            <p:ph idx="6" type="pic"/>
          </p:nvPr>
        </p:nvPicPr>
        <p:blipFill rotWithShape="1">
          <a:blip r:embed="rId6">
            <a:alphaModFix/>
          </a:blip>
          <a:srcRect b="0" l="6830" r="6830" t="0"/>
          <a:stretch/>
        </p:blipFill>
        <p:spPr>
          <a:xfrm>
            <a:off x="7033998" y="1799592"/>
            <a:ext cx="1762200" cy="2625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5"/>
          <p:cNvSpPr txBox="1"/>
          <p:nvPr>
            <p:ph type="title"/>
          </p:nvPr>
        </p:nvSpPr>
        <p:spPr>
          <a:xfrm>
            <a:off x="758825" y="585793"/>
            <a:ext cx="3595800" cy="7323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b="1" lang="en-GB" sz="2400"/>
              <a:t>Problem</a:t>
            </a:r>
            <a:endParaRPr b="1" sz="2400"/>
          </a:p>
        </p:txBody>
      </p:sp>
      <p:sp>
        <p:nvSpPr>
          <p:cNvPr id="211" name="Google Shape;211;p35"/>
          <p:cNvSpPr txBox="1"/>
          <p:nvPr>
            <p:ph idx="1" type="body"/>
          </p:nvPr>
        </p:nvSpPr>
        <p:spPr>
          <a:xfrm>
            <a:off x="755650" y="1295401"/>
            <a:ext cx="3598800" cy="2933700"/>
          </a:xfrm>
          <a:prstGeom prst="rect">
            <a:avLst/>
          </a:prstGeom>
        </p:spPr>
        <p:txBody>
          <a:bodyPr anchorCtr="0" anchor="t" bIns="0" lIns="0" spcFirstLastPara="1" rIns="0" wrap="square" tIns="0">
            <a:noAutofit/>
          </a:bodyPr>
          <a:lstStyle/>
          <a:p>
            <a:pPr indent="-352425" lvl="0" marL="457200" rtl="0" algn="l">
              <a:spcBef>
                <a:spcPts val="0"/>
              </a:spcBef>
              <a:spcAft>
                <a:spcPts val="0"/>
              </a:spcAft>
              <a:buSzPts val="1950"/>
              <a:buChar char="-"/>
            </a:pPr>
            <a:r>
              <a:rPr lang="en-GB"/>
              <a:t>Circuit design performed by experts -&gt; requires months to complete</a:t>
            </a:r>
            <a:endParaRPr/>
          </a:p>
          <a:p>
            <a:pPr indent="-352425" lvl="0" marL="457200" rtl="0" algn="l">
              <a:spcBef>
                <a:spcPts val="0"/>
              </a:spcBef>
              <a:spcAft>
                <a:spcPts val="0"/>
              </a:spcAft>
              <a:buSzPts val="1950"/>
              <a:buChar char="-"/>
            </a:pPr>
            <a:r>
              <a:rPr lang="en-GB"/>
              <a:t>High demand -&gt; No swift response means missed market opportunities</a:t>
            </a:r>
            <a:endParaRPr/>
          </a:p>
        </p:txBody>
      </p:sp>
      <p:sp>
        <p:nvSpPr>
          <p:cNvPr id="212" name="Google Shape;212;p35"/>
          <p:cNvSpPr txBox="1"/>
          <p:nvPr>
            <p:ph idx="2" type="body"/>
          </p:nvPr>
        </p:nvSpPr>
        <p:spPr>
          <a:xfrm>
            <a:off x="4723606" y="1296000"/>
            <a:ext cx="3595800" cy="2933100"/>
          </a:xfrm>
          <a:prstGeom prst="rect">
            <a:avLst/>
          </a:prstGeom>
        </p:spPr>
        <p:txBody>
          <a:bodyPr anchorCtr="0" anchor="t" bIns="0" lIns="0" spcFirstLastPara="1" rIns="0" wrap="square" tIns="0">
            <a:noAutofit/>
          </a:bodyPr>
          <a:lstStyle/>
          <a:p>
            <a:pPr indent="-352425" lvl="0" marL="457200" rtl="0" algn="l">
              <a:spcBef>
                <a:spcPts val="0"/>
              </a:spcBef>
              <a:spcAft>
                <a:spcPts val="0"/>
              </a:spcAft>
              <a:buSzPts val="1950"/>
              <a:buChar char="-"/>
            </a:pPr>
            <a:r>
              <a:rPr lang="en-GB"/>
              <a:t>Develop an AI-driven system that is able to explore PE topologies -&gt; accelerates circuit design process -&gt; swift response to demand</a:t>
            </a:r>
            <a:endParaRPr/>
          </a:p>
        </p:txBody>
      </p:sp>
      <p:sp>
        <p:nvSpPr>
          <p:cNvPr id="213" name="Google Shape;213;p35"/>
          <p:cNvSpPr txBox="1"/>
          <p:nvPr>
            <p:ph idx="3" type="body"/>
          </p:nvPr>
        </p:nvSpPr>
        <p:spPr>
          <a:xfrm>
            <a:off x="4714875" y="586800"/>
            <a:ext cx="3604500" cy="7323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b="1" lang="en-GB" sz="2400"/>
              <a:t>Goal</a:t>
            </a:r>
            <a:endParaRPr b="1"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6"/>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Approaches/Directions</a:t>
            </a:r>
            <a:endParaRPr/>
          </a:p>
        </p:txBody>
      </p:sp>
      <p:sp>
        <p:nvSpPr>
          <p:cNvPr id="219" name="Google Shape;219;p36"/>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b="1"/>
          </a:p>
          <a:p>
            <a:pPr indent="-352425" lvl="0" marL="457200" rtl="0" algn="l">
              <a:spcBef>
                <a:spcPts val="0"/>
              </a:spcBef>
              <a:spcAft>
                <a:spcPts val="0"/>
              </a:spcAft>
              <a:buSzPts val="1950"/>
              <a:buChar char="●"/>
            </a:pPr>
            <a:r>
              <a:rPr b="1" lang="en-GB" sz="2150"/>
              <a:t>LLM-driven </a:t>
            </a:r>
            <a:r>
              <a:rPr b="1" lang="en-GB" sz="2150"/>
              <a:t>topology</a:t>
            </a:r>
            <a:r>
              <a:rPr b="1" lang="en-GB" sz="2150"/>
              <a:t> generation</a:t>
            </a:r>
            <a:br>
              <a:rPr b="1" lang="en-GB" sz="2150"/>
            </a:br>
            <a:r>
              <a:rPr b="1" lang="en-GB" sz="2150"/>
              <a:t>	</a:t>
            </a:r>
            <a:r>
              <a:rPr lang="en-GB" sz="2150"/>
              <a:t>initialized with SFT warm start</a:t>
            </a:r>
            <a:br>
              <a:rPr lang="en-GB"/>
            </a:br>
            <a:r>
              <a:rPr lang="en-GB"/>
              <a:t>	Generate candidate circuit designs from high-level specifications</a:t>
            </a:r>
            <a:endParaRPr/>
          </a:p>
          <a:p>
            <a:pPr indent="-352425" lvl="0" marL="457200" rtl="0" algn="l">
              <a:spcBef>
                <a:spcPts val="0"/>
              </a:spcBef>
              <a:spcAft>
                <a:spcPts val="0"/>
              </a:spcAft>
              <a:buSzPts val="1950"/>
              <a:buChar char="●"/>
            </a:pPr>
            <a:r>
              <a:rPr b="1" lang="en-GB" sz="2150"/>
              <a:t>Simulation-in-the-loop evaluation</a:t>
            </a:r>
            <a:br>
              <a:rPr lang="en-GB"/>
            </a:br>
            <a:r>
              <a:rPr lang="en-GB"/>
              <a:t>	Validate and evaluate each design using circuit simulation</a:t>
            </a:r>
            <a:endParaRPr/>
          </a:p>
          <a:p>
            <a:pPr indent="-365125" lvl="0" marL="457200" rtl="0" algn="l">
              <a:spcBef>
                <a:spcPts val="0"/>
              </a:spcBef>
              <a:spcAft>
                <a:spcPts val="0"/>
              </a:spcAft>
              <a:buSzPts val="2150"/>
              <a:buChar char="●"/>
            </a:pPr>
            <a:r>
              <a:rPr b="1" lang="en-GB" sz="2150"/>
              <a:t>RL-based optimization</a:t>
            </a:r>
            <a:endParaRPr b="1" sz="2150"/>
          </a:p>
          <a:p>
            <a:pPr indent="457200" lvl="0" marL="457200" rtl="0" algn="l">
              <a:spcBef>
                <a:spcPts val="0"/>
              </a:spcBef>
              <a:spcAft>
                <a:spcPts val="0"/>
              </a:spcAft>
              <a:buNone/>
            </a:pPr>
            <a:r>
              <a:rPr lang="en-GB"/>
              <a:t>Learn a policy to iteratively improve topology generation</a:t>
            </a:r>
            <a:endParaRPr/>
          </a:p>
          <a:p>
            <a:pPr indent="0" lvl="0" marL="1371600" rtl="0" algn="l">
              <a:spcBef>
                <a:spcPts val="0"/>
              </a:spcBef>
              <a:spcAft>
                <a:spcPts val="0"/>
              </a:spcAft>
              <a:buNone/>
            </a:pPr>
            <a:r>
              <a:t/>
            </a:r>
            <a:endParaRPr/>
          </a:p>
          <a:p>
            <a:pPr indent="0" lvl="0" marL="0" rtl="0" algn="l">
              <a:spcBef>
                <a:spcPts val="0"/>
              </a:spcBef>
              <a:spcAft>
                <a:spcPts val="0"/>
              </a:spcAft>
              <a:buNone/>
            </a:pPr>
            <a:r>
              <a:rPr lang="en-GB"/>
              <a:t>	</a:t>
            </a:r>
            <a:endParaRPr/>
          </a:p>
          <a:p>
            <a:pPr indent="0" lvl="0" marL="457200" rtl="0" algn="l">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3" name="Shape 223"/>
        <p:cNvGrpSpPr/>
        <p:nvPr/>
      </p:nvGrpSpPr>
      <p:grpSpPr>
        <a:xfrm>
          <a:off x="0" y="0"/>
          <a:ext cx="0" cy="0"/>
          <a:chOff x="0" y="0"/>
          <a:chExt cx="0" cy="0"/>
        </a:xfrm>
      </p:grpSpPr>
      <p:sp>
        <p:nvSpPr>
          <p:cNvPr id="224" name="Google Shape;224;p37"/>
          <p:cNvSpPr txBox="1"/>
          <p:nvPr>
            <p:ph type="title"/>
          </p:nvPr>
        </p:nvSpPr>
        <p:spPr>
          <a:xfrm>
            <a:off x="675375" y="2031098"/>
            <a:ext cx="7556400" cy="582000"/>
          </a:xfrm>
          <a:prstGeom prst="rect">
            <a:avLst/>
          </a:prstGeom>
          <a:ln>
            <a:noFill/>
          </a:ln>
        </p:spPr>
        <p:txBody>
          <a:bodyPr anchorCtr="0" anchor="ctr" bIns="0" lIns="0" spcFirstLastPara="1" rIns="0" wrap="square" tIns="0">
            <a:noAutofit/>
          </a:bodyPr>
          <a:lstStyle/>
          <a:p>
            <a:pPr indent="0" lvl="0" marL="0" rtl="0" algn="ctr">
              <a:spcBef>
                <a:spcPts val="0"/>
              </a:spcBef>
              <a:spcAft>
                <a:spcPts val="0"/>
              </a:spcAft>
              <a:buNone/>
            </a:pPr>
            <a:r>
              <a:rPr lang="en-GB" sz="2400"/>
              <a:t>The progress made so far on this project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8" name="Shape 228"/>
        <p:cNvGrpSpPr/>
        <p:nvPr/>
      </p:nvGrpSpPr>
      <p:grpSpPr>
        <a:xfrm>
          <a:off x="0" y="0"/>
          <a:ext cx="0" cy="0"/>
          <a:chOff x="0" y="0"/>
          <a:chExt cx="0" cy="0"/>
        </a:xfrm>
      </p:grpSpPr>
      <p:sp>
        <p:nvSpPr>
          <p:cNvPr id="229" name="Google Shape;229;p38"/>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Milestones/Roadmap</a:t>
            </a:r>
            <a:endParaRPr/>
          </a:p>
        </p:txBody>
      </p:sp>
      <p:sp>
        <p:nvSpPr>
          <p:cNvPr id="230" name="Google Shape;230;p38"/>
          <p:cNvSpPr/>
          <p:nvPr/>
        </p:nvSpPr>
        <p:spPr>
          <a:xfrm>
            <a:off x="209575"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None/>
            </a:pPr>
            <a:r>
              <a:rPr lang="en-GB" sz="1800">
                <a:solidFill>
                  <a:schemeClr val="dk1"/>
                </a:solidFill>
                <a:latin typeface="Calibri"/>
                <a:ea typeface="Calibri"/>
                <a:cs typeface="Calibri"/>
                <a:sym typeface="Calibri"/>
              </a:rPr>
              <a:t>Literature Review and process research</a:t>
            </a:r>
            <a:endParaRPr sz="1800">
              <a:solidFill>
                <a:schemeClr val="dk1"/>
              </a:solidFill>
              <a:latin typeface="Calibri"/>
              <a:ea typeface="Calibri"/>
              <a:cs typeface="Calibri"/>
              <a:sym typeface="Calibri"/>
            </a:endParaRPr>
          </a:p>
        </p:txBody>
      </p:sp>
      <p:sp>
        <p:nvSpPr>
          <p:cNvPr id="231" name="Google Shape;231;p38"/>
          <p:cNvSpPr/>
          <p:nvPr/>
        </p:nvSpPr>
        <p:spPr>
          <a:xfrm>
            <a:off x="3552291"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Clr>
                <a:schemeClr val="dk1"/>
              </a:buClr>
              <a:buSzPts val="1100"/>
              <a:buFont typeface="Arial"/>
              <a:buNone/>
            </a:pPr>
            <a:r>
              <a:rPr lang="en-GB" sz="1800">
                <a:solidFill>
                  <a:schemeClr val="dk1"/>
                </a:solidFill>
                <a:latin typeface="Calibri"/>
                <a:ea typeface="Calibri"/>
                <a:cs typeface="Calibri"/>
                <a:sym typeface="Calibri"/>
              </a:rPr>
              <a:t>Model training and tuning</a:t>
            </a:r>
            <a:endParaRPr sz="2227">
              <a:solidFill>
                <a:schemeClr val="dk1"/>
              </a:solidFill>
              <a:latin typeface="Calibri"/>
              <a:ea typeface="Calibri"/>
              <a:cs typeface="Calibri"/>
              <a:sym typeface="Calibri"/>
            </a:endParaRPr>
          </a:p>
        </p:txBody>
      </p:sp>
      <p:sp>
        <p:nvSpPr>
          <p:cNvPr id="232" name="Google Shape;232;p38"/>
          <p:cNvSpPr/>
          <p:nvPr/>
        </p:nvSpPr>
        <p:spPr>
          <a:xfrm>
            <a:off x="7017577"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Clr>
                <a:schemeClr val="dk1"/>
              </a:buClr>
              <a:buSzPts val="1100"/>
              <a:buFont typeface="Arial"/>
              <a:buNone/>
            </a:pPr>
            <a:r>
              <a:rPr lang="en-GB" sz="1800">
                <a:solidFill>
                  <a:schemeClr val="dk1"/>
                </a:solidFill>
                <a:latin typeface="Calibri"/>
                <a:ea typeface="Calibri"/>
                <a:cs typeface="Calibri"/>
                <a:sym typeface="Calibri"/>
              </a:rPr>
              <a:t>Final report writing</a:t>
            </a:r>
            <a:endParaRPr sz="2227">
              <a:solidFill>
                <a:schemeClr val="dk1"/>
              </a:solidFill>
              <a:latin typeface="Calibri"/>
              <a:ea typeface="Calibri"/>
              <a:cs typeface="Calibri"/>
              <a:sym typeface="Calibri"/>
            </a:endParaRPr>
          </a:p>
        </p:txBody>
      </p:sp>
      <p:sp>
        <p:nvSpPr>
          <p:cNvPr id="233" name="Google Shape;233;p38"/>
          <p:cNvSpPr/>
          <p:nvPr/>
        </p:nvSpPr>
        <p:spPr>
          <a:xfrm>
            <a:off x="1841525" y="3389700"/>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Clr>
                <a:schemeClr val="dk1"/>
              </a:buClr>
              <a:buSzPts val="1100"/>
              <a:buFont typeface="Arial"/>
              <a:buNone/>
            </a:pPr>
            <a:r>
              <a:rPr lang="en-GB" sz="1800">
                <a:solidFill>
                  <a:schemeClr val="dk1"/>
                </a:solidFill>
                <a:latin typeface="Calibri"/>
                <a:ea typeface="Calibri"/>
                <a:cs typeface="Calibri"/>
                <a:sym typeface="Calibri"/>
              </a:rPr>
              <a:t>Data generation and simulation processing</a:t>
            </a:r>
            <a:endParaRPr sz="2227">
              <a:solidFill>
                <a:schemeClr val="dk1"/>
              </a:solidFill>
              <a:latin typeface="Calibri"/>
              <a:ea typeface="Calibri"/>
              <a:cs typeface="Calibri"/>
              <a:sym typeface="Calibri"/>
            </a:endParaRPr>
          </a:p>
        </p:txBody>
      </p:sp>
      <p:sp>
        <p:nvSpPr>
          <p:cNvPr id="234" name="Google Shape;234;p38"/>
          <p:cNvSpPr/>
          <p:nvPr/>
        </p:nvSpPr>
        <p:spPr>
          <a:xfrm>
            <a:off x="5591700" y="34586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Clr>
                <a:schemeClr val="dk1"/>
              </a:buClr>
              <a:buSzPts val="1100"/>
              <a:buFont typeface="Arial"/>
              <a:buNone/>
            </a:pPr>
            <a:r>
              <a:rPr lang="en-GB" sz="1800">
                <a:solidFill>
                  <a:schemeClr val="dk1"/>
                </a:solidFill>
                <a:latin typeface="Calibri"/>
                <a:ea typeface="Calibri"/>
                <a:cs typeface="Calibri"/>
                <a:sym typeface="Calibri"/>
              </a:rPr>
              <a:t>Interactive Implementation</a:t>
            </a:r>
            <a:endParaRPr sz="2227">
              <a:solidFill>
                <a:schemeClr val="dk1"/>
              </a:solidFill>
              <a:latin typeface="Calibri"/>
              <a:ea typeface="Calibri"/>
              <a:cs typeface="Calibri"/>
              <a:sym typeface="Calibri"/>
            </a:endParaRPr>
          </a:p>
        </p:txBody>
      </p:sp>
      <p:sp>
        <p:nvSpPr>
          <p:cNvPr id="235" name="Google Shape;235;p38"/>
          <p:cNvSpPr/>
          <p:nvPr/>
        </p:nvSpPr>
        <p:spPr>
          <a:xfrm rot="3768942">
            <a:off x="1377900" y="2782055"/>
            <a:ext cx="1166893" cy="56285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36" name="Google Shape;236;p38"/>
          <p:cNvSpPr/>
          <p:nvPr/>
        </p:nvSpPr>
        <p:spPr>
          <a:xfrm rot="-4065614">
            <a:off x="3259169" y="2739489"/>
            <a:ext cx="1172310" cy="53348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37" name="Google Shape;237;p38"/>
          <p:cNvSpPr/>
          <p:nvPr/>
        </p:nvSpPr>
        <p:spPr>
          <a:xfrm rot="4249187">
            <a:off x="4957459" y="2724818"/>
            <a:ext cx="1166979" cy="562805"/>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38" name="Google Shape;238;p38"/>
          <p:cNvSpPr/>
          <p:nvPr/>
        </p:nvSpPr>
        <p:spPr>
          <a:xfrm rot="-4183497">
            <a:off x="6900270" y="2782058"/>
            <a:ext cx="1167008" cy="562858"/>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Milestones/Roadmap</a:t>
            </a:r>
            <a:endParaRPr/>
          </a:p>
        </p:txBody>
      </p:sp>
      <p:sp>
        <p:nvSpPr>
          <p:cNvPr id="244" name="Google Shape;244;p39"/>
          <p:cNvSpPr/>
          <p:nvPr/>
        </p:nvSpPr>
        <p:spPr>
          <a:xfrm>
            <a:off x="209575" y="1386275"/>
            <a:ext cx="2039400" cy="1266900"/>
          </a:xfrm>
          <a:prstGeom prst="roundRect">
            <a:avLst>
              <a:gd fmla="val 16667" name="adj"/>
            </a:avLst>
          </a:prstGeom>
          <a:solidFill>
            <a:srgbClr val="93C47D"/>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None/>
            </a:pPr>
            <a:r>
              <a:rPr lang="en-GB" sz="1800">
                <a:solidFill>
                  <a:schemeClr val="dk1"/>
                </a:solidFill>
                <a:latin typeface="Calibri"/>
                <a:ea typeface="Calibri"/>
                <a:cs typeface="Calibri"/>
                <a:sym typeface="Calibri"/>
              </a:rPr>
              <a:t>Literature Review and process research</a:t>
            </a:r>
            <a:endParaRPr sz="1800">
              <a:solidFill>
                <a:schemeClr val="dk1"/>
              </a:solidFill>
              <a:latin typeface="Calibri"/>
              <a:ea typeface="Calibri"/>
              <a:cs typeface="Calibri"/>
              <a:sym typeface="Calibri"/>
            </a:endParaRPr>
          </a:p>
        </p:txBody>
      </p:sp>
      <p:sp>
        <p:nvSpPr>
          <p:cNvPr id="245" name="Google Shape;245;p39"/>
          <p:cNvSpPr/>
          <p:nvPr/>
        </p:nvSpPr>
        <p:spPr>
          <a:xfrm>
            <a:off x="3552291"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None/>
            </a:pPr>
            <a:r>
              <a:rPr lang="en-GB" sz="1800">
                <a:solidFill>
                  <a:schemeClr val="dk1"/>
                </a:solidFill>
                <a:latin typeface="Calibri"/>
                <a:ea typeface="Calibri"/>
                <a:cs typeface="Calibri"/>
                <a:sym typeface="Calibri"/>
              </a:rPr>
              <a:t>Model training and tuning</a:t>
            </a:r>
            <a:endParaRPr sz="2227">
              <a:solidFill>
                <a:schemeClr val="dk1"/>
              </a:solidFill>
              <a:latin typeface="Calibri"/>
              <a:ea typeface="Calibri"/>
              <a:cs typeface="Calibri"/>
              <a:sym typeface="Calibri"/>
            </a:endParaRPr>
          </a:p>
        </p:txBody>
      </p:sp>
      <p:sp>
        <p:nvSpPr>
          <p:cNvPr id="246" name="Google Shape;246;p39"/>
          <p:cNvSpPr/>
          <p:nvPr/>
        </p:nvSpPr>
        <p:spPr>
          <a:xfrm>
            <a:off x="7017577"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None/>
            </a:pPr>
            <a:r>
              <a:rPr lang="en-GB" sz="1800">
                <a:solidFill>
                  <a:schemeClr val="dk1"/>
                </a:solidFill>
                <a:latin typeface="Calibri"/>
                <a:ea typeface="Calibri"/>
                <a:cs typeface="Calibri"/>
                <a:sym typeface="Calibri"/>
              </a:rPr>
              <a:t>Final report writing</a:t>
            </a:r>
            <a:endParaRPr sz="2227">
              <a:solidFill>
                <a:schemeClr val="dk1"/>
              </a:solidFill>
              <a:latin typeface="Calibri"/>
              <a:ea typeface="Calibri"/>
              <a:cs typeface="Calibri"/>
              <a:sym typeface="Calibri"/>
            </a:endParaRPr>
          </a:p>
        </p:txBody>
      </p:sp>
      <p:sp>
        <p:nvSpPr>
          <p:cNvPr id="247" name="Google Shape;247;p39"/>
          <p:cNvSpPr/>
          <p:nvPr/>
        </p:nvSpPr>
        <p:spPr>
          <a:xfrm>
            <a:off x="1841525" y="3389700"/>
            <a:ext cx="2039400" cy="1266900"/>
          </a:xfrm>
          <a:prstGeom prst="roundRect">
            <a:avLst>
              <a:gd fmla="val 16667" name="adj"/>
            </a:avLst>
          </a:prstGeom>
          <a:solidFill>
            <a:srgbClr val="93C47D"/>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None/>
            </a:pPr>
            <a:r>
              <a:rPr lang="en-GB" sz="1800">
                <a:solidFill>
                  <a:schemeClr val="dk1"/>
                </a:solidFill>
                <a:latin typeface="Calibri"/>
                <a:ea typeface="Calibri"/>
                <a:cs typeface="Calibri"/>
                <a:sym typeface="Calibri"/>
              </a:rPr>
              <a:t>Data generation and simulation processing</a:t>
            </a:r>
            <a:endParaRPr sz="2227">
              <a:solidFill>
                <a:schemeClr val="dk1"/>
              </a:solidFill>
              <a:latin typeface="Calibri"/>
              <a:ea typeface="Calibri"/>
              <a:cs typeface="Calibri"/>
              <a:sym typeface="Calibri"/>
            </a:endParaRPr>
          </a:p>
        </p:txBody>
      </p:sp>
      <p:sp>
        <p:nvSpPr>
          <p:cNvPr id="248" name="Google Shape;248;p39"/>
          <p:cNvSpPr/>
          <p:nvPr/>
        </p:nvSpPr>
        <p:spPr>
          <a:xfrm>
            <a:off x="5591700" y="34586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rtl="0" algn="ctr">
              <a:spcBef>
                <a:spcPts val="0"/>
              </a:spcBef>
              <a:spcAft>
                <a:spcPts val="0"/>
              </a:spcAft>
              <a:buNone/>
            </a:pPr>
            <a:r>
              <a:rPr lang="en-GB" sz="1800">
                <a:solidFill>
                  <a:schemeClr val="dk1"/>
                </a:solidFill>
                <a:latin typeface="Calibri"/>
                <a:ea typeface="Calibri"/>
                <a:cs typeface="Calibri"/>
                <a:sym typeface="Calibri"/>
              </a:rPr>
              <a:t>Interactive Implementation</a:t>
            </a:r>
            <a:endParaRPr sz="2227">
              <a:solidFill>
                <a:schemeClr val="dk1"/>
              </a:solidFill>
              <a:latin typeface="Calibri"/>
              <a:ea typeface="Calibri"/>
              <a:cs typeface="Calibri"/>
              <a:sym typeface="Calibri"/>
            </a:endParaRPr>
          </a:p>
        </p:txBody>
      </p:sp>
      <p:sp>
        <p:nvSpPr>
          <p:cNvPr id="249" name="Google Shape;249;p39"/>
          <p:cNvSpPr/>
          <p:nvPr/>
        </p:nvSpPr>
        <p:spPr>
          <a:xfrm rot="3768942">
            <a:off x="1377900" y="2782055"/>
            <a:ext cx="1166893" cy="56285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50" name="Google Shape;250;p39"/>
          <p:cNvSpPr/>
          <p:nvPr/>
        </p:nvSpPr>
        <p:spPr>
          <a:xfrm rot="-4065614">
            <a:off x="3259169" y="2739489"/>
            <a:ext cx="1172310" cy="53348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51" name="Google Shape;251;p39"/>
          <p:cNvSpPr/>
          <p:nvPr/>
        </p:nvSpPr>
        <p:spPr>
          <a:xfrm rot="4249187">
            <a:off x="4957459" y="2724818"/>
            <a:ext cx="1166979" cy="562805"/>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52" name="Google Shape;252;p39"/>
          <p:cNvSpPr/>
          <p:nvPr/>
        </p:nvSpPr>
        <p:spPr>
          <a:xfrm rot="-4183497">
            <a:off x="6900270" y="2782058"/>
            <a:ext cx="1167008" cy="562858"/>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Calibri"/>
              <a:ea typeface="Calibri"/>
              <a:cs typeface="Calibri"/>
              <a:sym typeface="Calibri"/>
            </a:endParaRPr>
          </a:p>
        </p:txBody>
      </p:sp>
      <p:sp>
        <p:nvSpPr>
          <p:cNvPr id="253" name="Google Shape;253;p39"/>
          <p:cNvSpPr/>
          <p:nvPr/>
        </p:nvSpPr>
        <p:spPr>
          <a:xfrm>
            <a:off x="120875" y="1287650"/>
            <a:ext cx="3808200" cy="347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254" name="Google Shape;254;p39"/>
          <p:cNvSpPr/>
          <p:nvPr/>
        </p:nvSpPr>
        <p:spPr>
          <a:xfrm>
            <a:off x="3482275" y="1196600"/>
            <a:ext cx="5661600" cy="3633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255" name="Google Shape;255;p39"/>
          <p:cNvSpPr txBox="1"/>
          <p:nvPr/>
        </p:nvSpPr>
        <p:spPr>
          <a:xfrm>
            <a:off x="1638150" y="901475"/>
            <a:ext cx="557400" cy="484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950">
                <a:solidFill>
                  <a:schemeClr val="dk1"/>
                </a:solidFill>
                <a:latin typeface="Calibri"/>
                <a:ea typeface="Calibri"/>
                <a:cs typeface="Calibri"/>
                <a:sym typeface="Calibri"/>
              </a:rPr>
              <a:t>Q3</a:t>
            </a:r>
            <a:endParaRPr sz="1950">
              <a:solidFill>
                <a:schemeClr val="dk1"/>
              </a:solidFill>
              <a:latin typeface="Calibri"/>
              <a:ea typeface="Calibri"/>
              <a:cs typeface="Calibri"/>
              <a:sym typeface="Calibri"/>
            </a:endParaRPr>
          </a:p>
        </p:txBody>
      </p:sp>
      <p:sp>
        <p:nvSpPr>
          <p:cNvPr id="256" name="Google Shape;256;p39"/>
          <p:cNvSpPr txBox="1"/>
          <p:nvPr/>
        </p:nvSpPr>
        <p:spPr>
          <a:xfrm>
            <a:off x="6034375" y="711800"/>
            <a:ext cx="557400" cy="484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950">
                <a:solidFill>
                  <a:schemeClr val="dk1"/>
                </a:solidFill>
                <a:latin typeface="Calibri"/>
                <a:ea typeface="Calibri"/>
                <a:cs typeface="Calibri"/>
                <a:sym typeface="Calibri"/>
              </a:rPr>
              <a:t>Q4</a:t>
            </a:r>
            <a:endParaRPr sz="195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40"/>
          <p:cNvSpPr txBox="1"/>
          <p:nvPr>
            <p:ph type="title"/>
          </p:nvPr>
        </p:nvSpPr>
        <p:spPr>
          <a:xfrm>
            <a:off x="793800" y="82825"/>
            <a:ext cx="7556400" cy="733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GB"/>
              <a:t>Training pipeline</a:t>
            </a:r>
            <a:endParaRPr/>
          </a:p>
        </p:txBody>
      </p:sp>
      <p:sp>
        <p:nvSpPr>
          <p:cNvPr id="262" name="Google Shape;262;p40"/>
          <p:cNvSpPr/>
          <p:nvPr/>
        </p:nvSpPr>
        <p:spPr>
          <a:xfrm>
            <a:off x="959138"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Constraint set dataset</a:t>
            </a:r>
            <a:endParaRPr sz="1496">
              <a:solidFill>
                <a:schemeClr val="dk1"/>
              </a:solidFill>
              <a:latin typeface="Calibri"/>
              <a:ea typeface="Calibri"/>
              <a:cs typeface="Calibri"/>
              <a:sym typeface="Calibri"/>
            </a:endParaRPr>
          </a:p>
        </p:txBody>
      </p:sp>
      <p:sp>
        <p:nvSpPr>
          <p:cNvPr id="263" name="Google Shape;263;p40"/>
          <p:cNvSpPr/>
          <p:nvPr/>
        </p:nvSpPr>
        <p:spPr>
          <a:xfrm>
            <a:off x="2862426"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Topology generation</a:t>
            </a:r>
            <a:endParaRPr sz="1496">
              <a:solidFill>
                <a:schemeClr val="dk1"/>
              </a:solidFill>
              <a:latin typeface="Calibri"/>
              <a:ea typeface="Calibri"/>
              <a:cs typeface="Calibri"/>
              <a:sym typeface="Calibri"/>
            </a:endParaRPr>
          </a:p>
        </p:txBody>
      </p:sp>
      <p:sp>
        <p:nvSpPr>
          <p:cNvPr id="264" name="Google Shape;264;p40"/>
          <p:cNvSpPr/>
          <p:nvPr/>
        </p:nvSpPr>
        <p:spPr>
          <a:xfrm>
            <a:off x="4723927"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Topology validation</a:t>
            </a:r>
            <a:endParaRPr sz="1496">
              <a:solidFill>
                <a:schemeClr val="dk1"/>
              </a:solidFill>
              <a:latin typeface="Calibri"/>
              <a:ea typeface="Calibri"/>
              <a:cs typeface="Calibri"/>
              <a:sym typeface="Calibri"/>
            </a:endParaRPr>
          </a:p>
        </p:txBody>
      </p:sp>
      <p:sp>
        <p:nvSpPr>
          <p:cNvPr id="265" name="Google Shape;265;p40"/>
          <p:cNvSpPr/>
          <p:nvPr/>
        </p:nvSpPr>
        <p:spPr>
          <a:xfrm>
            <a:off x="6585428"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Topology simulation</a:t>
            </a:r>
            <a:endParaRPr sz="1496">
              <a:solidFill>
                <a:schemeClr val="dk1"/>
              </a:solidFill>
              <a:latin typeface="Calibri"/>
              <a:ea typeface="Calibri"/>
              <a:cs typeface="Calibri"/>
              <a:sym typeface="Calibri"/>
            </a:endParaRPr>
          </a:p>
        </p:txBody>
      </p:sp>
      <p:sp>
        <p:nvSpPr>
          <p:cNvPr id="266" name="Google Shape;266;p40"/>
          <p:cNvSpPr/>
          <p:nvPr/>
        </p:nvSpPr>
        <p:spPr>
          <a:xfrm>
            <a:off x="6534305" y="3544461"/>
            <a:ext cx="14895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Reward function processing</a:t>
            </a:r>
            <a:endParaRPr sz="1496">
              <a:solidFill>
                <a:schemeClr val="dk1"/>
              </a:solidFill>
              <a:latin typeface="Calibri"/>
              <a:ea typeface="Calibri"/>
              <a:cs typeface="Calibri"/>
              <a:sym typeface="Calibri"/>
            </a:endParaRPr>
          </a:p>
        </p:txBody>
      </p:sp>
      <p:sp>
        <p:nvSpPr>
          <p:cNvPr id="267" name="Google Shape;267;p40"/>
          <p:cNvSpPr/>
          <p:nvPr/>
        </p:nvSpPr>
        <p:spPr>
          <a:xfrm>
            <a:off x="2811303" y="3544461"/>
            <a:ext cx="14895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Reinforcement learning loop</a:t>
            </a:r>
            <a:endParaRPr sz="1496">
              <a:solidFill>
                <a:schemeClr val="dk1"/>
              </a:solidFill>
              <a:latin typeface="Calibri"/>
              <a:ea typeface="Calibri"/>
              <a:cs typeface="Calibri"/>
              <a:sym typeface="Calibri"/>
            </a:endParaRPr>
          </a:p>
        </p:txBody>
      </p:sp>
      <p:sp>
        <p:nvSpPr>
          <p:cNvPr id="268" name="Google Shape;268;p40"/>
          <p:cNvSpPr/>
          <p:nvPr/>
        </p:nvSpPr>
        <p:spPr>
          <a:xfrm>
            <a:off x="2811303" y="923708"/>
            <a:ext cx="14895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Supervised fine-tuning</a:t>
            </a:r>
            <a:endParaRPr sz="1496">
              <a:solidFill>
                <a:schemeClr val="dk1"/>
              </a:solidFill>
              <a:latin typeface="Calibri"/>
              <a:ea typeface="Calibri"/>
              <a:cs typeface="Calibri"/>
              <a:sym typeface="Calibri"/>
            </a:endParaRPr>
          </a:p>
        </p:txBody>
      </p:sp>
      <p:sp>
        <p:nvSpPr>
          <p:cNvPr id="269" name="Google Shape;269;p40"/>
          <p:cNvSpPr/>
          <p:nvPr/>
        </p:nvSpPr>
        <p:spPr>
          <a:xfrm>
            <a:off x="4208504" y="2570082"/>
            <a:ext cx="624900" cy="176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70" name="Google Shape;270;p40"/>
          <p:cNvSpPr/>
          <p:nvPr/>
        </p:nvSpPr>
        <p:spPr>
          <a:xfrm>
            <a:off x="5911294" y="2574035"/>
            <a:ext cx="814500" cy="2064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rPr lang="en-GB" sz="1496">
                <a:solidFill>
                  <a:schemeClr val="lt1"/>
                </a:solidFill>
                <a:latin typeface="Calibri"/>
                <a:ea typeface="Calibri"/>
                <a:cs typeface="Calibri"/>
                <a:sym typeface="Calibri"/>
              </a:rPr>
              <a:t>valid</a:t>
            </a:r>
            <a:endParaRPr sz="1496">
              <a:solidFill>
                <a:schemeClr val="lt1"/>
              </a:solidFill>
              <a:latin typeface="Calibri"/>
              <a:ea typeface="Calibri"/>
              <a:cs typeface="Calibri"/>
              <a:sym typeface="Calibri"/>
            </a:endParaRPr>
          </a:p>
        </p:txBody>
      </p:sp>
      <p:sp>
        <p:nvSpPr>
          <p:cNvPr id="271" name="Google Shape;271;p40"/>
          <p:cNvSpPr/>
          <p:nvPr/>
        </p:nvSpPr>
        <p:spPr>
          <a:xfrm rot="5400000">
            <a:off x="7003579" y="3190072"/>
            <a:ext cx="624900" cy="1992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72" name="Google Shape;272;p40"/>
          <p:cNvSpPr/>
          <p:nvPr/>
        </p:nvSpPr>
        <p:spPr>
          <a:xfrm flipH="1">
            <a:off x="4249848" y="3832447"/>
            <a:ext cx="2335500" cy="1341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73" name="Google Shape;273;p40"/>
          <p:cNvSpPr/>
          <p:nvPr/>
        </p:nvSpPr>
        <p:spPr>
          <a:xfrm flipH="1" rot="5400000">
            <a:off x="3134505" y="3182604"/>
            <a:ext cx="745500" cy="146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74" name="Google Shape;274;p40"/>
          <p:cNvSpPr/>
          <p:nvPr/>
        </p:nvSpPr>
        <p:spPr>
          <a:xfrm>
            <a:off x="6585428" y="88863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rtl="0" algn="l">
              <a:spcBef>
                <a:spcPts val="0"/>
              </a:spcBef>
              <a:spcAft>
                <a:spcPts val="0"/>
              </a:spcAft>
              <a:buNone/>
            </a:pPr>
            <a:r>
              <a:rPr lang="en-GB" sz="1496">
                <a:solidFill>
                  <a:schemeClr val="dk1"/>
                </a:solidFill>
                <a:latin typeface="Calibri"/>
                <a:ea typeface="Calibri"/>
                <a:cs typeface="Calibri"/>
                <a:sym typeface="Calibri"/>
              </a:rPr>
              <a:t>Dataset Expansion</a:t>
            </a:r>
            <a:endParaRPr sz="1496">
              <a:solidFill>
                <a:schemeClr val="dk1"/>
              </a:solidFill>
              <a:latin typeface="Calibri"/>
              <a:ea typeface="Calibri"/>
              <a:cs typeface="Calibri"/>
              <a:sym typeface="Calibri"/>
            </a:endParaRPr>
          </a:p>
        </p:txBody>
      </p:sp>
      <p:sp>
        <p:nvSpPr>
          <p:cNvPr id="275" name="Google Shape;275;p40"/>
          <p:cNvSpPr/>
          <p:nvPr/>
        </p:nvSpPr>
        <p:spPr>
          <a:xfrm flipH="1" rot="5400000">
            <a:off x="6863185" y="1834034"/>
            <a:ext cx="905700" cy="194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76" name="Google Shape;276;p40"/>
          <p:cNvSpPr/>
          <p:nvPr/>
        </p:nvSpPr>
        <p:spPr>
          <a:xfrm flipH="1">
            <a:off x="4166244" y="1154668"/>
            <a:ext cx="2502600" cy="1341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77" name="Google Shape;277;p40"/>
          <p:cNvSpPr/>
          <p:nvPr/>
        </p:nvSpPr>
        <p:spPr>
          <a:xfrm flipH="1" rot="-2699189">
            <a:off x="4071066" y="3175131"/>
            <a:ext cx="899652" cy="229103"/>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rPr lang="en-GB" sz="1496">
                <a:solidFill>
                  <a:schemeClr val="lt1"/>
                </a:solidFill>
                <a:latin typeface="Calibri"/>
                <a:ea typeface="Calibri"/>
                <a:cs typeface="Calibri"/>
                <a:sym typeface="Calibri"/>
              </a:rPr>
              <a:t>invalid</a:t>
            </a:r>
            <a:endParaRPr sz="1496">
              <a:solidFill>
                <a:schemeClr val="lt1"/>
              </a:solidFill>
              <a:latin typeface="Calibri"/>
              <a:ea typeface="Calibri"/>
              <a:cs typeface="Calibri"/>
              <a:sym typeface="Calibri"/>
            </a:endParaRPr>
          </a:p>
        </p:txBody>
      </p:sp>
      <p:sp>
        <p:nvSpPr>
          <p:cNvPr id="278" name="Google Shape;278;p40"/>
          <p:cNvSpPr/>
          <p:nvPr/>
        </p:nvSpPr>
        <p:spPr>
          <a:xfrm rot="-2885783">
            <a:off x="5760615" y="1802139"/>
            <a:ext cx="1131042" cy="258979"/>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rPr lang="en-GB" sz="1496">
                <a:solidFill>
                  <a:schemeClr val="lt1"/>
                </a:solidFill>
                <a:latin typeface="Calibri"/>
                <a:ea typeface="Calibri"/>
                <a:cs typeface="Calibri"/>
                <a:sym typeface="Calibri"/>
              </a:rPr>
              <a:t>invalid</a:t>
            </a:r>
            <a:endParaRPr sz="1496">
              <a:solidFill>
                <a:schemeClr val="lt1"/>
              </a:solidFill>
              <a:latin typeface="Calibri"/>
              <a:ea typeface="Calibri"/>
              <a:cs typeface="Calibri"/>
              <a:sym typeface="Calibri"/>
            </a:endParaRPr>
          </a:p>
        </p:txBody>
      </p:sp>
      <p:sp>
        <p:nvSpPr>
          <p:cNvPr id="279" name="Google Shape;279;p40"/>
          <p:cNvSpPr/>
          <p:nvPr/>
        </p:nvSpPr>
        <p:spPr>
          <a:xfrm>
            <a:off x="2297454" y="2588882"/>
            <a:ext cx="624900" cy="176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rtl="0" algn="ctr">
              <a:spcBef>
                <a:spcPts val="0"/>
              </a:spcBef>
              <a:spcAft>
                <a:spcPts val="0"/>
              </a:spcAft>
              <a:buNone/>
            </a:pPr>
            <a:r>
              <a:t/>
            </a:r>
            <a:endParaRPr sz="1496">
              <a:solidFill>
                <a:schemeClr val="lt1"/>
              </a:solidFill>
              <a:latin typeface="Calibri"/>
              <a:ea typeface="Calibri"/>
              <a:cs typeface="Calibri"/>
              <a:sym typeface="Calibri"/>
            </a:endParaRPr>
          </a:p>
        </p:txBody>
      </p:sp>
      <p:sp>
        <p:nvSpPr>
          <p:cNvPr id="280" name="Google Shape;280;p40"/>
          <p:cNvSpPr/>
          <p:nvPr/>
        </p:nvSpPr>
        <p:spPr>
          <a:xfrm>
            <a:off x="3196788" y="1961850"/>
            <a:ext cx="718524" cy="307638"/>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1700">
                <a:solidFill>
                  <a:schemeClr val="lt1"/>
                </a:solidFill>
                <a:latin typeface="Calibri"/>
                <a:ea typeface="Calibri"/>
                <a:cs typeface="Calibri"/>
                <a:sym typeface="Calibri"/>
              </a:rPr>
              <a:t>LLM</a:t>
            </a:r>
            <a:endParaRPr sz="1700">
              <a:solidFill>
                <a:schemeClr val="lt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1"/>
          <p:cNvSpPr txBox="1"/>
          <p:nvPr/>
        </p:nvSpPr>
        <p:spPr>
          <a:xfrm>
            <a:off x="956100" y="2725800"/>
            <a:ext cx="7231800" cy="1754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700">
                <a:solidFill>
                  <a:schemeClr val="dk1"/>
                </a:solidFill>
              </a:rPr>
              <a:t>A constraint set, in the form of a json will be delivered as an input to a LLM that generates a an adjustable number of topologies in the form of a SPICE netlist (.net).</a:t>
            </a:r>
            <a:endParaRPr sz="1700">
              <a:solidFill>
                <a:schemeClr val="dk1"/>
              </a:solidFill>
            </a:endParaRPr>
          </a:p>
          <a:p>
            <a:pPr indent="0" lvl="0" marL="0" rtl="0" algn="l">
              <a:spcBef>
                <a:spcPts val="0"/>
              </a:spcBef>
              <a:spcAft>
                <a:spcPts val="0"/>
              </a:spcAft>
              <a:buNone/>
            </a:pPr>
            <a:r>
              <a:t/>
            </a:r>
            <a:endParaRPr sz="1700">
              <a:solidFill>
                <a:schemeClr val="dk1"/>
              </a:solidFill>
            </a:endParaRPr>
          </a:p>
          <a:p>
            <a:pPr indent="0" lvl="0" marL="0" rtl="0" algn="l">
              <a:spcBef>
                <a:spcPts val="0"/>
              </a:spcBef>
              <a:spcAft>
                <a:spcPts val="0"/>
              </a:spcAft>
              <a:buNone/>
            </a:pPr>
            <a:r>
              <a:rPr lang="en-GB" sz="1700">
                <a:solidFill>
                  <a:schemeClr val="dk1"/>
                </a:solidFill>
              </a:rPr>
              <a:t>These netlists go through a validation process to classify hallucinations and actual working topologies.</a:t>
            </a:r>
            <a:endParaRPr sz="1700">
              <a:solidFill>
                <a:schemeClr val="dk1"/>
              </a:solidFill>
            </a:endParaRPr>
          </a:p>
        </p:txBody>
      </p:sp>
      <p:sp>
        <p:nvSpPr>
          <p:cNvPr id="286" name="Google Shape;286;p41"/>
          <p:cNvSpPr/>
          <p:nvPr/>
        </p:nvSpPr>
        <p:spPr>
          <a:xfrm>
            <a:off x="2138362" y="1393987"/>
            <a:ext cx="9561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Constraint set dataset</a:t>
            </a:r>
            <a:endParaRPr sz="1031">
              <a:solidFill>
                <a:schemeClr val="dk1"/>
              </a:solidFill>
              <a:latin typeface="Calibri"/>
              <a:ea typeface="Calibri"/>
              <a:cs typeface="Calibri"/>
              <a:sym typeface="Calibri"/>
            </a:endParaRPr>
          </a:p>
        </p:txBody>
      </p:sp>
      <p:sp>
        <p:nvSpPr>
          <p:cNvPr id="287" name="Google Shape;287;p41"/>
          <p:cNvSpPr/>
          <p:nvPr/>
        </p:nvSpPr>
        <p:spPr>
          <a:xfrm>
            <a:off x="3449726" y="1393987"/>
            <a:ext cx="9561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generation</a:t>
            </a:r>
            <a:endParaRPr sz="1031">
              <a:solidFill>
                <a:schemeClr val="dk1"/>
              </a:solidFill>
              <a:latin typeface="Calibri"/>
              <a:ea typeface="Calibri"/>
              <a:cs typeface="Calibri"/>
              <a:sym typeface="Calibri"/>
            </a:endParaRPr>
          </a:p>
        </p:txBody>
      </p:sp>
      <p:sp>
        <p:nvSpPr>
          <p:cNvPr id="288" name="Google Shape;288;p41"/>
          <p:cNvSpPr/>
          <p:nvPr/>
        </p:nvSpPr>
        <p:spPr>
          <a:xfrm>
            <a:off x="4732299" y="1393987"/>
            <a:ext cx="9561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validation</a:t>
            </a:r>
            <a:endParaRPr sz="1031">
              <a:solidFill>
                <a:schemeClr val="dk1"/>
              </a:solidFill>
              <a:latin typeface="Calibri"/>
              <a:ea typeface="Calibri"/>
              <a:cs typeface="Calibri"/>
              <a:sym typeface="Calibri"/>
            </a:endParaRPr>
          </a:p>
        </p:txBody>
      </p:sp>
      <p:sp>
        <p:nvSpPr>
          <p:cNvPr id="289" name="Google Shape;289;p41"/>
          <p:cNvSpPr/>
          <p:nvPr/>
        </p:nvSpPr>
        <p:spPr>
          <a:xfrm>
            <a:off x="6014872"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simulation</a:t>
            </a:r>
            <a:endParaRPr sz="1031">
              <a:solidFill>
                <a:schemeClr val="dk1"/>
              </a:solidFill>
              <a:latin typeface="Calibri"/>
              <a:ea typeface="Calibri"/>
              <a:cs typeface="Calibri"/>
              <a:sym typeface="Calibri"/>
            </a:endParaRPr>
          </a:p>
        </p:txBody>
      </p:sp>
      <p:sp>
        <p:nvSpPr>
          <p:cNvPr id="290" name="Google Shape;290;p41"/>
          <p:cNvSpPr/>
          <p:nvPr/>
        </p:nvSpPr>
        <p:spPr>
          <a:xfrm>
            <a:off x="5979649" y="2236190"/>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Reward function processing</a:t>
            </a:r>
            <a:endParaRPr sz="1031">
              <a:solidFill>
                <a:schemeClr val="dk1"/>
              </a:solidFill>
              <a:latin typeface="Calibri"/>
              <a:ea typeface="Calibri"/>
              <a:cs typeface="Calibri"/>
              <a:sym typeface="Calibri"/>
            </a:endParaRPr>
          </a:p>
        </p:txBody>
      </p:sp>
      <p:sp>
        <p:nvSpPr>
          <p:cNvPr id="291" name="Google Shape;291;p41"/>
          <p:cNvSpPr/>
          <p:nvPr/>
        </p:nvSpPr>
        <p:spPr>
          <a:xfrm>
            <a:off x="3414503" y="2236190"/>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Reinforcement learning loop</a:t>
            </a:r>
            <a:endParaRPr sz="1031">
              <a:solidFill>
                <a:schemeClr val="dk1"/>
              </a:solidFill>
              <a:latin typeface="Calibri"/>
              <a:ea typeface="Calibri"/>
              <a:cs typeface="Calibri"/>
              <a:sym typeface="Calibri"/>
            </a:endParaRPr>
          </a:p>
        </p:txBody>
      </p:sp>
      <p:sp>
        <p:nvSpPr>
          <p:cNvPr id="292" name="Google Shape;292;p41"/>
          <p:cNvSpPr/>
          <p:nvPr/>
        </p:nvSpPr>
        <p:spPr>
          <a:xfrm>
            <a:off x="3414503" y="430488"/>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Supervised fine-tuning</a:t>
            </a:r>
            <a:endParaRPr sz="1031">
              <a:solidFill>
                <a:schemeClr val="dk1"/>
              </a:solidFill>
              <a:latin typeface="Calibri"/>
              <a:ea typeface="Calibri"/>
              <a:cs typeface="Calibri"/>
              <a:sym typeface="Calibri"/>
            </a:endParaRPr>
          </a:p>
        </p:txBody>
      </p:sp>
      <p:sp>
        <p:nvSpPr>
          <p:cNvPr id="293" name="Google Shape;293;p41"/>
          <p:cNvSpPr/>
          <p:nvPr/>
        </p:nvSpPr>
        <p:spPr>
          <a:xfrm>
            <a:off x="4377173" y="1564842"/>
            <a:ext cx="430500" cy="121800"/>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294" name="Google Shape;294;p41"/>
          <p:cNvSpPr/>
          <p:nvPr/>
        </p:nvSpPr>
        <p:spPr>
          <a:xfrm>
            <a:off x="5550394" y="1567566"/>
            <a:ext cx="561000" cy="1422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valid</a:t>
            </a:r>
            <a:endParaRPr sz="1031">
              <a:solidFill>
                <a:schemeClr val="lt1"/>
              </a:solidFill>
              <a:latin typeface="Calibri"/>
              <a:ea typeface="Calibri"/>
              <a:cs typeface="Calibri"/>
              <a:sym typeface="Calibri"/>
            </a:endParaRPr>
          </a:p>
        </p:txBody>
      </p:sp>
      <p:sp>
        <p:nvSpPr>
          <p:cNvPr id="295" name="Google Shape;295;p41"/>
          <p:cNvSpPr/>
          <p:nvPr/>
        </p:nvSpPr>
        <p:spPr>
          <a:xfrm rot="5400000">
            <a:off x="6303080" y="1992062"/>
            <a:ext cx="430500" cy="137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296" name="Google Shape;296;p41"/>
          <p:cNvSpPr/>
          <p:nvPr/>
        </p:nvSpPr>
        <p:spPr>
          <a:xfrm flipH="1">
            <a:off x="4405317" y="2434614"/>
            <a:ext cx="1609500" cy="927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297" name="Google Shape;297;p41"/>
          <p:cNvSpPr/>
          <p:nvPr/>
        </p:nvSpPr>
        <p:spPr>
          <a:xfrm flipH="1" rot="5400000">
            <a:off x="3637201" y="1986884"/>
            <a:ext cx="513600" cy="101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298" name="Google Shape;298;p41"/>
          <p:cNvSpPr/>
          <p:nvPr/>
        </p:nvSpPr>
        <p:spPr>
          <a:xfrm>
            <a:off x="6014872" y="406325"/>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Dat</a:t>
            </a:r>
            <a:r>
              <a:rPr lang="en-GB" sz="1031">
                <a:solidFill>
                  <a:schemeClr val="dk1"/>
                </a:solidFill>
                <a:latin typeface="Calibri"/>
                <a:ea typeface="Calibri"/>
                <a:cs typeface="Calibri"/>
                <a:sym typeface="Calibri"/>
              </a:rPr>
              <a:t>aset </a:t>
            </a:r>
            <a:r>
              <a:rPr lang="en-GB" sz="1031">
                <a:solidFill>
                  <a:schemeClr val="dk1"/>
                </a:solidFill>
                <a:latin typeface="Calibri"/>
                <a:ea typeface="Calibri"/>
                <a:cs typeface="Calibri"/>
                <a:sym typeface="Calibri"/>
              </a:rPr>
              <a:t>Expansion</a:t>
            </a:r>
            <a:endParaRPr sz="1031">
              <a:solidFill>
                <a:schemeClr val="dk1"/>
              </a:solidFill>
              <a:latin typeface="Calibri"/>
              <a:ea typeface="Calibri"/>
              <a:cs typeface="Calibri"/>
              <a:sym typeface="Calibri"/>
            </a:endParaRPr>
          </a:p>
        </p:txBody>
      </p:sp>
      <p:sp>
        <p:nvSpPr>
          <p:cNvPr id="299" name="Google Shape;299;p41"/>
          <p:cNvSpPr/>
          <p:nvPr/>
        </p:nvSpPr>
        <p:spPr>
          <a:xfrm flipH="1" rot="5400000">
            <a:off x="6206134" y="1057593"/>
            <a:ext cx="624300" cy="134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00" name="Google Shape;300;p41"/>
          <p:cNvSpPr/>
          <p:nvPr/>
        </p:nvSpPr>
        <p:spPr>
          <a:xfrm flipH="1">
            <a:off x="4348246" y="589621"/>
            <a:ext cx="1724100" cy="927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01" name="Google Shape;301;p41"/>
          <p:cNvSpPr/>
          <p:nvPr/>
        </p:nvSpPr>
        <p:spPr>
          <a:xfrm flipH="1" rot="-2698823">
            <a:off x="4282636" y="1981623"/>
            <a:ext cx="619638" cy="157826"/>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02" name="Google Shape;302;p41"/>
          <p:cNvSpPr/>
          <p:nvPr/>
        </p:nvSpPr>
        <p:spPr>
          <a:xfrm rot="-2885391">
            <a:off x="5446615" y="1035839"/>
            <a:ext cx="779233" cy="178658"/>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03" name="Google Shape;303;p41"/>
          <p:cNvSpPr/>
          <p:nvPr/>
        </p:nvSpPr>
        <p:spPr>
          <a:xfrm>
            <a:off x="3060461" y="1577795"/>
            <a:ext cx="430500" cy="121800"/>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04" name="Google Shape;304;p41"/>
          <p:cNvSpPr/>
          <p:nvPr/>
        </p:nvSpPr>
        <p:spPr>
          <a:xfrm>
            <a:off x="3680101" y="1145770"/>
            <a:ext cx="495072" cy="212004"/>
          </a:xfrm>
          <a:prstGeom prst="flowChartTerminator">
            <a:avLst/>
          </a:prstGeom>
          <a:solidFill>
            <a:srgbClr val="6AA84F"/>
          </a:solidFill>
          <a:ln cap="flat" cmpd="sng" w="6550">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rtl="0" algn="ctr">
              <a:spcBef>
                <a:spcPts val="0"/>
              </a:spcBef>
              <a:spcAft>
                <a:spcPts val="0"/>
              </a:spcAft>
              <a:buNone/>
            </a:pPr>
            <a:r>
              <a:rPr lang="en-GB" sz="1171">
                <a:solidFill>
                  <a:schemeClr val="lt1"/>
                </a:solidFill>
                <a:latin typeface="Calibri"/>
                <a:ea typeface="Calibri"/>
                <a:cs typeface="Calibri"/>
                <a:sym typeface="Calibri"/>
              </a:rPr>
              <a:t>LLM</a:t>
            </a:r>
            <a:endParaRPr sz="1171">
              <a:solidFill>
                <a:schemeClr val="lt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42"/>
          <p:cNvSpPr txBox="1"/>
          <p:nvPr/>
        </p:nvSpPr>
        <p:spPr>
          <a:xfrm>
            <a:off x="956100" y="2725800"/>
            <a:ext cx="7231800" cy="2277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700">
                <a:solidFill>
                  <a:schemeClr val="dk1"/>
                </a:solidFill>
              </a:rPr>
              <a:t>Valid or invalid based on pre-simulation hard constraints:</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syntax, floating nodes, </a:t>
            </a:r>
            <a:r>
              <a:rPr lang="en-GB" sz="1700">
                <a:solidFill>
                  <a:schemeClr val="dk1"/>
                </a:solidFill>
              </a:rPr>
              <a:t>short circuits, etc</a:t>
            </a:r>
            <a:endParaRPr sz="1700">
              <a:solidFill>
                <a:schemeClr val="dk1"/>
              </a:solidFill>
            </a:endParaRPr>
          </a:p>
          <a:p>
            <a:pPr indent="0" lvl="0" marL="0" rtl="0" algn="l">
              <a:spcBef>
                <a:spcPts val="0"/>
              </a:spcBef>
              <a:spcAft>
                <a:spcPts val="0"/>
              </a:spcAft>
              <a:buNone/>
            </a:pPr>
            <a:r>
              <a:t/>
            </a:r>
            <a:endParaRPr sz="1700">
              <a:solidFill>
                <a:schemeClr val="dk1"/>
              </a:solidFill>
            </a:endParaRPr>
          </a:p>
          <a:p>
            <a:pPr indent="0" lvl="0" marL="0" rtl="0" algn="l">
              <a:spcBef>
                <a:spcPts val="0"/>
              </a:spcBef>
              <a:spcAft>
                <a:spcPts val="0"/>
              </a:spcAft>
              <a:buNone/>
            </a:pPr>
            <a:r>
              <a:rPr lang="en-GB" sz="1700">
                <a:solidFill>
                  <a:schemeClr val="dk1"/>
                </a:solidFill>
              </a:rPr>
              <a:t>Valid topologies are simulated through LTSpice. Invalid topologies are augmented to a netlist validation class dataset. </a:t>
            </a:r>
            <a:endParaRPr sz="1700">
              <a:solidFill>
                <a:schemeClr val="dk1"/>
              </a:solidFill>
            </a:endParaRPr>
          </a:p>
          <a:p>
            <a:pPr indent="0" lvl="0" marL="0" rtl="0" algn="l">
              <a:spcBef>
                <a:spcPts val="0"/>
              </a:spcBef>
              <a:spcAft>
                <a:spcPts val="0"/>
              </a:spcAft>
              <a:buNone/>
            </a:pPr>
            <a:r>
              <a:t/>
            </a:r>
            <a:endParaRPr sz="1700">
              <a:solidFill>
                <a:schemeClr val="dk1"/>
              </a:solidFill>
            </a:endParaRPr>
          </a:p>
          <a:p>
            <a:pPr indent="0" lvl="0" marL="0" rtl="0" algn="l">
              <a:spcBef>
                <a:spcPts val="0"/>
              </a:spcBef>
              <a:spcAft>
                <a:spcPts val="0"/>
              </a:spcAft>
              <a:buNone/>
            </a:pPr>
            <a:r>
              <a:rPr lang="en-GB" sz="1700">
                <a:solidFill>
                  <a:schemeClr val="dk1"/>
                </a:solidFill>
              </a:rPr>
              <a:t>The validation algorithm may not work perfectly, thus the simulation process may fail for false positive cases (invalid classified as valid). </a:t>
            </a:r>
            <a:endParaRPr sz="1700">
              <a:solidFill>
                <a:schemeClr val="dk1"/>
              </a:solidFill>
            </a:endParaRPr>
          </a:p>
        </p:txBody>
      </p:sp>
      <p:sp>
        <p:nvSpPr>
          <p:cNvPr id="310" name="Google Shape;310;p42"/>
          <p:cNvSpPr/>
          <p:nvPr/>
        </p:nvSpPr>
        <p:spPr>
          <a:xfrm>
            <a:off x="2138362"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Constraint set dataset</a:t>
            </a:r>
            <a:endParaRPr sz="1031">
              <a:solidFill>
                <a:schemeClr val="dk1"/>
              </a:solidFill>
              <a:latin typeface="Calibri"/>
              <a:ea typeface="Calibri"/>
              <a:cs typeface="Calibri"/>
              <a:sym typeface="Calibri"/>
            </a:endParaRPr>
          </a:p>
        </p:txBody>
      </p:sp>
      <p:sp>
        <p:nvSpPr>
          <p:cNvPr id="311" name="Google Shape;311;p42"/>
          <p:cNvSpPr/>
          <p:nvPr/>
        </p:nvSpPr>
        <p:spPr>
          <a:xfrm>
            <a:off x="3449726"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Topology </a:t>
            </a:r>
            <a:r>
              <a:rPr lang="en-GB" sz="1031">
                <a:solidFill>
                  <a:schemeClr val="dk1"/>
                </a:solidFill>
                <a:latin typeface="Calibri"/>
                <a:ea typeface="Calibri"/>
                <a:cs typeface="Calibri"/>
                <a:sym typeface="Calibri"/>
              </a:rPr>
              <a:t>generation</a:t>
            </a:r>
            <a:endParaRPr sz="1031">
              <a:solidFill>
                <a:schemeClr val="dk1"/>
              </a:solidFill>
              <a:latin typeface="Calibri"/>
              <a:ea typeface="Calibri"/>
              <a:cs typeface="Calibri"/>
              <a:sym typeface="Calibri"/>
            </a:endParaRPr>
          </a:p>
        </p:txBody>
      </p:sp>
      <p:sp>
        <p:nvSpPr>
          <p:cNvPr id="312" name="Google Shape;312;p42"/>
          <p:cNvSpPr/>
          <p:nvPr/>
        </p:nvSpPr>
        <p:spPr>
          <a:xfrm>
            <a:off x="4732299" y="1393987"/>
            <a:ext cx="9561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validation</a:t>
            </a:r>
            <a:endParaRPr sz="1031">
              <a:solidFill>
                <a:schemeClr val="dk1"/>
              </a:solidFill>
              <a:latin typeface="Calibri"/>
              <a:ea typeface="Calibri"/>
              <a:cs typeface="Calibri"/>
              <a:sym typeface="Calibri"/>
            </a:endParaRPr>
          </a:p>
        </p:txBody>
      </p:sp>
      <p:sp>
        <p:nvSpPr>
          <p:cNvPr id="313" name="Google Shape;313;p42"/>
          <p:cNvSpPr/>
          <p:nvPr/>
        </p:nvSpPr>
        <p:spPr>
          <a:xfrm>
            <a:off x="6014872" y="1393987"/>
            <a:ext cx="9561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simulation</a:t>
            </a:r>
            <a:endParaRPr sz="1031">
              <a:solidFill>
                <a:schemeClr val="dk1"/>
              </a:solidFill>
              <a:latin typeface="Calibri"/>
              <a:ea typeface="Calibri"/>
              <a:cs typeface="Calibri"/>
              <a:sym typeface="Calibri"/>
            </a:endParaRPr>
          </a:p>
        </p:txBody>
      </p:sp>
      <p:sp>
        <p:nvSpPr>
          <p:cNvPr id="314" name="Google Shape;314;p42"/>
          <p:cNvSpPr/>
          <p:nvPr/>
        </p:nvSpPr>
        <p:spPr>
          <a:xfrm>
            <a:off x="5979649" y="2236190"/>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Reward function processing</a:t>
            </a:r>
            <a:endParaRPr sz="1031">
              <a:solidFill>
                <a:schemeClr val="dk1"/>
              </a:solidFill>
              <a:latin typeface="Calibri"/>
              <a:ea typeface="Calibri"/>
              <a:cs typeface="Calibri"/>
              <a:sym typeface="Calibri"/>
            </a:endParaRPr>
          </a:p>
        </p:txBody>
      </p:sp>
      <p:sp>
        <p:nvSpPr>
          <p:cNvPr id="315" name="Google Shape;315;p42"/>
          <p:cNvSpPr/>
          <p:nvPr/>
        </p:nvSpPr>
        <p:spPr>
          <a:xfrm>
            <a:off x="3414503" y="2236190"/>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Reinforcement learning loop</a:t>
            </a:r>
            <a:endParaRPr sz="1031">
              <a:solidFill>
                <a:schemeClr val="dk1"/>
              </a:solidFill>
              <a:latin typeface="Calibri"/>
              <a:ea typeface="Calibri"/>
              <a:cs typeface="Calibri"/>
              <a:sym typeface="Calibri"/>
            </a:endParaRPr>
          </a:p>
        </p:txBody>
      </p:sp>
      <p:sp>
        <p:nvSpPr>
          <p:cNvPr id="316" name="Google Shape;316;p42"/>
          <p:cNvSpPr/>
          <p:nvPr/>
        </p:nvSpPr>
        <p:spPr>
          <a:xfrm>
            <a:off x="3414503" y="430488"/>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Supervised fine-tuning</a:t>
            </a:r>
            <a:endParaRPr sz="1031">
              <a:solidFill>
                <a:schemeClr val="dk1"/>
              </a:solidFill>
              <a:latin typeface="Calibri"/>
              <a:ea typeface="Calibri"/>
              <a:cs typeface="Calibri"/>
              <a:sym typeface="Calibri"/>
            </a:endParaRPr>
          </a:p>
        </p:txBody>
      </p:sp>
      <p:sp>
        <p:nvSpPr>
          <p:cNvPr id="317" name="Google Shape;317;p42"/>
          <p:cNvSpPr/>
          <p:nvPr/>
        </p:nvSpPr>
        <p:spPr>
          <a:xfrm>
            <a:off x="4377173" y="1564842"/>
            <a:ext cx="430500" cy="1218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None/>
            </a:pPr>
            <a:r>
              <a:t/>
            </a:r>
            <a:endParaRPr sz="1031">
              <a:solidFill>
                <a:schemeClr val="lt1"/>
              </a:solidFill>
              <a:latin typeface="Calibri"/>
              <a:ea typeface="Calibri"/>
              <a:cs typeface="Calibri"/>
              <a:sym typeface="Calibri"/>
            </a:endParaRPr>
          </a:p>
        </p:txBody>
      </p:sp>
      <p:sp>
        <p:nvSpPr>
          <p:cNvPr id="318" name="Google Shape;318;p42"/>
          <p:cNvSpPr/>
          <p:nvPr/>
        </p:nvSpPr>
        <p:spPr>
          <a:xfrm>
            <a:off x="5550394" y="1567566"/>
            <a:ext cx="561000" cy="142200"/>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valid</a:t>
            </a:r>
            <a:endParaRPr sz="1031">
              <a:solidFill>
                <a:schemeClr val="lt1"/>
              </a:solidFill>
              <a:latin typeface="Calibri"/>
              <a:ea typeface="Calibri"/>
              <a:cs typeface="Calibri"/>
              <a:sym typeface="Calibri"/>
            </a:endParaRPr>
          </a:p>
        </p:txBody>
      </p:sp>
      <p:sp>
        <p:nvSpPr>
          <p:cNvPr id="319" name="Google Shape;319;p42"/>
          <p:cNvSpPr/>
          <p:nvPr/>
        </p:nvSpPr>
        <p:spPr>
          <a:xfrm rot="5400000">
            <a:off x="6303080" y="1992062"/>
            <a:ext cx="430500" cy="137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20" name="Google Shape;320;p42"/>
          <p:cNvSpPr/>
          <p:nvPr/>
        </p:nvSpPr>
        <p:spPr>
          <a:xfrm flipH="1">
            <a:off x="4405317" y="2434614"/>
            <a:ext cx="1609500" cy="927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21" name="Google Shape;321;p42"/>
          <p:cNvSpPr/>
          <p:nvPr/>
        </p:nvSpPr>
        <p:spPr>
          <a:xfrm flipH="1" rot="5400000">
            <a:off x="3637201" y="1986884"/>
            <a:ext cx="513600" cy="101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22" name="Google Shape;322;p42"/>
          <p:cNvSpPr/>
          <p:nvPr/>
        </p:nvSpPr>
        <p:spPr>
          <a:xfrm>
            <a:off x="6014872" y="406325"/>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Dataset Expansion</a:t>
            </a:r>
            <a:endParaRPr sz="1031">
              <a:solidFill>
                <a:schemeClr val="dk1"/>
              </a:solidFill>
              <a:latin typeface="Calibri"/>
              <a:ea typeface="Calibri"/>
              <a:cs typeface="Calibri"/>
              <a:sym typeface="Calibri"/>
            </a:endParaRPr>
          </a:p>
        </p:txBody>
      </p:sp>
      <p:sp>
        <p:nvSpPr>
          <p:cNvPr id="323" name="Google Shape;323;p42"/>
          <p:cNvSpPr/>
          <p:nvPr/>
        </p:nvSpPr>
        <p:spPr>
          <a:xfrm flipH="1" rot="5400000">
            <a:off x="6206134" y="1057593"/>
            <a:ext cx="624300" cy="134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24" name="Google Shape;324;p42"/>
          <p:cNvSpPr/>
          <p:nvPr/>
        </p:nvSpPr>
        <p:spPr>
          <a:xfrm flipH="1">
            <a:off x="4348246" y="589621"/>
            <a:ext cx="1724100" cy="927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25" name="Google Shape;325;p42"/>
          <p:cNvSpPr/>
          <p:nvPr/>
        </p:nvSpPr>
        <p:spPr>
          <a:xfrm flipH="1" rot="-2698823">
            <a:off x="4282636" y="1981623"/>
            <a:ext cx="619638" cy="157826"/>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26" name="Google Shape;326;p42"/>
          <p:cNvSpPr/>
          <p:nvPr/>
        </p:nvSpPr>
        <p:spPr>
          <a:xfrm rot="-2885391">
            <a:off x="5446615" y="1035839"/>
            <a:ext cx="779233" cy="178658"/>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27" name="Google Shape;327;p42"/>
          <p:cNvSpPr/>
          <p:nvPr/>
        </p:nvSpPr>
        <p:spPr>
          <a:xfrm>
            <a:off x="3060461" y="1577795"/>
            <a:ext cx="430500" cy="1218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None/>
            </a:pPr>
            <a:r>
              <a:t/>
            </a:r>
            <a:endParaRPr sz="1031">
              <a:solidFill>
                <a:schemeClr val="lt1"/>
              </a:solidFill>
              <a:latin typeface="Calibri"/>
              <a:ea typeface="Calibri"/>
              <a:cs typeface="Calibri"/>
              <a:sym typeface="Calibri"/>
            </a:endParaRPr>
          </a:p>
        </p:txBody>
      </p:sp>
      <p:sp>
        <p:nvSpPr>
          <p:cNvPr id="328" name="Google Shape;328;p42"/>
          <p:cNvSpPr/>
          <p:nvPr/>
        </p:nvSpPr>
        <p:spPr>
          <a:xfrm>
            <a:off x="3680101" y="1145770"/>
            <a:ext cx="495072" cy="212004"/>
          </a:xfrm>
          <a:prstGeom prst="flowChartTerminator">
            <a:avLst/>
          </a:prstGeom>
          <a:solidFill>
            <a:schemeClr val="lt2"/>
          </a:solidFill>
          <a:ln cap="flat" cmpd="sng" w="7000">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None/>
            </a:pPr>
            <a:r>
              <a:rPr lang="en-GB" sz="1031">
                <a:solidFill>
                  <a:schemeClr val="lt1"/>
                </a:solidFill>
                <a:latin typeface="Calibri"/>
                <a:ea typeface="Calibri"/>
                <a:cs typeface="Calibri"/>
                <a:sym typeface="Calibri"/>
              </a:rPr>
              <a:t>LLM</a:t>
            </a:r>
            <a:endParaRPr sz="1171">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43"/>
          <p:cNvSpPr txBox="1"/>
          <p:nvPr/>
        </p:nvSpPr>
        <p:spPr>
          <a:xfrm>
            <a:off x="975500" y="2898350"/>
            <a:ext cx="3465000" cy="1231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700">
                <a:solidFill>
                  <a:schemeClr val="dk1"/>
                </a:solidFill>
              </a:rPr>
              <a:t>Reward function based on:</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Hard constraints</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Area estimate</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Efficiency</a:t>
            </a:r>
            <a:endParaRPr sz="1700">
              <a:solidFill>
                <a:schemeClr val="dk1"/>
              </a:solidFill>
            </a:endParaRPr>
          </a:p>
        </p:txBody>
      </p:sp>
      <p:sp>
        <p:nvSpPr>
          <p:cNvPr id="334" name="Google Shape;334;p43"/>
          <p:cNvSpPr txBox="1"/>
          <p:nvPr/>
        </p:nvSpPr>
        <p:spPr>
          <a:xfrm>
            <a:off x="4440500" y="2898350"/>
            <a:ext cx="3931500" cy="1231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700">
                <a:solidFill>
                  <a:schemeClr val="dk1"/>
                </a:solidFill>
              </a:rPr>
              <a:t>Reinforcement learning</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Aggregate reward signals</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Policy update via batched learning</a:t>
            </a:r>
            <a:endParaRPr sz="1700">
              <a:solidFill>
                <a:schemeClr val="dk1"/>
              </a:solidFill>
            </a:endParaRPr>
          </a:p>
          <a:p>
            <a:pPr indent="-336550" lvl="0" marL="457200" rtl="0" algn="l">
              <a:spcBef>
                <a:spcPts val="0"/>
              </a:spcBef>
              <a:spcAft>
                <a:spcPts val="0"/>
              </a:spcAft>
              <a:buClr>
                <a:schemeClr val="dk1"/>
              </a:buClr>
              <a:buSzPts val="1700"/>
              <a:buChar char="-"/>
            </a:pPr>
            <a:r>
              <a:rPr lang="en-GB" sz="1700">
                <a:solidFill>
                  <a:schemeClr val="dk1"/>
                </a:solidFill>
              </a:rPr>
              <a:t>Guide future topology generation</a:t>
            </a:r>
            <a:endParaRPr sz="1700">
              <a:solidFill>
                <a:schemeClr val="dk1"/>
              </a:solidFill>
            </a:endParaRPr>
          </a:p>
        </p:txBody>
      </p:sp>
      <p:sp>
        <p:nvSpPr>
          <p:cNvPr id="335" name="Google Shape;335;p43"/>
          <p:cNvSpPr/>
          <p:nvPr/>
        </p:nvSpPr>
        <p:spPr>
          <a:xfrm>
            <a:off x="2138362"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Constraint set dataset</a:t>
            </a:r>
            <a:endParaRPr sz="1031">
              <a:solidFill>
                <a:schemeClr val="dk1"/>
              </a:solidFill>
              <a:latin typeface="Calibri"/>
              <a:ea typeface="Calibri"/>
              <a:cs typeface="Calibri"/>
              <a:sym typeface="Calibri"/>
            </a:endParaRPr>
          </a:p>
        </p:txBody>
      </p:sp>
      <p:sp>
        <p:nvSpPr>
          <p:cNvPr id="336" name="Google Shape;336;p43"/>
          <p:cNvSpPr/>
          <p:nvPr/>
        </p:nvSpPr>
        <p:spPr>
          <a:xfrm>
            <a:off x="3449726"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Topology generation</a:t>
            </a:r>
            <a:endParaRPr sz="1031">
              <a:solidFill>
                <a:schemeClr val="dk1"/>
              </a:solidFill>
              <a:latin typeface="Calibri"/>
              <a:ea typeface="Calibri"/>
              <a:cs typeface="Calibri"/>
              <a:sym typeface="Calibri"/>
            </a:endParaRPr>
          </a:p>
        </p:txBody>
      </p:sp>
      <p:sp>
        <p:nvSpPr>
          <p:cNvPr id="337" name="Google Shape;337;p43"/>
          <p:cNvSpPr/>
          <p:nvPr/>
        </p:nvSpPr>
        <p:spPr>
          <a:xfrm>
            <a:off x="4732299"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Topology validation</a:t>
            </a:r>
            <a:endParaRPr sz="1031">
              <a:solidFill>
                <a:schemeClr val="dk1"/>
              </a:solidFill>
              <a:latin typeface="Calibri"/>
              <a:ea typeface="Calibri"/>
              <a:cs typeface="Calibri"/>
              <a:sym typeface="Calibri"/>
            </a:endParaRPr>
          </a:p>
        </p:txBody>
      </p:sp>
      <p:sp>
        <p:nvSpPr>
          <p:cNvPr id="338" name="Google Shape;338;p43"/>
          <p:cNvSpPr/>
          <p:nvPr/>
        </p:nvSpPr>
        <p:spPr>
          <a:xfrm>
            <a:off x="6014872"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simulation</a:t>
            </a:r>
            <a:endParaRPr sz="1031">
              <a:solidFill>
                <a:schemeClr val="dk1"/>
              </a:solidFill>
              <a:latin typeface="Calibri"/>
              <a:ea typeface="Calibri"/>
              <a:cs typeface="Calibri"/>
              <a:sym typeface="Calibri"/>
            </a:endParaRPr>
          </a:p>
        </p:txBody>
      </p:sp>
      <p:sp>
        <p:nvSpPr>
          <p:cNvPr id="339" name="Google Shape;339;p43"/>
          <p:cNvSpPr/>
          <p:nvPr/>
        </p:nvSpPr>
        <p:spPr>
          <a:xfrm>
            <a:off x="5979649" y="2236190"/>
            <a:ext cx="10260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Reward function processing</a:t>
            </a:r>
            <a:endParaRPr sz="1031">
              <a:solidFill>
                <a:schemeClr val="dk1"/>
              </a:solidFill>
              <a:latin typeface="Calibri"/>
              <a:ea typeface="Calibri"/>
              <a:cs typeface="Calibri"/>
              <a:sym typeface="Calibri"/>
            </a:endParaRPr>
          </a:p>
        </p:txBody>
      </p:sp>
      <p:sp>
        <p:nvSpPr>
          <p:cNvPr id="340" name="Google Shape;340;p43"/>
          <p:cNvSpPr/>
          <p:nvPr/>
        </p:nvSpPr>
        <p:spPr>
          <a:xfrm>
            <a:off x="3414503" y="2236190"/>
            <a:ext cx="10260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Reinforcement learning loop</a:t>
            </a:r>
            <a:endParaRPr sz="1031">
              <a:solidFill>
                <a:schemeClr val="dk1"/>
              </a:solidFill>
              <a:latin typeface="Calibri"/>
              <a:ea typeface="Calibri"/>
              <a:cs typeface="Calibri"/>
              <a:sym typeface="Calibri"/>
            </a:endParaRPr>
          </a:p>
        </p:txBody>
      </p:sp>
      <p:sp>
        <p:nvSpPr>
          <p:cNvPr id="341" name="Google Shape;341;p43"/>
          <p:cNvSpPr/>
          <p:nvPr/>
        </p:nvSpPr>
        <p:spPr>
          <a:xfrm>
            <a:off x="3414503" y="430488"/>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Supervised fine-tuning</a:t>
            </a:r>
            <a:endParaRPr sz="1031">
              <a:solidFill>
                <a:schemeClr val="dk1"/>
              </a:solidFill>
              <a:latin typeface="Calibri"/>
              <a:ea typeface="Calibri"/>
              <a:cs typeface="Calibri"/>
              <a:sym typeface="Calibri"/>
            </a:endParaRPr>
          </a:p>
        </p:txBody>
      </p:sp>
      <p:sp>
        <p:nvSpPr>
          <p:cNvPr id="342" name="Google Shape;342;p43"/>
          <p:cNvSpPr/>
          <p:nvPr/>
        </p:nvSpPr>
        <p:spPr>
          <a:xfrm>
            <a:off x="4377173" y="1564842"/>
            <a:ext cx="430500" cy="1218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None/>
            </a:pPr>
            <a:r>
              <a:t/>
            </a:r>
            <a:endParaRPr sz="1031">
              <a:solidFill>
                <a:schemeClr val="lt1"/>
              </a:solidFill>
              <a:latin typeface="Calibri"/>
              <a:ea typeface="Calibri"/>
              <a:cs typeface="Calibri"/>
              <a:sym typeface="Calibri"/>
            </a:endParaRPr>
          </a:p>
        </p:txBody>
      </p:sp>
      <p:sp>
        <p:nvSpPr>
          <p:cNvPr id="343" name="Google Shape;343;p43"/>
          <p:cNvSpPr/>
          <p:nvPr/>
        </p:nvSpPr>
        <p:spPr>
          <a:xfrm>
            <a:off x="5550394" y="1567566"/>
            <a:ext cx="561000" cy="1422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valid</a:t>
            </a:r>
            <a:endParaRPr sz="1031">
              <a:solidFill>
                <a:schemeClr val="lt1"/>
              </a:solidFill>
              <a:latin typeface="Calibri"/>
              <a:ea typeface="Calibri"/>
              <a:cs typeface="Calibri"/>
              <a:sym typeface="Calibri"/>
            </a:endParaRPr>
          </a:p>
        </p:txBody>
      </p:sp>
      <p:sp>
        <p:nvSpPr>
          <p:cNvPr id="344" name="Google Shape;344;p43"/>
          <p:cNvSpPr/>
          <p:nvPr/>
        </p:nvSpPr>
        <p:spPr>
          <a:xfrm rot="5400000">
            <a:off x="6303080" y="1992062"/>
            <a:ext cx="430500" cy="137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45" name="Google Shape;345;p43"/>
          <p:cNvSpPr/>
          <p:nvPr/>
        </p:nvSpPr>
        <p:spPr>
          <a:xfrm flipH="1">
            <a:off x="4405317" y="2434614"/>
            <a:ext cx="1609500" cy="92700"/>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46" name="Google Shape;346;p43"/>
          <p:cNvSpPr/>
          <p:nvPr/>
        </p:nvSpPr>
        <p:spPr>
          <a:xfrm flipH="1" rot="5400000">
            <a:off x="3637201" y="1986884"/>
            <a:ext cx="513600" cy="101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47" name="Google Shape;347;p43"/>
          <p:cNvSpPr/>
          <p:nvPr/>
        </p:nvSpPr>
        <p:spPr>
          <a:xfrm>
            <a:off x="6014872" y="406325"/>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Dataset Expansion</a:t>
            </a:r>
            <a:endParaRPr sz="1031">
              <a:solidFill>
                <a:schemeClr val="dk1"/>
              </a:solidFill>
              <a:latin typeface="Calibri"/>
              <a:ea typeface="Calibri"/>
              <a:cs typeface="Calibri"/>
              <a:sym typeface="Calibri"/>
            </a:endParaRPr>
          </a:p>
        </p:txBody>
      </p:sp>
      <p:sp>
        <p:nvSpPr>
          <p:cNvPr id="348" name="Google Shape;348;p43"/>
          <p:cNvSpPr/>
          <p:nvPr/>
        </p:nvSpPr>
        <p:spPr>
          <a:xfrm flipH="1" rot="5400000">
            <a:off x="6206134" y="1057593"/>
            <a:ext cx="624300" cy="134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49" name="Google Shape;349;p43"/>
          <p:cNvSpPr/>
          <p:nvPr/>
        </p:nvSpPr>
        <p:spPr>
          <a:xfrm flipH="1">
            <a:off x="4348246" y="589621"/>
            <a:ext cx="1724100" cy="927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50" name="Google Shape;350;p43"/>
          <p:cNvSpPr/>
          <p:nvPr/>
        </p:nvSpPr>
        <p:spPr>
          <a:xfrm flipH="1" rot="-2698823">
            <a:off x="4282636" y="1981623"/>
            <a:ext cx="619638" cy="157826"/>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51" name="Google Shape;351;p43"/>
          <p:cNvSpPr/>
          <p:nvPr/>
        </p:nvSpPr>
        <p:spPr>
          <a:xfrm rot="-2885391">
            <a:off x="5446615" y="1035839"/>
            <a:ext cx="779233" cy="178658"/>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52" name="Google Shape;352;p43"/>
          <p:cNvSpPr/>
          <p:nvPr/>
        </p:nvSpPr>
        <p:spPr>
          <a:xfrm>
            <a:off x="3060461" y="1577795"/>
            <a:ext cx="430500" cy="1218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None/>
            </a:pPr>
            <a:r>
              <a:t/>
            </a:r>
            <a:endParaRPr sz="1031">
              <a:solidFill>
                <a:schemeClr val="lt1"/>
              </a:solidFill>
              <a:latin typeface="Calibri"/>
              <a:ea typeface="Calibri"/>
              <a:cs typeface="Calibri"/>
              <a:sym typeface="Calibri"/>
            </a:endParaRPr>
          </a:p>
        </p:txBody>
      </p:sp>
      <p:sp>
        <p:nvSpPr>
          <p:cNvPr id="353" name="Google Shape;353;p43"/>
          <p:cNvSpPr/>
          <p:nvPr/>
        </p:nvSpPr>
        <p:spPr>
          <a:xfrm>
            <a:off x="3680101" y="1145770"/>
            <a:ext cx="495072" cy="212004"/>
          </a:xfrm>
          <a:prstGeom prst="flowChartTerminator">
            <a:avLst/>
          </a:prstGeom>
          <a:solidFill>
            <a:schemeClr val="lt2"/>
          </a:solidFill>
          <a:ln cap="flat" cmpd="sng" w="7000">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None/>
            </a:pPr>
            <a:r>
              <a:rPr lang="en-GB" sz="1031">
                <a:solidFill>
                  <a:schemeClr val="lt1"/>
                </a:solidFill>
                <a:latin typeface="Calibri"/>
                <a:ea typeface="Calibri"/>
                <a:cs typeface="Calibri"/>
                <a:sym typeface="Calibri"/>
              </a:rPr>
              <a:t>LLM</a:t>
            </a:r>
            <a:endParaRPr sz="1171">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44"/>
          <p:cNvSpPr txBox="1"/>
          <p:nvPr/>
        </p:nvSpPr>
        <p:spPr>
          <a:xfrm>
            <a:off x="956100" y="2805325"/>
            <a:ext cx="7231800" cy="1231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700">
                <a:solidFill>
                  <a:schemeClr val="dk1"/>
                </a:solidFill>
              </a:rPr>
              <a:t>All netlists are added to the dataset.</a:t>
            </a:r>
            <a:endParaRPr sz="1700">
              <a:solidFill>
                <a:schemeClr val="dk1"/>
              </a:solidFill>
            </a:endParaRPr>
          </a:p>
          <a:p>
            <a:pPr indent="0" lvl="0" marL="0" rtl="0" algn="l">
              <a:spcBef>
                <a:spcPts val="0"/>
              </a:spcBef>
              <a:spcAft>
                <a:spcPts val="0"/>
              </a:spcAft>
              <a:buNone/>
            </a:pPr>
            <a:r>
              <a:rPr lang="en-GB" sz="1700">
                <a:solidFill>
                  <a:schemeClr val="dk1"/>
                </a:solidFill>
              </a:rPr>
              <a:t>Using this dataset of netlists with valid and invalid labels we finetune the LLM to recognise what a valid topology looks like. </a:t>
            </a:r>
            <a:endParaRPr sz="1700">
              <a:solidFill>
                <a:schemeClr val="dk1"/>
              </a:solidFill>
            </a:endParaRPr>
          </a:p>
          <a:p>
            <a:pPr indent="0" lvl="0" marL="0" rtl="0" algn="l">
              <a:spcBef>
                <a:spcPts val="0"/>
              </a:spcBef>
              <a:spcAft>
                <a:spcPts val="0"/>
              </a:spcAft>
              <a:buNone/>
            </a:pPr>
            <a:r>
              <a:rPr lang="en-GB" sz="1700">
                <a:solidFill>
                  <a:schemeClr val="dk1"/>
                </a:solidFill>
              </a:rPr>
              <a:t>This is called Supervised </a:t>
            </a:r>
            <a:r>
              <a:rPr lang="en-GB" sz="1700">
                <a:solidFill>
                  <a:schemeClr val="dk1"/>
                </a:solidFill>
              </a:rPr>
              <a:t>Fine Tuning</a:t>
            </a:r>
            <a:r>
              <a:rPr lang="en-GB" sz="1700">
                <a:solidFill>
                  <a:schemeClr val="dk1"/>
                </a:solidFill>
              </a:rPr>
              <a:t> (SFT) </a:t>
            </a:r>
            <a:r>
              <a:rPr lang="en-GB" sz="1700">
                <a:solidFill>
                  <a:schemeClr val="dk1"/>
                </a:solidFill>
              </a:rPr>
              <a:t>Warm start. </a:t>
            </a:r>
            <a:endParaRPr sz="1700">
              <a:solidFill>
                <a:schemeClr val="dk1"/>
              </a:solidFill>
            </a:endParaRPr>
          </a:p>
        </p:txBody>
      </p:sp>
      <p:sp>
        <p:nvSpPr>
          <p:cNvPr id="359" name="Google Shape;359;p44"/>
          <p:cNvSpPr/>
          <p:nvPr/>
        </p:nvSpPr>
        <p:spPr>
          <a:xfrm>
            <a:off x="2138362"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Constraint</a:t>
            </a:r>
            <a:r>
              <a:rPr lang="en-GB" sz="1031">
                <a:solidFill>
                  <a:schemeClr val="dk1"/>
                </a:solidFill>
                <a:latin typeface="Calibri"/>
                <a:ea typeface="Calibri"/>
                <a:cs typeface="Calibri"/>
                <a:sym typeface="Calibri"/>
              </a:rPr>
              <a:t> set dataset</a:t>
            </a:r>
            <a:endParaRPr sz="1031">
              <a:solidFill>
                <a:schemeClr val="dk1"/>
              </a:solidFill>
              <a:latin typeface="Calibri"/>
              <a:ea typeface="Calibri"/>
              <a:cs typeface="Calibri"/>
              <a:sym typeface="Calibri"/>
            </a:endParaRPr>
          </a:p>
        </p:txBody>
      </p:sp>
      <p:sp>
        <p:nvSpPr>
          <p:cNvPr id="360" name="Google Shape;360;p44"/>
          <p:cNvSpPr/>
          <p:nvPr/>
        </p:nvSpPr>
        <p:spPr>
          <a:xfrm>
            <a:off x="3449726"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Topology</a:t>
            </a:r>
            <a:r>
              <a:rPr lang="en-GB" sz="1031">
                <a:solidFill>
                  <a:schemeClr val="dk1"/>
                </a:solidFill>
                <a:latin typeface="Calibri"/>
                <a:ea typeface="Calibri"/>
                <a:cs typeface="Calibri"/>
                <a:sym typeface="Calibri"/>
              </a:rPr>
              <a:t> generation</a:t>
            </a:r>
            <a:endParaRPr sz="1031">
              <a:solidFill>
                <a:schemeClr val="dk1"/>
              </a:solidFill>
              <a:latin typeface="Calibri"/>
              <a:ea typeface="Calibri"/>
              <a:cs typeface="Calibri"/>
              <a:sym typeface="Calibri"/>
            </a:endParaRPr>
          </a:p>
        </p:txBody>
      </p:sp>
      <p:sp>
        <p:nvSpPr>
          <p:cNvPr id="361" name="Google Shape;361;p44"/>
          <p:cNvSpPr/>
          <p:nvPr/>
        </p:nvSpPr>
        <p:spPr>
          <a:xfrm>
            <a:off x="4732299"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None/>
            </a:pPr>
            <a:r>
              <a:rPr lang="en-GB" sz="1031">
                <a:solidFill>
                  <a:schemeClr val="dk1"/>
                </a:solidFill>
                <a:latin typeface="Calibri"/>
                <a:ea typeface="Calibri"/>
                <a:cs typeface="Calibri"/>
                <a:sym typeface="Calibri"/>
              </a:rPr>
              <a:t>Topology validation</a:t>
            </a:r>
            <a:endParaRPr sz="1031">
              <a:solidFill>
                <a:schemeClr val="dk1"/>
              </a:solidFill>
              <a:latin typeface="Calibri"/>
              <a:ea typeface="Calibri"/>
              <a:cs typeface="Calibri"/>
              <a:sym typeface="Calibri"/>
            </a:endParaRPr>
          </a:p>
        </p:txBody>
      </p:sp>
      <p:sp>
        <p:nvSpPr>
          <p:cNvPr id="362" name="Google Shape;362;p44"/>
          <p:cNvSpPr/>
          <p:nvPr/>
        </p:nvSpPr>
        <p:spPr>
          <a:xfrm>
            <a:off x="6014872" y="1393987"/>
            <a:ext cx="9561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Topology simulation</a:t>
            </a:r>
            <a:endParaRPr sz="1031">
              <a:solidFill>
                <a:schemeClr val="dk1"/>
              </a:solidFill>
              <a:latin typeface="Calibri"/>
              <a:ea typeface="Calibri"/>
              <a:cs typeface="Calibri"/>
              <a:sym typeface="Calibri"/>
            </a:endParaRPr>
          </a:p>
        </p:txBody>
      </p:sp>
      <p:sp>
        <p:nvSpPr>
          <p:cNvPr id="363" name="Google Shape;363;p44"/>
          <p:cNvSpPr/>
          <p:nvPr/>
        </p:nvSpPr>
        <p:spPr>
          <a:xfrm>
            <a:off x="5979649" y="2236190"/>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Reward function processing</a:t>
            </a:r>
            <a:endParaRPr sz="1031">
              <a:solidFill>
                <a:schemeClr val="dk1"/>
              </a:solidFill>
              <a:latin typeface="Calibri"/>
              <a:ea typeface="Calibri"/>
              <a:cs typeface="Calibri"/>
              <a:sym typeface="Calibri"/>
            </a:endParaRPr>
          </a:p>
        </p:txBody>
      </p:sp>
      <p:sp>
        <p:nvSpPr>
          <p:cNvPr id="364" name="Google Shape;364;p44"/>
          <p:cNvSpPr/>
          <p:nvPr/>
        </p:nvSpPr>
        <p:spPr>
          <a:xfrm>
            <a:off x="3414503" y="2236190"/>
            <a:ext cx="1026000" cy="489600"/>
          </a:xfrm>
          <a:prstGeom prst="rect">
            <a:avLst/>
          </a:prstGeom>
          <a:solidFill>
            <a:schemeClr val="lt1"/>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Reinforcement learning loop</a:t>
            </a:r>
            <a:endParaRPr sz="1031">
              <a:solidFill>
                <a:schemeClr val="dk1"/>
              </a:solidFill>
              <a:latin typeface="Calibri"/>
              <a:ea typeface="Calibri"/>
              <a:cs typeface="Calibri"/>
              <a:sym typeface="Calibri"/>
            </a:endParaRPr>
          </a:p>
        </p:txBody>
      </p:sp>
      <p:sp>
        <p:nvSpPr>
          <p:cNvPr id="365" name="Google Shape;365;p44"/>
          <p:cNvSpPr/>
          <p:nvPr/>
        </p:nvSpPr>
        <p:spPr>
          <a:xfrm>
            <a:off x="3414503" y="430488"/>
            <a:ext cx="10260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Supervised fine-tuning</a:t>
            </a:r>
            <a:endParaRPr sz="1031">
              <a:solidFill>
                <a:schemeClr val="dk1"/>
              </a:solidFill>
              <a:latin typeface="Calibri"/>
              <a:ea typeface="Calibri"/>
              <a:cs typeface="Calibri"/>
              <a:sym typeface="Calibri"/>
            </a:endParaRPr>
          </a:p>
        </p:txBody>
      </p:sp>
      <p:sp>
        <p:nvSpPr>
          <p:cNvPr id="366" name="Google Shape;366;p44"/>
          <p:cNvSpPr/>
          <p:nvPr/>
        </p:nvSpPr>
        <p:spPr>
          <a:xfrm>
            <a:off x="4377173" y="1564842"/>
            <a:ext cx="430500" cy="1218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None/>
            </a:pPr>
            <a:r>
              <a:t/>
            </a:r>
            <a:endParaRPr sz="1031">
              <a:solidFill>
                <a:schemeClr val="lt1"/>
              </a:solidFill>
              <a:latin typeface="Calibri"/>
              <a:ea typeface="Calibri"/>
              <a:cs typeface="Calibri"/>
              <a:sym typeface="Calibri"/>
            </a:endParaRPr>
          </a:p>
        </p:txBody>
      </p:sp>
      <p:sp>
        <p:nvSpPr>
          <p:cNvPr id="367" name="Google Shape;367;p44"/>
          <p:cNvSpPr/>
          <p:nvPr/>
        </p:nvSpPr>
        <p:spPr>
          <a:xfrm>
            <a:off x="5550394" y="1567566"/>
            <a:ext cx="561000" cy="1422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valid</a:t>
            </a:r>
            <a:endParaRPr sz="1031">
              <a:solidFill>
                <a:schemeClr val="lt1"/>
              </a:solidFill>
              <a:latin typeface="Calibri"/>
              <a:ea typeface="Calibri"/>
              <a:cs typeface="Calibri"/>
              <a:sym typeface="Calibri"/>
            </a:endParaRPr>
          </a:p>
        </p:txBody>
      </p:sp>
      <p:sp>
        <p:nvSpPr>
          <p:cNvPr id="368" name="Google Shape;368;p44"/>
          <p:cNvSpPr/>
          <p:nvPr/>
        </p:nvSpPr>
        <p:spPr>
          <a:xfrm rot="5400000">
            <a:off x="6303080" y="1992062"/>
            <a:ext cx="430500" cy="137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69" name="Google Shape;369;p44"/>
          <p:cNvSpPr/>
          <p:nvPr/>
        </p:nvSpPr>
        <p:spPr>
          <a:xfrm flipH="1">
            <a:off x="4405317" y="2434614"/>
            <a:ext cx="1609500" cy="927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70" name="Google Shape;370;p44"/>
          <p:cNvSpPr/>
          <p:nvPr/>
        </p:nvSpPr>
        <p:spPr>
          <a:xfrm flipH="1" rot="5400000">
            <a:off x="3637201" y="1986884"/>
            <a:ext cx="513600" cy="101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71" name="Google Shape;371;p44"/>
          <p:cNvSpPr/>
          <p:nvPr/>
        </p:nvSpPr>
        <p:spPr>
          <a:xfrm>
            <a:off x="6014872" y="406325"/>
            <a:ext cx="956100" cy="489600"/>
          </a:xfrm>
          <a:prstGeom prst="rect">
            <a:avLst/>
          </a:prstGeom>
          <a:solidFill>
            <a:srgbClr val="6AA84F"/>
          </a:solidFill>
          <a:ln cap="flat" cmpd="sng" w="7000">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rtl="0" algn="l">
              <a:spcBef>
                <a:spcPts val="0"/>
              </a:spcBef>
              <a:spcAft>
                <a:spcPts val="0"/>
              </a:spcAft>
              <a:buNone/>
            </a:pPr>
            <a:r>
              <a:rPr lang="en-GB" sz="1031">
                <a:solidFill>
                  <a:schemeClr val="dk1"/>
                </a:solidFill>
                <a:latin typeface="Calibri"/>
                <a:ea typeface="Calibri"/>
                <a:cs typeface="Calibri"/>
                <a:sym typeface="Calibri"/>
              </a:rPr>
              <a:t>Dataset Expansion</a:t>
            </a:r>
            <a:endParaRPr sz="1031">
              <a:solidFill>
                <a:schemeClr val="dk1"/>
              </a:solidFill>
              <a:latin typeface="Calibri"/>
              <a:ea typeface="Calibri"/>
              <a:cs typeface="Calibri"/>
              <a:sym typeface="Calibri"/>
            </a:endParaRPr>
          </a:p>
        </p:txBody>
      </p:sp>
      <p:sp>
        <p:nvSpPr>
          <p:cNvPr id="372" name="Google Shape;372;p44"/>
          <p:cNvSpPr/>
          <p:nvPr/>
        </p:nvSpPr>
        <p:spPr>
          <a:xfrm flipH="1" rot="5400000">
            <a:off x="6206134" y="1057593"/>
            <a:ext cx="624300" cy="1341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73" name="Google Shape;373;p44"/>
          <p:cNvSpPr/>
          <p:nvPr/>
        </p:nvSpPr>
        <p:spPr>
          <a:xfrm flipH="1">
            <a:off x="4348246" y="589621"/>
            <a:ext cx="1724100" cy="92700"/>
          </a:xfrm>
          <a:prstGeom prst="homePlate">
            <a:avLst>
              <a:gd fmla="val 50000" name="adj"/>
            </a:avLst>
          </a:prstGeom>
          <a:solidFill>
            <a:srgbClr val="6AA84F"/>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t/>
            </a:r>
            <a:endParaRPr sz="1031">
              <a:solidFill>
                <a:schemeClr val="lt1"/>
              </a:solidFill>
              <a:latin typeface="Calibri"/>
              <a:ea typeface="Calibri"/>
              <a:cs typeface="Calibri"/>
              <a:sym typeface="Calibri"/>
            </a:endParaRPr>
          </a:p>
        </p:txBody>
      </p:sp>
      <p:sp>
        <p:nvSpPr>
          <p:cNvPr id="374" name="Google Shape;374;p44"/>
          <p:cNvSpPr/>
          <p:nvPr/>
        </p:nvSpPr>
        <p:spPr>
          <a:xfrm flipH="1" rot="-2698823">
            <a:off x="4282636" y="1981623"/>
            <a:ext cx="619638" cy="157826"/>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75" name="Google Shape;375;p44"/>
          <p:cNvSpPr/>
          <p:nvPr/>
        </p:nvSpPr>
        <p:spPr>
          <a:xfrm rot="-2885391">
            <a:off x="5446615" y="1035839"/>
            <a:ext cx="779233" cy="178658"/>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rtl="0" algn="ctr">
              <a:spcBef>
                <a:spcPts val="0"/>
              </a:spcBef>
              <a:spcAft>
                <a:spcPts val="0"/>
              </a:spcAft>
              <a:buNone/>
            </a:pPr>
            <a:r>
              <a:rPr lang="en-GB" sz="1031">
                <a:solidFill>
                  <a:schemeClr val="lt1"/>
                </a:solidFill>
                <a:latin typeface="Calibri"/>
                <a:ea typeface="Calibri"/>
                <a:cs typeface="Calibri"/>
                <a:sym typeface="Calibri"/>
              </a:rPr>
              <a:t>invalid</a:t>
            </a:r>
            <a:endParaRPr sz="1031">
              <a:solidFill>
                <a:schemeClr val="lt1"/>
              </a:solidFill>
              <a:latin typeface="Calibri"/>
              <a:ea typeface="Calibri"/>
              <a:cs typeface="Calibri"/>
              <a:sym typeface="Calibri"/>
            </a:endParaRPr>
          </a:p>
        </p:txBody>
      </p:sp>
      <p:sp>
        <p:nvSpPr>
          <p:cNvPr id="376" name="Google Shape;376;p44"/>
          <p:cNvSpPr/>
          <p:nvPr/>
        </p:nvSpPr>
        <p:spPr>
          <a:xfrm>
            <a:off x="3060461" y="1577795"/>
            <a:ext cx="430500" cy="121800"/>
          </a:xfrm>
          <a:prstGeom prst="homePlate">
            <a:avLst>
              <a:gd fmla="val 50000" name="adj"/>
            </a:avLst>
          </a:prstGeom>
          <a:solidFill>
            <a:schemeClr val="lt2"/>
          </a:solidFill>
          <a:ln cap="flat" cmpd="sng" w="7000">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None/>
            </a:pPr>
            <a:r>
              <a:t/>
            </a:r>
            <a:endParaRPr sz="1031">
              <a:solidFill>
                <a:schemeClr val="lt1"/>
              </a:solidFill>
              <a:latin typeface="Calibri"/>
              <a:ea typeface="Calibri"/>
              <a:cs typeface="Calibri"/>
              <a:sym typeface="Calibri"/>
            </a:endParaRPr>
          </a:p>
        </p:txBody>
      </p:sp>
      <p:sp>
        <p:nvSpPr>
          <p:cNvPr id="377" name="Google Shape;377;p44"/>
          <p:cNvSpPr/>
          <p:nvPr/>
        </p:nvSpPr>
        <p:spPr>
          <a:xfrm>
            <a:off x="3680101" y="1145770"/>
            <a:ext cx="495072" cy="212004"/>
          </a:xfrm>
          <a:prstGeom prst="flowChartTerminator">
            <a:avLst/>
          </a:prstGeom>
          <a:solidFill>
            <a:schemeClr val="lt2"/>
          </a:solidFill>
          <a:ln cap="flat" cmpd="sng" w="7000">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None/>
            </a:pPr>
            <a:r>
              <a:rPr lang="en-GB" sz="1031">
                <a:solidFill>
                  <a:schemeClr val="lt1"/>
                </a:solidFill>
                <a:latin typeface="Calibri"/>
                <a:ea typeface="Calibri"/>
                <a:cs typeface="Calibri"/>
                <a:sym typeface="Calibri"/>
              </a:rPr>
              <a:t>LLM</a:t>
            </a:r>
            <a:endParaRPr sz="1171">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45"/>
          <p:cNvSpPr/>
          <p:nvPr/>
        </p:nvSpPr>
        <p:spPr>
          <a:xfrm>
            <a:off x="793800" y="1403675"/>
            <a:ext cx="1764300" cy="903300"/>
          </a:xfrm>
          <a:prstGeom prst="rect">
            <a:avLst/>
          </a:prstGeom>
          <a:solidFill>
            <a:schemeClr val="lt1"/>
          </a:solidFill>
          <a:ln cap="flat" cmpd="sng" w="12950">
            <a:solidFill>
              <a:schemeClr val="dk1"/>
            </a:solidFill>
            <a:prstDash val="solid"/>
            <a:round/>
            <a:headEnd len="sm" w="sm" type="none"/>
            <a:tailEnd len="sm" w="sm" type="none"/>
          </a:ln>
        </p:spPr>
        <p:txBody>
          <a:bodyPr anchorCtr="0" anchor="ctr" bIns="124225" lIns="124225" spcFirstLastPara="1" rIns="124225" wrap="square" tIns="124225">
            <a:noAutofit/>
          </a:bodyPr>
          <a:lstStyle/>
          <a:p>
            <a:pPr indent="0" lvl="0" marL="0" rtl="0" algn="l">
              <a:spcBef>
                <a:spcPts val="0"/>
              </a:spcBef>
              <a:spcAft>
                <a:spcPts val="0"/>
              </a:spcAft>
              <a:buNone/>
            </a:pPr>
            <a:r>
              <a:rPr lang="en-GB" sz="1902">
                <a:solidFill>
                  <a:schemeClr val="dk1"/>
                </a:solidFill>
                <a:latin typeface="Calibri"/>
                <a:ea typeface="Calibri"/>
                <a:cs typeface="Calibri"/>
                <a:sym typeface="Calibri"/>
              </a:rPr>
              <a:t>User input</a:t>
            </a:r>
            <a:endParaRPr sz="1902">
              <a:solidFill>
                <a:schemeClr val="dk1"/>
              </a:solidFill>
              <a:latin typeface="Calibri"/>
              <a:ea typeface="Calibri"/>
              <a:cs typeface="Calibri"/>
              <a:sym typeface="Calibri"/>
            </a:endParaRPr>
          </a:p>
        </p:txBody>
      </p:sp>
      <p:sp>
        <p:nvSpPr>
          <p:cNvPr id="383" name="Google Shape;383;p45"/>
          <p:cNvSpPr/>
          <p:nvPr/>
        </p:nvSpPr>
        <p:spPr>
          <a:xfrm>
            <a:off x="3689858" y="1403675"/>
            <a:ext cx="1764300" cy="903300"/>
          </a:xfrm>
          <a:prstGeom prst="rect">
            <a:avLst/>
          </a:prstGeom>
          <a:solidFill>
            <a:schemeClr val="lt1"/>
          </a:solidFill>
          <a:ln cap="flat" cmpd="sng" w="12950">
            <a:solidFill>
              <a:schemeClr val="dk1"/>
            </a:solidFill>
            <a:prstDash val="solid"/>
            <a:round/>
            <a:headEnd len="sm" w="sm" type="none"/>
            <a:tailEnd len="sm" w="sm" type="none"/>
          </a:ln>
        </p:spPr>
        <p:txBody>
          <a:bodyPr anchorCtr="0" anchor="ctr" bIns="124225" lIns="124225" spcFirstLastPara="1" rIns="124225" wrap="square" tIns="124225">
            <a:noAutofit/>
          </a:bodyPr>
          <a:lstStyle/>
          <a:p>
            <a:pPr indent="0" lvl="0" marL="0" rtl="0" algn="l">
              <a:spcBef>
                <a:spcPts val="0"/>
              </a:spcBef>
              <a:spcAft>
                <a:spcPts val="0"/>
              </a:spcAft>
              <a:buNone/>
            </a:pPr>
            <a:r>
              <a:rPr lang="en-GB" sz="1902">
                <a:solidFill>
                  <a:schemeClr val="dk1"/>
                </a:solidFill>
                <a:latin typeface="Calibri"/>
                <a:ea typeface="Calibri"/>
                <a:cs typeface="Calibri"/>
                <a:sym typeface="Calibri"/>
              </a:rPr>
              <a:t>Topology generation</a:t>
            </a:r>
            <a:endParaRPr sz="1902">
              <a:solidFill>
                <a:schemeClr val="dk1"/>
              </a:solidFill>
              <a:latin typeface="Calibri"/>
              <a:ea typeface="Calibri"/>
              <a:cs typeface="Calibri"/>
              <a:sym typeface="Calibri"/>
            </a:endParaRPr>
          </a:p>
        </p:txBody>
      </p:sp>
      <p:sp>
        <p:nvSpPr>
          <p:cNvPr id="384" name="Google Shape;384;p45"/>
          <p:cNvSpPr txBox="1"/>
          <p:nvPr>
            <p:ph type="title"/>
          </p:nvPr>
        </p:nvSpPr>
        <p:spPr>
          <a:xfrm>
            <a:off x="793800" y="70875"/>
            <a:ext cx="7556400" cy="733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GB"/>
              <a:t>Testing pipeline</a:t>
            </a:r>
            <a:endParaRPr/>
          </a:p>
        </p:txBody>
      </p:sp>
      <p:sp>
        <p:nvSpPr>
          <p:cNvPr id="385" name="Google Shape;385;p45"/>
          <p:cNvSpPr/>
          <p:nvPr/>
        </p:nvSpPr>
        <p:spPr>
          <a:xfrm>
            <a:off x="2392948" y="1731025"/>
            <a:ext cx="1422300" cy="224700"/>
          </a:xfrm>
          <a:prstGeom prst="homePlate">
            <a:avLst>
              <a:gd fmla="val 50000" name="adj"/>
            </a:avLst>
          </a:prstGeom>
          <a:solidFill>
            <a:schemeClr val="lt2"/>
          </a:solidFill>
          <a:ln cap="flat" cmpd="sng" w="12950">
            <a:solidFill>
              <a:schemeClr val="dk2"/>
            </a:solidFill>
            <a:prstDash val="solid"/>
            <a:round/>
            <a:headEnd len="sm" w="sm" type="none"/>
            <a:tailEnd len="sm" w="sm" type="none"/>
          </a:ln>
        </p:spPr>
        <p:txBody>
          <a:bodyPr anchorCtr="0" anchor="ctr" bIns="124225" lIns="124225" spcFirstLastPara="1" rIns="124225" wrap="square" tIns="124225">
            <a:noAutofit/>
          </a:bodyPr>
          <a:lstStyle/>
          <a:p>
            <a:pPr indent="0" lvl="0" marL="0" rtl="0" algn="ctr">
              <a:spcBef>
                <a:spcPts val="0"/>
              </a:spcBef>
              <a:spcAft>
                <a:spcPts val="0"/>
              </a:spcAft>
              <a:buNone/>
            </a:pPr>
            <a:r>
              <a:t/>
            </a:r>
            <a:endParaRPr sz="1902">
              <a:solidFill>
                <a:schemeClr val="lt1"/>
              </a:solidFill>
              <a:latin typeface="Calibri"/>
              <a:ea typeface="Calibri"/>
              <a:cs typeface="Calibri"/>
              <a:sym typeface="Calibri"/>
            </a:endParaRPr>
          </a:p>
        </p:txBody>
      </p:sp>
      <p:sp>
        <p:nvSpPr>
          <p:cNvPr id="386" name="Google Shape;386;p45"/>
          <p:cNvSpPr/>
          <p:nvPr/>
        </p:nvSpPr>
        <p:spPr>
          <a:xfrm>
            <a:off x="6381933" y="1403675"/>
            <a:ext cx="1764300" cy="903300"/>
          </a:xfrm>
          <a:prstGeom prst="rect">
            <a:avLst/>
          </a:prstGeom>
          <a:solidFill>
            <a:schemeClr val="lt1"/>
          </a:solidFill>
          <a:ln cap="flat" cmpd="sng" w="12950">
            <a:solidFill>
              <a:schemeClr val="dk1"/>
            </a:solidFill>
            <a:prstDash val="solid"/>
            <a:round/>
            <a:headEnd len="sm" w="sm" type="none"/>
            <a:tailEnd len="sm" w="sm" type="none"/>
          </a:ln>
        </p:spPr>
        <p:txBody>
          <a:bodyPr anchorCtr="0" anchor="ctr" bIns="124225" lIns="124225" spcFirstLastPara="1" rIns="124225" wrap="square" tIns="124225">
            <a:noAutofit/>
          </a:bodyPr>
          <a:lstStyle/>
          <a:p>
            <a:pPr indent="0" lvl="0" marL="0" rtl="0" algn="l">
              <a:spcBef>
                <a:spcPts val="0"/>
              </a:spcBef>
              <a:spcAft>
                <a:spcPts val="0"/>
              </a:spcAft>
              <a:buNone/>
            </a:pPr>
            <a:r>
              <a:rPr lang="en-GB" sz="1902">
                <a:solidFill>
                  <a:schemeClr val="dk1"/>
                </a:solidFill>
                <a:latin typeface="Calibri"/>
                <a:ea typeface="Calibri"/>
                <a:cs typeface="Calibri"/>
                <a:sym typeface="Calibri"/>
              </a:rPr>
              <a:t>Model response</a:t>
            </a:r>
            <a:endParaRPr sz="1902">
              <a:solidFill>
                <a:schemeClr val="dk1"/>
              </a:solidFill>
              <a:latin typeface="Calibri"/>
              <a:ea typeface="Calibri"/>
              <a:cs typeface="Calibri"/>
              <a:sym typeface="Calibri"/>
            </a:endParaRPr>
          </a:p>
        </p:txBody>
      </p:sp>
      <p:sp>
        <p:nvSpPr>
          <p:cNvPr id="387" name="Google Shape;387;p45"/>
          <p:cNvSpPr/>
          <p:nvPr/>
        </p:nvSpPr>
        <p:spPr>
          <a:xfrm>
            <a:off x="5314107" y="1742975"/>
            <a:ext cx="1202100" cy="224700"/>
          </a:xfrm>
          <a:prstGeom prst="homePlate">
            <a:avLst>
              <a:gd fmla="val 50000" name="adj"/>
            </a:avLst>
          </a:prstGeom>
          <a:solidFill>
            <a:schemeClr val="lt2"/>
          </a:solidFill>
          <a:ln cap="flat" cmpd="sng" w="12950">
            <a:solidFill>
              <a:schemeClr val="dk2"/>
            </a:solidFill>
            <a:prstDash val="solid"/>
            <a:round/>
            <a:headEnd len="sm" w="sm" type="none"/>
            <a:tailEnd len="sm" w="sm" type="none"/>
          </a:ln>
        </p:spPr>
        <p:txBody>
          <a:bodyPr anchorCtr="0" anchor="ctr" bIns="124225" lIns="124225" spcFirstLastPara="1" rIns="124225" wrap="square" tIns="124225">
            <a:noAutofit/>
          </a:bodyPr>
          <a:lstStyle/>
          <a:p>
            <a:pPr indent="0" lvl="0" marL="0" rtl="0" algn="ctr">
              <a:spcBef>
                <a:spcPts val="0"/>
              </a:spcBef>
              <a:spcAft>
                <a:spcPts val="0"/>
              </a:spcAft>
              <a:buNone/>
            </a:pPr>
            <a:r>
              <a:t/>
            </a:r>
            <a:endParaRPr sz="1902">
              <a:solidFill>
                <a:schemeClr val="lt1"/>
              </a:solidFill>
              <a:latin typeface="Calibri"/>
              <a:ea typeface="Calibri"/>
              <a:cs typeface="Calibri"/>
              <a:sym typeface="Calibri"/>
            </a:endParaRPr>
          </a:p>
        </p:txBody>
      </p:sp>
      <p:sp>
        <p:nvSpPr>
          <p:cNvPr id="388" name="Google Shape;388;p45"/>
          <p:cNvSpPr/>
          <p:nvPr/>
        </p:nvSpPr>
        <p:spPr>
          <a:xfrm>
            <a:off x="3558038" y="816625"/>
            <a:ext cx="2027916" cy="575100"/>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1700">
                <a:solidFill>
                  <a:schemeClr val="lt1"/>
                </a:solidFill>
                <a:latin typeface="Calibri"/>
                <a:ea typeface="Calibri"/>
                <a:cs typeface="Calibri"/>
                <a:sym typeface="Calibri"/>
              </a:rPr>
              <a:t>Fine-tuned </a:t>
            </a:r>
            <a:r>
              <a:rPr lang="en-GB" sz="1700">
                <a:solidFill>
                  <a:schemeClr val="lt1"/>
                </a:solidFill>
                <a:latin typeface="Calibri"/>
                <a:ea typeface="Calibri"/>
                <a:cs typeface="Calibri"/>
                <a:sym typeface="Calibri"/>
              </a:rPr>
              <a:t>LLM</a:t>
            </a:r>
            <a:endParaRPr sz="1700">
              <a:solidFill>
                <a:schemeClr val="lt1"/>
              </a:solidFill>
              <a:latin typeface="Calibri"/>
              <a:ea typeface="Calibri"/>
              <a:cs typeface="Calibri"/>
              <a:sym typeface="Calibri"/>
            </a:endParaRPr>
          </a:p>
        </p:txBody>
      </p:sp>
      <p:sp>
        <p:nvSpPr>
          <p:cNvPr id="389" name="Google Shape;389;p45"/>
          <p:cNvSpPr txBox="1"/>
          <p:nvPr/>
        </p:nvSpPr>
        <p:spPr>
          <a:xfrm>
            <a:off x="822563" y="2666175"/>
            <a:ext cx="2836800" cy="2376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GB" sz="1450">
                <a:solidFill>
                  <a:schemeClr val="dk1"/>
                </a:solidFill>
              </a:rPr>
              <a:t>Input</a:t>
            </a:r>
            <a:r>
              <a:rPr lang="en-GB" sz="1450">
                <a:solidFill>
                  <a:schemeClr val="dk1"/>
                </a:solidFill>
              </a:rPr>
              <a:t>: </a:t>
            </a:r>
            <a:r>
              <a:rPr lang="en-GB" sz="1450">
                <a:solidFill>
                  <a:schemeClr val="dk1"/>
                </a:solidFill>
              </a:rPr>
              <a:t>Accept plain-text design specification from user</a:t>
            </a:r>
            <a:endParaRPr sz="1450">
              <a:solidFill>
                <a:schemeClr val="dk1"/>
              </a:solidFill>
              <a:latin typeface="Calibri"/>
              <a:ea typeface="Calibri"/>
              <a:cs typeface="Calibri"/>
              <a:sym typeface="Calibri"/>
            </a:endParaRPr>
          </a:p>
          <a:p>
            <a:pPr indent="-320675" lvl="0" marL="457200" rtl="0" algn="l">
              <a:lnSpc>
                <a:spcPct val="115000"/>
              </a:lnSpc>
              <a:spcBef>
                <a:spcPts val="1200"/>
              </a:spcBef>
              <a:spcAft>
                <a:spcPts val="0"/>
              </a:spcAft>
              <a:buClr>
                <a:schemeClr val="dk1"/>
              </a:buClr>
              <a:buSzPts val="1450"/>
              <a:buFont typeface="Calibri"/>
              <a:buChar char="-"/>
            </a:pPr>
            <a:r>
              <a:rPr lang="en-GB" sz="1450">
                <a:solidFill>
                  <a:schemeClr val="dk1"/>
                </a:solidFill>
                <a:latin typeface="Calibri"/>
                <a:ea typeface="Calibri"/>
                <a:cs typeface="Calibri"/>
                <a:sym typeface="Calibri"/>
              </a:rPr>
              <a:t>Performance requirements</a:t>
            </a:r>
            <a:endParaRPr sz="1450">
              <a:solidFill>
                <a:schemeClr val="dk1"/>
              </a:solidFill>
              <a:latin typeface="Calibri"/>
              <a:ea typeface="Calibri"/>
              <a:cs typeface="Calibri"/>
              <a:sym typeface="Calibri"/>
            </a:endParaRPr>
          </a:p>
          <a:p>
            <a:pPr indent="-320675" lvl="0" marL="457200" rtl="0" algn="l">
              <a:lnSpc>
                <a:spcPct val="115000"/>
              </a:lnSpc>
              <a:spcBef>
                <a:spcPts val="0"/>
              </a:spcBef>
              <a:spcAft>
                <a:spcPts val="0"/>
              </a:spcAft>
              <a:buClr>
                <a:schemeClr val="dk1"/>
              </a:buClr>
              <a:buSzPts val="1450"/>
              <a:buFont typeface="Calibri"/>
              <a:buChar char="-"/>
            </a:pPr>
            <a:r>
              <a:rPr lang="en-GB" sz="1450">
                <a:solidFill>
                  <a:schemeClr val="dk1"/>
                </a:solidFill>
                <a:latin typeface="Calibri"/>
                <a:ea typeface="Calibri"/>
                <a:cs typeface="Calibri"/>
                <a:sym typeface="Calibri"/>
              </a:rPr>
              <a:t>Constraints</a:t>
            </a:r>
            <a:endParaRPr sz="1450">
              <a:solidFill>
                <a:schemeClr val="dk1"/>
              </a:solidFill>
              <a:latin typeface="Calibri"/>
              <a:ea typeface="Calibri"/>
              <a:cs typeface="Calibri"/>
              <a:sym typeface="Calibri"/>
            </a:endParaRPr>
          </a:p>
          <a:p>
            <a:pPr indent="-320675" lvl="0" marL="457200" rtl="0" algn="l">
              <a:lnSpc>
                <a:spcPct val="115000"/>
              </a:lnSpc>
              <a:spcBef>
                <a:spcPts val="0"/>
              </a:spcBef>
              <a:spcAft>
                <a:spcPts val="0"/>
              </a:spcAft>
              <a:buClr>
                <a:schemeClr val="dk1"/>
              </a:buClr>
              <a:buSzPts val="1450"/>
              <a:buFont typeface="Calibri"/>
              <a:buChar char="-"/>
            </a:pPr>
            <a:r>
              <a:rPr lang="en-GB" sz="1450">
                <a:solidFill>
                  <a:schemeClr val="dk1"/>
                </a:solidFill>
                <a:latin typeface="Calibri"/>
                <a:ea typeface="Calibri"/>
                <a:cs typeface="Calibri"/>
                <a:sym typeface="Calibri"/>
              </a:rPr>
              <a:t>Bogus prompts (?)</a:t>
            </a:r>
            <a:endParaRPr sz="1450">
              <a:solidFill>
                <a:schemeClr val="dk1"/>
              </a:solidFill>
              <a:latin typeface="Calibri"/>
              <a:ea typeface="Calibri"/>
              <a:cs typeface="Calibri"/>
              <a:sym typeface="Calibri"/>
            </a:endParaRPr>
          </a:p>
          <a:p>
            <a:pPr indent="0" lvl="0" marL="0" rtl="0" algn="l">
              <a:spcBef>
                <a:spcPts val="120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p:txBody>
      </p:sp>
      <p:sp>
        <p:nvSpPr>
          <p:cNvPr id="390" name="Google Shape;390;p45"/>
          <p:cNvSpPr txBox="1"/>
          <p:nvPr/>
        </p:nvSpPr>
        <p:spPr>
          <a:xfrm>
            <a:off x="4254338" y="2666175"/>
            <a:ext cx="4067100" cy="8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450">
                <a:solidFill>
                  <a:schemeClr val="dk1"/>
                </a:solidFill>
              </a:rPr>
              <a:t>Output:</a:t>
            </a:r>
            <a:r>
              <a:rPr lang="en-GB" sz="1450">
                <a:solidFill>
                  <a:schemeClr val="dk1"/>
                </a:solidFill>
              </a:rPr>
              <a:t> </a:t>
            </a:r>
            <a:r>
              <a:rPr lang="en-GB" sz="1450">
                <a:solidFill>
                  <a:schemeClr val="dk1"/>
                </a:solidFill>
              </a:rPr>
              <a:t>Generates a set of distinct, structural, optimal and reliable topologies that meet the specifications of the user.</a:t>
            </a:r>
            <a:endParaRPr sz="145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46"/>
          <p:cNvSpPr txBox="1"/>
          <p:nvPr>
            <p:ph type="title"/>
          </p:nvPr>
        </p:nvSpPr>
        <p:spPr>
          <a:xfrm>
            <a:off x="675375" y="2031098"/>
            <a:ext cx="7556400" cy="582000"/>
          </a:xfrm>
          <a:prstGeom prst="rect">
            <a:avLst/>
          </a:prstGeom>
          <a:ln>
            <a:noFill/>
          </a:ln>
        </p:spPr>
        <p:txBody>
          <a:bodyPr anchorCtr="0" anchor="ctr" bIns="0" lIns="0" spcFirstLastPara="1" rIns="0" wrap="square" tIns="0">
            <a:noAutofit/>
          </a:bodyPr>
          <a:lstStyle/>
          <a:p>
            <a:pPr indent="0" lvl="0" marL="0" rtl="0" algn="ctr">
              <a:spcBef>
                <a:spcPts val="0"/>
              </a:spcBef>
              <a:spcAft>
                <a:spcPts val="0"/>
              </a:spcAft>
              <a:buNone/>
            </a:pPr>
            <a:r>
              <a:rPr lang="en-GB" sz="2400"/>
              <a:t>The next steps to be taken</a:t>
            </a:r>
            <a:endParaRPr sz="24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p47"/>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Next Step</a:t>
            </a:r>
            <a:endParaRPr/>
          </a:p>
        </p:txBody>
      </p:sp>
      <p:sp>
        <p:nvSpPr>
          <p:cNvPr id="401" name="Google Shape;401;p47"/>
          <p:cNvSpPr txBox="1"/>
          <p:nvPr/>
        </p:nvSpPr>
        <p:spPr>
          <a:xfrm>
            <a:off x="990750" y="1088375"/>
            <a:ext cx="7162500" cy="3864600"/>
          </a:xfrm>
          <a:prstGeom prst="rect">
            <a:avLst/>
          </a:prstGeom>
          <a:noFill/>
          <a:ln>
            <a:noFill/>
          </a:ln>
        </p:spPr>
        <p:txBody>
          <a:bodyPr anchorCtr="0" anchor="t" bIns="126000" lIns="91425" spcFirstLastPara="1" rIns="91425" wrap="square" tIns="91425">
            <a:spAutoFit/>
          </a:bodyPr>
          <a:lstStyle/>
          <a:p>
            <a:pPr indent="-330200" lvl="0" marL="457200" rtl="0" algn="l">
              <a:lnSpc>
                <a:spcPct val="115000"/>
              </a:lnSpc>
              <a:spcBef>
                <a:spcPts val="0"/>
              </a:spcBef>
              <a:spcAft>
                <a:spcPts val="0"/>
              </a:spcAft>
              <a:buClr>
                <a:schemeClr val="dk1"/>
              </a:buClr>
              <a:buSzPts val="1600"/>
              <a:buChar char="●"/>
            </a:pPr>
            <a:r>
              <a:rPr b="1" lang="en-GB" sz="1600">
                <a:solidFill>
                  <a:schemeClr val="dk1"/>
                </a:solidFill>
              </a:rPr>
              <a:t>System Integration</a:t>
            </a:r>
            <a:endParaRPr b="1" sz="1600">
              <a:solidFill>
                <a:schemeClr val="dk1"/>
              </a:solidFill>
            </a:endParaRPr>
          </a:p>
          <a:p>
            <a:pPr indent="457200" lvl="0" marL="457200" rtl="0" algn="l">
              <a:lnSpc>
                <a:spcPct val="115000"/>
              </a:lnSpc>
              <a:spcBef>
                <a:spcPts val="0"/>
              </a:spcBef>
              <a:spcAft>
                <a:spcPts val="0"/>
              </a:spcAft>
              <a:buNone/>
            </a:pPr>
            <a:r>
              <a:rPr lang="en-GB" sz="1600">
                <a:solidFill>
                  <a:schemeClr val="dk1"/>
                </a:solidFill>
              </a:rPr>
              <a:t>Merge codebases and validate the end-to-end framework.</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GB" sz="1600">
                <a:solidFill>
                  <a:schemeClr val="dk1"/>
                </a:solidFill>
              </a:rPr>
              <a:t>SFT Data Preparation</a:t>
            </a:r>
            <a:endParaRPr b="1" sz="1600">
              <a:solidFill>
                <a:schemeClr val="dk1"/>
              </a:solidFill>
            </a:endParaRPr>
          </a:p>
          <a:p>
            <a:pPr indent="457200" lvl="0" marL="457200" rtl="0" algn="l">
              <a:lnSpc>
                <a:spcPct val="115000"/>
              </a:lnSpc>
              <a:spcBef>
                <a:spcPts val="0"/>
              </a:spcBef>
              <a:spcAft>
                <a:spcPts val="0"/>
              </a:spcAft>
              <a:buNone/>
            </a:pPr>
            <a:r>
              <a:rPr lang="en-GB" sz="1600">
                <a:solidFill>
                  <a:schemeClr val="dk1"/>
                </a:solidFill>
              </a:rPr>
              <a:t>Generate and curate datasets for Supervised Fine-Tuning.</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GB" sz="1600">
                <a:solidFill>
                  <a:schemeClr val="dk1"/>
                </a:solidFill>
              </a:rPr>
              <a:t>Training &amp; Evaluation</a:t>
            </a:r>
            <a:endParaRPr b="1" sz="1600">
              <a:solidFill>
                <a:schemeClr val="dk1"/>
              </a:solidFill>
            </a:endParaRPr>
          </a:p>
          <a:p>
            <a:pPr indent="457200" lvl="0" marL="457200" rtl="0" algn="l">
              <a:lnSpc>
                <a:spcPct val="115000"/>
              </a:lnSpc>
              <a:spcBef>
                <a:spcPts val="0"/>
              </a:spcBef>
              <a:spcAft>
                <a:spcPts val="0"/>
              </a:spcAft>
              <a:buNone/>
            </a:pPr>
            <a:r>
              <a:rPr lang="en-GB" sz="1600">
                <a:solidFill>
                  <a:schemeClr val="dk1"/>
                </a:solidFill>
              </a:rPr>
              <a:t>Execute model training and assess topology generation performance.</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GB" sz="1600">
                <a:solidFill>
                  <a:schemeClr val="dk1"/>
                </a:solidFill>
              </a:rPr>
              <a:t>Iterative Refinement</a:t>
            </a:r>
            <a:endParaRPr b="1" sz="1600">
              <a:solidFill>
                <a:schemeClr val="dk1"/>
              </a:solidFill>
            </a:endParaRPr>
          </a:p>
          <a:p>
            <a:pPr indent="457200" lvl="0" marL="457200" rtl="0" algn="l">
              <a:lnSpc>
                <a:spcPct val="115000"/>
              </a:lnSpc>
              <a:spcBef>
                <a:spcPts val="0"/>
              </a:spcBef>
              <a:spcAft>
                <a:spcPts val="0"/>
              </a:spcAft>
              <a:buNone/>
            </a:pPr>
            <a:r>
              <a:rPr lang="en-GB" sz="1600">
                <a:solidFill>
                  <a:schemeClr val="dk1"/>
                </a:solidFill>
              </a:rPr>
              <a:t>Fine-tune parameters based on test metrics to iterate model versions.</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GB" sz="1600">
                <a:solidFill>
                  <a:schemeClr val="dk1"/>
                </a:solidFill>
              </a:rPr>
              <a:t>Adaptive LoRA Routing</a:t>
            </a:r>
            <a:endParaRPr b="1" sz="1600">
              <a:solidFill>
                <a:schemeClr val="dk1"/>
              </a:solidFill>
            </a:endParaRPr>
          </a:p>
          <a:p>
            <a:pPr indent="0" lvl="0" marL="914400" rtl="0" algn="l">
              <a:lnSpc>
                <a:spcPct val="115000"/>
              </a:lnSpc>
              <a:spcBef>
                <a:spcPts val="0"/>
              </a:spcBef>
              <a:spcAft>
                <a:spcPts val="0"/>
              </a:spcAft>
              <a:buNone/>
            </a:pPr>
            <a:r>
              <a:rPr lang="en-GB" sz="1600">
                <a:solidFill>
                  <a:schemeClr val="dk1"/>
                </a:solidFill>
              </a:rPr>
              <a:t>Train constraint-specific LoRAs with a dynamic routing mechanism for scenario adaptation.</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48"/>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References</a:t>
            </a:r>
            <a:endParaRPr/>
          </a:p>
        </p:txBody>
      </p:sp>
      <p:sp>
        <p:nvSpPr>
          <p:cNvPr id="407" name="Google Shape;407;p48"/>
          <p:cNvSpPr txBox="1"/>
          <p:nvPr/>
        </p:nvSpPr>
        <p:spPr>
          <a:xfrm>
            <a:off x="664900" y="1252200"/>
            <a:ext cx="8706900" cy="40536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rPr lang="en-GB" sz="1100">
                <a:solidFill>
                  <a:srgbClr val="0E0E0E"/>
                </a:solidFill>
              </a:rPr>
              <a:t>AI-Driven Integrated Circuit Design: A Survey of Techniques, Challenges, and Opportunities, IEEE： </a:t>
            </a:r>
            <a:r>
              <a:rPr lang="en-GB" sz="1100" u="sng">
                <a:solidFill>
                  <a:schemeClr val="hlink"/>
                </a:solidFill>
                <a:hlinkClick r:id="rId3"/>
              </a:rPr>
              <a:t>https://ieeexplore.ieee.org/stamp/stamp.jsp?tp=&amp;arnumber=11153923</a:t>
            </a:r>
            <a:endParaRPr sz="1100">
              <a:solidFill>
                <a:srgbClr val="0E0E0E"/>
              </a:solidFill>
            </a:endParaRPr>
          </a:p>
          <a:p>
            <a:pPr indent="0" lvl="0" marL="139700" rtl="0" algn="l">
              <a:lnSpc>
                <a:spcPct val="115000"/>
              </a:lnSpc>
              <a:spcBef>
                <a:spcPts val="0"/>
              </a:spcBef>
              <a:spcAft>
                <a:spcPts val="0"/>
              </a:spcAft>
              <a:buNone/>
            </a:pPr>
            <a:r>
              <a:rPr lang="en-GB" sz="1100">
                <a:solidFill>
                  <a:srgbClr val="0E0E0E"/>
                </a:solidFill>
              </a:rPr>
              <a:t>Automated Design of Analog Circuits Using Reinforcement Learning： </a:t>
            </a:r>
            <a:r>
              <a:rPr lang="en-GB" sz="1100" u="sng">
                <a:solidFill>
                  <a:schemeClr val="hlink"/>
                </a:solidFill>
                <a:hlinkClick r:id="rId4"/>
              </a:rPr>
              <a:t>https://ieeexplore.ieee.org/stamp/stamp.jsp?tp=&amp;arnumber=9576505</a:t>
            </a:r>
            <a:endParaRPr sz="1100">
              <a:solidFill>
                <a:srgbClr val="0E0E0E"/>
              </a:solidFill>
            </a:endParaRPr>
          </a:p>
          <a:p>
            <a:pPr indent="0" lvl="0" marL="139700" rtl="0" algn="l">
              <a:lnSpc>
                <a:spcPct val="115000"/>
              </a:lnSpc>
              <a:spcBef>
                <a:spcPts val="0"/>
              </a:spcBef>
              <a:spcAft>
                <a:spcPts val="0"/>
              </a:spcAft>
              <a:buNone/>
            </a:pPr>
            <a:r>
              <a:rPr lang="en-GB" sz="1100">
                <a:solidFill>
                  <a:srgbClr val="0E0E0E"/>
                </a:solidFill>
              </a:rPr>
              <a:t>Automatic Power Converter Design via Reinforcement Learning (Fan et al., ICCAD 2021)：</a:t>
            </a:r>
            <a:r>
              <a:rPr lang="en-GB" sz="1100" u="sng">
                <a:solidFill>
                  <a:schemeClr val="hlink"/>
                </a:solidFill>
                <a:hlinkClick r:id="rId5"/>
              </a:rPr>
              <a:t>https://shunzh.github.io/pdfs/fan-iccad-2021.pdf</a:t>
            </a:r>
            <a:endParaRPr sz="1100">
              <a:solidFill>
                <a:srgbClr val="0E0E0E"/>
              </a:solidFill>
            </a:endParaRPr>
          </a:p>
          <a:p>
            <a:pPr indent="0" lvl="0" marL="139700" rtl="0" algn="l">
              <a:lnSpc>
                <a:spcPct val="115000"/>
              </a:lnSpc>
              <a:spcBef>
                <a:spcPts val="0"/>
              </a:spcBef>
              <a:spcAft>
                <a:spcPts val="0"/>
              </a:spcAft>
              <a:buNone/>
            </a:pPr>
            <a:r>
              <a:rPr lang="en-GB" sz="1100">
                <a:solidFill>
                  <a:srgbClr val="0E0E0E"/>
                </a:solidFill>
              </a:rPr>
              <a:t>An Overview of Reinforcement Learning for Power Electronic Converters (2025):</a:t>
            </a:r>
            <a:endParaRPr sz="1100">
              <a:solidFill>
                <a:srgbClr val="0E0E0E"/>
              </a:solidFill>
            </a:endParaRPr>
          </a:p>
          <a:p>
            <a:pPr indent="0" lvl="0" marL="139700" rtl="0" algn="l">
              <a:lnSpc>
                <a:spcPct val="115000"/>
              </a:lnSpc>
              <a:spcBef>
                <a:spcPts val="0"/>
              </a:spcBef>
              <a:spcAft>
                <a:spcPts val="0"/>
              </a:spcAft>
              <a:buNone/>
            </a:pPr>
            <a:r>
              <a:rPr lang="en-GB" sz="1100" u="sng">
                <a:solidFill>
                  <a:schemeClr val="hlink"/>
                </a:solidFill>
                <a:hlinkClick r:id="rId6"/>
              </a:rPr>
              <a:t>https://www.sciencedirect.com/science/article/pii/S136403212501264X</a:t>
            </a:r>
            <a:endParaRPr sz="1100">
              <a:solidFill>
                <a:srgbClr val="0E0E0E"/>
              </a:solidFill>
            </a:endParaRPr>
          </a:p>
          <a:p>
            <a:pPr indent="0" lvl="0" marL="139700" rtl="0" algn="l">
              <a:lnSpc>
                <a:spcPct val="115000"/>
              </a:lnSpc>
              <a:spcBef>
                <a:spcPts val="0"/>
              </a:spcBef>
              <a:spcAft>
                <a:spcPts val="0"/>
              </a:spcAft>
              <a:buNone/>
            </a:pPr>
            <a:r>
              <a:rPr lang="en-GB" sz="1100">
                <a:solidFill>
                  <a:srgbClr val="0E0E0E"/>
                </a:solidFill>
              </a:rPr>
              <a:t>AUTOCIRCUIT-RL: Reinforcement Learning-Driven LLM for Automated Circuit Topology Generation (IBM Research, ICML 2025):</a:t>
            </a:r>
            <a:endParaRPr sz="1100">
              <a:solidFill>
                <a:srgbClr val="0E0E0E"/>
              </a:solidFill>
            </a:endParaRPr>
          </a:p>
          <a:p>
            <a:pPr indent="0" lvl="0" marL="139700" rtl="0" algn="l">
              <a:lnSpc>
                <a:spcPct val="115000"/>
              </a:lnSpc>
              <a:spcBef>
                <a:spcPts val="0"/>
              </a:spcBef>
              <a:spcAft>
                <a:spcPts val="0"/>
              </a:spcAft>
              <a:buNone/>
            </a:pPr>
            <a:r>
              <a:rPr lang="en-GB" sz="1100" u="sng">
                <a:solidFill>
                  <a:schemeClr val="hlink"/>
                </a:solidFill>
                <a:hlinkClick r:id="rId7"/>
              </a:rPr>
              <a:t>https://researchwith.njit.edu/en/publications/from-specification-to-topology-automatic-power-converter-design-v/</a:t>
            </a:r>
            <a:endParaRPr sz="1100">
              <a:solidFill>
                <a:srgbClr val="0E0E0E"/>
              </a:solidFill>
            </a:endParaRPr>
          </a:p>
          <a:p>
            <a:pPr indent="0" lvl="0" marL="139700" rtl="0" algn="l">
              <a:lnSpc>
                <a:spcPct val="115000"/>
              </a:lnSpc>
              <a:spcBef>
                <a:spcPts val="0"/>
              </a:spcBef>
              <a:spcAft>
                <a:spcPts val="0"/>
              </a:spcAft>
              <a:buNone/>
            </a:pPr>
            <a:r>
              <a:rPr lang="en-GB" sz="1100">
                <a:solidFill>
                  <a:srgbClr val="0E0E0E"/>
                </a:solidFill>
              </a:rPr>
              <a:t>Revolutionizing Power Electronics Design through Large Language Models (ScienceDirect, 2025):</a:t>
            </a:r>
            <a:endParaRPr sz="1100">
              <a:solidFill>
                <a:srgbClr val="0E0E0E"/>
              </a:solidFill>
            </a:endParaRPr>
          </a:p>
          <a:p>
            <a:pPr indent="0" lvl="0" marL="139700" rtl="0" algn="l">
              <a:lnSpc>
                <a:spcPct val="115000"/>
              </a:lnSpc>
              <a:spcBef>
                <a:spcPts val="0"/>
              </a:spcBef>
              <a:spcAft>
                <a:spcPts val="0"/>
              </a:spcAft>
              <a:buNone/>
            </a:pPr>
            <a:r>
              <a:rPr lang="en-GB" sz="1100" u="sng">
                <a:solidFill>
                  <a:schemeClr val="hlink"/>
                </a:solidFill>
                <a:hlinkClick r:id="rId8"/>
              </a:rPr>
              <a:t>https://www.sciencedirect.com/science/article/pii/S0045790625001910</a:t>
            </a:r>
            <a:endParaRPr sz="1100">
              <a:solidFill>
                <a:srgbClr val="0E0E0E"/>
              </a:solidFill>
            </a:endParaRPr>
          </a:p>
          <a:p>
            <a:pPr indent="0" lvl="0" marL="139700" rtl="0" algn="l">
              <a:lnSpc>
                <a:spcPct val="115000"/>
              </a:lnSpc>
              <a:spcBef>
                <a:spcPts val="0"/>
              </a:spcBef>
              <a:spcAft>
                <a:spcPts val="0"/>
              </a:spcAft>
              <a:buNone/>
            </a:pPr>
            <a:r>
              <a:rPr lang="en-GB" sz="1100">
                <a:solidFill>
                  <a:srgbClr val="0E0E0E"/>
                </a:solidFill>
              </a:rPr>
              <a:t>Graph Neural Networks for Topology Recognition of AMS Integrated Circuits (Polito thesis):</a:t>
            </a:r>
            <a:endParaRPr sz="1100">
              <a:solidFill>
                <a:srgbClr val="0E0E0E"/>
              </a:solidFill>
            </a:endParaRPr>
          </a:p>
          <a:p>
            <a:pPr indent="0" lvl="0" marL="139700" rtl="0" algn="l">
              <a:lnSpc>
                <a:spcPct val="115000"/>
              </a:lnSpc>
              <a:spcBef>
                <a:spcPts val="0"/>
              </a:spcBef>
              <a:spcAft>
                <a:spcPts val="0"/>
              </a:spcAft>
              <a:buNone/>
            </a:pPr>
            <a:r>
              <a:rPr lang="en-GB" sz="1100" u="sng">
                <a:solidFill>
                  <a:schemeClr val="hlink"/>
                </a:solidFill>
                <a:hlinkClick r:id="rId9"/>
              </a:rPr>
              <a:t>https://webthesis.biblio.polito.it/28628/1/tesi.pdf</a:t>
            </a:r>
            <a:endParaRPr sz="1100">
              <a:solidFill>
                <a:srgbClr val="0E0E0E"/>
              </a:solidFill>
            </a:endParaRPr>
          </a:p>
          <a:p>
            <a:pPr indent="0" lvl="0" marL="139700" rtl="0" algn="l">
              <a:lnSpc>
                <a:spcPct val="115000"/>
              </a:lnSpc>
              <a:spcBef>
                <a:spcPts val="0"/>
              </a:spcBef>
              <a:spcAft>
                <a:spcPts val="0"/>
              </a:spcAft>
              <a:buNone/>
            </a:pPr>
            <a:r>
              <a:t/>
            </a:r>
            <a:endParaRPr sz="1100">
              <a:solidFill>
                <a:srgbClr val="0E0E0E"/>
              </a:solidFill>
            </a:endParaRPr>
          </a:p>
          <a:p>
            <a:pPr indent="0" lvl="0" marL="139700" rtl="0" algn="l">
              <a:lnSpc>
                <a:spcPct val="115000"/>
              </a:lnSpc>
              <a:spcBef>
                <a:spcPts val="0"/>
              </a:spcBef>
              <a:spcAft>
                <a:spcPts val="0"/>
              </a:spcAft>
              <a:buNone/>
            </a:pPr>
            <a:r>
              <a:t/>
            </a:r>
            <a:endParaRPr sz="1100">
              <a:solidFill>
                <a:srgbClr val="0E0E0E"/>
              </a:solidFill>
            </a:endParaRPr>
          </a:p>
          <a:p>
            <a:pPr indent="0" lvl="0" marL="139700" rtl="0" algn="l">
              <a:lnSpc>
                <a:spcPct val="115000"/>
              </a:lnSpc>
              <a:spcBef>
                <a:spcPts val="0"/>
              </a:spcBef>
              <a:spcAft>
                <a:spcPts val="0"/>
              </a:spcAft>
              <a:buNone/>
            </a:pPr>
            <a:r>
              <a:t/>
            </a:r>
            <a:endParaRPr sz="1100">
              <a:solidFill>
                <a:srgbClr val="0E0E0E"/>
              </a:solidFill>
            </a:endParaRPr>
          </a:p>
          <a:p>
            <a:pPr indent="0" lvl="0" marL="139700" rtl="0" algn="l">
              <a:lnSpc>
                <a:spcPct val="115000"/>
              </a:lnSpc>
              <a:spcBef>
                <a:spcPts val="0"/>
              </a:spcBef>
              <a:spcAft>
                <a:spcPts val="0"/>
              </a:spcAft>
              <a:buNone/>
            </a:pPr>
            <a:r>
              <a:t/>
            </a:r>
            <a:endParaRPr sz="1100">
              <a:solidFill>
                <a:srgbClr val="0E0E0E"/>
              </a:solidFill>
            </a:endParaRPr>
          </a:p>
          <a:p>
            <a:pPr indent="0" lvl="0" marL="139700" rtl="0" algn="l">
              <a:lnSpc>
                <a:spcPct val="115000"/>
              </a:lnSpc>
              <a:spcBef>
                <a:spcPts val="0"/>
              </a:spcBef>
              <a:spcAft>
                <a:spcPts val="0"/>
              </a:spcAft>
              <a:buClr>
                <a:schemeClr val="dk1"/>
              </a:buClr>
              <a:buSzPts val="1100"/>
              <a:buFont typeface="Arial"/>
              <a:buNone/>
            </a:pPr>
            <a:r>
              <a:t/>
            </a:r>
            <a:endParaRPr sz="1100">
              <a:solidFill>
                <a:srgbClr val="0E0E0E"/>
              </a:solidFill>
            </a:endParaRPr>
          </a:p>
          <a:p>
            <a:pPr indent="0" lvl="0" marL="0" rtl="0" algn="l">
              <a:spcBef>
                <a:spcPts val="0"/>
              </a:spcBef>
              <a:spcAft>
                <a:spcPts val="0"/>
              </a:spcAft>
              <a:buNone/>
            </a:pPr>
            <a:r>
              <a:t/>
            </a:r>
            <a:endParaRPr sz="11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1" name="Shape 411"/>
        <p:cNvGrpSpPr/>
        <p:nvPr/>
      </p:nvGrpSpPr>
      <p:grpSpPr>
        <a:xfrm>
          <a:off x="0" y="0"/>
          <a:ext cx="0" cy="0"/>
          <a:chOff x="0" y="0"/>
          <a:chExt cx="0" cy="0"/>
        </a:xfrm>
      </p:grpSpPr>
      <p:sp>
        <p:nvSpPr>
          <p:cNvPr id="412" name="Google Shape;412;p49"/>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Feedback</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6" name="Shape 416"/>
        <p:cNvGrpSpPr/>
        <p:nvPr/>
      </p:nvGrpSpPr>
      <p:grpSpPr>
        <a:xfrm>
          <a:off x="0" y="0"/>
          <a:ext cx="0" cy="0"/>
          <a:chOff x="0" y="0"/>
          <a:chExt cx="0" cy="0"/>
        </a:xfrm>
      </p:grpSpPr>
      <p:sp>
        <p:nvSpPr>
          <p:cNvPr id="417" name="Google Shape;417;p50"/>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Atakan Kumas</a:t>
            </a:r>
            <a:endParaRPr/>
          </a:p>
        </p:txBody>
      </p:sp>
      <p:sp>
        <p:nvSpPr>
          <p:cNvPr id="418" name="Google Shape;418;p50"/>
          <p:cNvSpPr txBox="1"/>
          <p:nvPr/>
        </p:nvSpPr>
        <p:spPr>
          <a:xfrm>
            <a:off x="339275" y="1193800"/>
            <a:ext cx="7837800" cy="2624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2000">
                <a:solidFill>
                  <a:schemeClr val="dk1"/>
                </a:solidFill>
                <a:latin typeface="Calibri"/>
                <a:ea typeface="Calibri"/>
                <a:cs typeface="Calibri"/>
                <a:sym typeface="Calibri"/>
              </a:rPr>
              <a:t>What is your individual contribution to the project so far? </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rPr lang="en-GB" sz="2000">
                <a:solidFill>
                  <a:schemeClr val="dk1"/>
                </a:solidFill>
              </a:rPr>
              <a:t>How is your initial planning affected by now?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Clr>
                <a:schemeClr val="dk1"/>
              </a:buClr>
              <a:buSzPts val="1100"/>
              <a:buFont typeface="Arial"/>
              <a:buNone/>
            </a:pPr>
            <a:r>
              <a:rPr lang="en-GB" sz="2000">
                <a:solidFill>
                  <a:schemeClr val="dk1"/>
                </a:solidFill>
              </a:rPr>
              <a:t>What do you expect to achieve? </a:t>
            </a:r>
            <a:endParaRPr sz="2000">
              <a:solidFill>
                <a:schemeClr val="dk1"/>
              </a:solidFill>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p:txBody>
      </p:sp>
      <p:sp>
        <p:nvSpPr>
          <p:cNvPr id="419" name="Google Shape;419;p50"/>
          <p:cNvSpPr txBox="1"/>
          <p:nvPr/>
        </p:nvSpPr>
        <p:spPr>
          <a:xfrm>
            <a:off x="339275" y="1741725"/>
            <a:ext cx="6789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3" name="Shape 423"/>
        <p:cNvGrpSpPr/>
        <p:nvPr/>
      </p:nvGrpSpPr>
      <p:grpSpPr>
        <a:xfrm>
          <a:off x="0" y="0"/>
          <a:ext cx="0" cy="0"/>
          <a:chOff x="0" y="0"/>
          <a:chExt cx="0" cy="0"/>
        </a:xfrm>
      </p:grpSpPr>
      <p:sp>
        <p:nvSpPr>
          <p:cNvPr id="424" name="Google Shape;424;p51"/>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Zijian dong</a:t>
            </a:r>
            <a:endParaRPr/>
          </a:p>
        </p:txBody>
      </p:sp>
      <p:sp>
        <p:nvSpPr>
          <p:cNvPr id="425" name="Google Shape;425;p51"/>
          <p:cNvSpPr txBox="1"/>
          <p:nvPr/>
        </p:nvSpPr>
        <p:spPr>
          <a:xfrm>
            <a:off x="339275" y="1193800"/>
            <a:ext cx="7837800" cy="2624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2000">
                <a:solidFill>
                  <a:schemeClr val="dk1"/>
                </a:solidFill>
                <a:latin typeface="Calibri"/>
                <a:ea typeface="Calibri"/>
                <a:cs typeface="Calibri"/>
                <a:sym typeface="Calibri"/>
              </a:rPr>
              <a:t>What is your individual contribution to the project so far? </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rPr lang="en-GB" sz="2000">
                <a:solidFill>
                  <a:schemeClr val="dk1"/>
                </a:solidFill>
              </a:rPr>
              <a:t>How is your initial planning affected by now?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rPr lang="en-GB" sz="2000">
                <a:solidFill>
                  <a:schemeClr val="dk1"/>
                </a:solidFill>
              </a:rPr>
              <a:t>What do you expect to achieve? </a:t>
            </a:r>
            <a:endParaRPr sz="2000">
              <a:solidFill>
                <a:schemeClr val="dk1"/>
              </a:solidFill>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p:txBody>
      </p:sp>
      <p:sp>
        <p:nvSpPr>
          <p:cNvPr id="426" name="Google Shape;426;p51"/>
          <p:cNvSpPr txBox="1"/>
          <p:nvPr/>
        </p:nvSpPr>
        <p:spPr>
          <a:xfrm>
            <a:off x="339275" y="1741725"/>
            <a:ext cx="6789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30" name="Shape 430"/>
        <p:cNvGrpSpPr/>
        <p:nvPr/>
      </p:nvGrpSpPr>
      <p:grpSpPr>
        <a:xfrm>
          <a:off x="0" y="0"/>
          <a:ext cx="0" cy="0"/>
          <a:chOff x="0" y="0"/>
          <a:chExt cx="0" cy="0"/>
        </a:xfrm>
      </p:grpSpPr>
      <p:sp>
        <p:nvSpPr>
          <p:cNvPr id="431" name="Google Shape;431;p52"/>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Chris hogendoorn</a:t>
            </a:r>
            <a:endParaRPr/>
          </a:p>
        </p:txBody>
      </p:sp>
      <p:sp>
        <p:nvSpPr>
          <p:cNvPr id="432" name="Google Shape;432;p52"/>
          <p:cNvSpPr txBox="1"/>
          <p:nvPr/>
        </p:nvSpPr>
        <p:spPr>
          <a:xfrm>
            <a:off x="339275" y="1193800"/>
            <a:ext cx="7837800" cy="2624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2000">
                <a:solidFill>
                  <a:schemeClr val="dk1"/>
                </a:solidFill>
                <a:latin typeface="Calibri"/>
                <a:ea typeface="Calibri"/>
                <a:cs typeface="Calibri"/>
                <a:sym typeface="Calibri"/>
              </a:rPr>
              <a:t>What is your individual contribution to the project so far? </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rPr lang="en-GB" sz="2000">
                <a:solidFill>
                  <a:schemeClr val="dk1"/>
                </a:solidFill>
              </a:rPr>
              <a:t>How is your initial planning affected by now?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rPr lang="en-GB" sz="2000">
                <a:solidFill>
                  <a:schemeClr val="dk1"/>
                </a:solidFill>
              </a:rPr>
              <a:t>What do you expect to achieve? </a:t>
            </a:r>
            <a:endParaRPr sz="2000">
              <a:solidFill>
                <a:schemeClr val="dk1"/>
              </a:solidFill>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p:txBody>
      </p:sp>
      <p:sp>
        <p:nvSpPr>
          <p:cNvPr id="433" name="Google Shape;433;p52"/>
          <p:cNvSpPr txBox="1"/>
          <p:nvPr/>
        </p:nvSpPr>
        <p:spPr>
          <a:xfrm>
            <a:off x="339275" y="1741725"/>
            <a:ext cx="6789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37" name="Shape 437"/>
        <p:cNvGrpSpPr/>
        <p:nvPr/>
      </p:nvGrpSpPr>
      <p:grpSpPr>
        <a:xfrm>
          <a:off x="0" y="0"/>
          <a:ext cx="0" cy="0"/>
          <a:chOff x="0" y="0"/>
          <a:chExt cx="0" cy="0"/>
        </a:xfrm>
      </p:grpSpPr>
      <p:sp>
        <p:nvSpPr>
          <p:cNvPr id="438" name="Google Shape;438;p53"/>
          <p:cNvSpPr txBox="1"/>
          <p:nvPr>
            <p:ph type="title"/>
          </p:nvPr>
        </p:nvSpPr>
        <p:spPr>
          <a:xfrm>
            <a:off x="758825" y="518400"/>
            <a:ext cx="7556400" cy="733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Yuhao Shan</a:t>
            </a:r>
            <a:endParaRPr/>
          </a:p>
        </p:txBody>
      </p:sp>
      <p:sp>
        <p:nvSpPr>
          <p:cNvPr id="439" name="Google Shape;439;p53"/>
          <p:cNvSpPr txBox="1"/>
          <p:nvPr/>
        </p:nvSpPr>
        <p:spPr>
          <a:xfrm>
            <a:off x="339275" y="1193800"/>
            <a:ext cx="7837800" cy="2624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2000">
                <a:solidFill>
                  <a:schemeClr val="dk1"/>
                </a:solidFill>
                <a:latin typeface="Calibri"/>
                <a:ea typeface="Calibri"/>
                <a:cs typeface="Calibri"/>
                <a:sym typeface="Calibri"/>
              </a:rPr>
              <a:t>What is your individual contribution to the project so far? </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a:p>
            <a:pPr indent="0" lvl="0" marL="0" rtl="0" algn="l">
              <a:spcBef>
                <a:spcPts val="0"/>
              </a:spcBef>
              <a:spcAft>
                <a:spcPts val="0"/>
              </a:spcAft>
              <a:buNone/>
            </a:pPr>
            <a:r>
              <a:rPr lang="en-GB" sz="2000">
                <a:solidFill>
                  <a:schemeClr val="dk1"/>
                </a:solidFill>
              </a:rPr>
              <a:t>How is your initial planning affected by now?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t/>
            </a:r>
            <a:endParaRPr sz="2000">
              <a:solidFill>
                <a:schemeClr val="dk1"/>
              </a:solidFill>
            </a:endParaRPr>
          </a:p>
          <a:p>
            <a:pPr indent="0" lvl="0" marL="0" rtl="0" algn="l">
              <a:spcBef>
                <a:spcPts val="0"/>
              </a:spcBef>
              <a:spcAft>
                <a:spcPts val="0"/>
              </a:spcAft>
              <a:buNone/>
            </a:pPr>
            <a:r>
              <a:rPr lang="en-GB" sz="2000">
                <a:solidFill>
                  <a:schemeClr val="dk1"/>
                </a:solidFill>
              </a:rPr>
              <a:t>What do you expect to achieve? </a:t>
            </a:r>
            <a:endParaRPr sz="2000">
              <a:solidFill>
                <a:schemeClr val="dk1"/>
              </a:solidFill>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p:txBody>
      </p:sp>
      <p:sp>
        <p:nvSpPr>
          <p:cNvPr id="440" name="Google Shape;440;p53"/>
          <p:cNvSpPr txBox="1"/>
          <p:nvPr/>
        </p:nvSpPr>
        <p:spPr>
          <a:xfrm>
            <a:off x="339275" y="1741725"/>
            <a:ext cx="6789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4" name="Shape 444"/>
        <p:cNvGrpSpPr/>
        <p:nvPr/>
      </p:nvGrpSpPr>
      <p:grpSpPr>
        <a:xfrm>
          <a:off x="0" y="0"/>
          <a:ext cx="0" cy="0"/>
          <a:chOff x="0" y="0"/>
          <a:chExt cx="0" cy="0"/>
        </a:xfrm>
      </p:grpSpPr>
      <p:pic>
        <p:nvPicPr>
          <p:cNvPr id="445" name="Google Shape;445;p54"/>
          <p:cNvPicPr preferRelativeResize="0"/>
          <p:nvPr/>
        </p:nvPicPr>
        <p:blipFill>
          <a:blip r:embed="rId3">
            <a:alphaModFix/>
          </a:blip>
          <a:stretch>
            <a:fillRect/>
          </a:stretch>
        </p:blipFill>
        <p:spPr>
          <a:xfrm>
            <a:off x="0" y="0"/>
            <a:ext cx="4717975" cy="2653861"/>
          </a:xfrm>
          <a:prstGeom prst="rect">
            <a:avLst/>
          </a:prstGeom>
          <a:noFill/>
          <a:ln>
            <a:noFill/>
          </a:ln>
        </p:spPr>
      </p:pic>
      <p:sp>
        <p:nvSpPr>
          <p:cNvPr id="446" name="Google Shape;446;p54"/>
          <p:cNvSpPr txBox="1"/>
          <p:nvPr/>
        </p:nvSpPr>
        <p:spPr>
          <a:xfrm>
            <a:off x="-62" y="1829475"/>
            <a:ext cx="4718100" cy="1038900"/>
          </a:xfrm>
          <a:prstGeom prst="rect">
            <a:avLst/>
          </a:prstGeom>
          <a:solidFill>
            <a:srgbClr val="9FC5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200">
                <a:solidFill>
                  <a:schemeClr val="dk1"/>
                </a:solidFill>
                <a:latin typeface="Calibri"/>
                <a:ea typeface="Calibri"/>
                <a:cs typeface="Calibri"/>
                <a:sym typeface="Calibri"/>
              </a:rPr>
              <a:t>This is ASML guy, he is tired of designing hearts for the machine 💔. It takes too much time! His boss will get angry if market deadlines aren’t met.  </a:t>
            </a:r>
            <a:endParaRPr b="1" sz="1200">
              <a:solidFill>
                <a:schemeClr val="dk1"/>
              </a:solidFill>
              <a:latin typeface="Calibri"/>
              <a:ea typeface="Calibri"/>
              <a:cs typeface="Calibri"/>
              <a:sym typeface="Calibri"/>
            </a:endParaRPr>
          </a:p>
          <a:p>
            <a:pPr indent="0" lvl="0" marL="0" rtl="0" algn="l">
              <a:spcBef>
                <a:spcPts val="0"/>
              </a:spcBef>
              <a:spcAft>
                <a:spcPts val="0"/>
              </a:spcAft>
              <a:buNone/>
            </a:pPr>
            <a:r>
              <a:t/>
            </a:r>
            <a:endParaRPr sz="1950">
              <a:solidFill>
                <a:schemeClr val="dk1"/>
              </a:solidFill>
              <a:latin typeface="Calibri"/>
              <a:ea typeface="Calibri"/>
              <a:cs typeface="Calibri"/>
              <a:sym typeface="Calibri"/>
            </a:endParaRPr>
          </a:p>
        </p:txBody>
      </p:sp>
      <p:pic>
        <p:nvPicPr>
          <p:cNvPr id="447" name="Google Shape;447;p54"/>
          <p:cNvPicPr preferRelativeResize="0"/>
          <p:nvPr/>
        </p:nvPicPr>
        <p:blipFill>
          <a:blip r:embed="rId4">
            <a:alphaModFix/>
          </a:blip>
          <a:stretch>
            <a:fillRect/>
          </a:stretch>
        </p:blipFill>
        <p:spPr>
          <a:xfrm>
            <a:off x="4717975" y="0"/>
            <a:ext cx="4426025" cy="5143500"/>
          </a:xfrm>
          <a:prstGeom prst="rect">
            <a:avLst/>
          </a:prstGeom>
          <a:noFill/>
          <a:ln>
            <a:noFill/>
          </a:ln>
        </p:spPr>
      </p:pic>
      <p:sp>
        <p:nvSpPr>
          <p:cNvPr id="448" name="Google Shape;448;p54"/>
          <p:cNvSpPr/>
          <p:nvPr/>
        </p:nvSpPr>
        <p:spPr>
          <a:xfrm>
            <a:off x="2883600" y="0"/>
            <a:ext cx="2041200" cy="1471200"/>
          </a:xfrm>
          <a:prstGeom prst="cloudCallout">
            <a:avLst>
              <a:gd fmla="val -39954" name="adj1"/>
              <a:gd fmla="val 47106" name="adj2"/>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pic>
        <p:nvPicPr>
          <p:cNvPr id="449" name="Google Shape;449;p54"/>
          <p:cNvPicPr preferRelativeResize="0"/>
          <p:nvPr/>
        </p:nvPicPr>
        <p:blipFill>
          <a:blip r:embed="rId5">
            <a:alphaModFix/>
          </a:blip>
          <a:stretch>
            <a:fillRect/>
          </a:stretch>
        </p:blipFill>
        <p:spPr>
          <a:xfrm>
            <a:off x="3151800" y="306750"/>
            <a:ext cx="1373399" cy="857701"/>
          </a:xfrm>
          <a:prstGeom prst="rect">
            <a:avLst/>
          </a:prstGeom>
          <a:noFill/>
          <a:ln>
            <a:noFill/>
          </a:ln>
        </p:spPr>
      </p:pic>
      <p:sp>
        <p:nvSpPr>
          <p:cNvPr id="450" name="Google Shape;450;p54"/>
          <p:cNvSpPr txBox="1"/>
          <p:nvPr/>
        </p:nvSpPr>
        <p:spPr>
          <a:xfrm>
            <a:off x="5057375" y="237950"/>
            <a:ext cx="3351000" cy="484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950">
                <a:solidFill>
                  <a:schemeClr val="lt1"/>
                </a:solidFill>
                <a:latin typeface="Calibri"/>
                <a:ea typeface="Calibri"/>
                <a:cs typeface="Calibri"/>
                <a:sym typeface="Calibri"/>
              </a:rPr>
              <a:t>Solution:</a:t>
            </a:r>
            <a:endParaRPr b="1" sz="1950">
              <a:solidFill>
                <a:schemeClr val="lt1"/>
              </a:solidFill>
              <a:latin typeface="Calibri"/>
              <a:ea typeface="Calibri"/>
              <a:cs typeface="Calibri"/>
              <a:sym typeface="Calibri"/>
            </a:endParaRPr>
          </a:p>
        </p:txBody>
      </p:sp>
      <p:pic>
        <p:nvPicPr>
          <p:cNvPr id="451" name="Google Shape;451;p54"/>
          <p:cNvPicPr preferRelativeResize="0"/>
          <p:nvPr/>
        </p:nvPicPr>
        <p:blipFill>
          <a:blip r:embed="rId6">
            <a:alphaModFix/>
          </a:blip>
          <a:stretch>
            <a:fillRect/>
          </a:stretch>
        </p:blipFill>
        <p:spPr>
          <a:xfrm>
            <a:off x="5406525" y="2249825"/>
            <a:ext cx="1552650" cy="1033225"/>
          </a:xfrm>
          <a:prstGeom prst="rect">
            <a:avLst/>
          </a:prstGeom>
          <a:noFill/>
          <a:ln>
            <a:noFill/>
          </a:ln>
        </p:spPr>
      </p:pic>
      <p:pic>
        <p:nvPicPr>
          <p:cNvPr id="452" name="Google Shape;452;p54"/>
          <p:cNvPicPr preferRelativeResize="0"/>
          <p:nvPr/>
        </p:nvPicPr>
        <p:blipFill>
          <a:blip r:embed="rId7">
            <a:alphaModFix/>
          </a:blip>
          <a:stretch>
            <a:fillRect/>
          </a:stretch>
        </p:blipFill>
        <p:spPr>
          <a:xfrm>
            <a:off x="5496148" y="3726300"/>
            <a:ext cx="1373400" cy="1373400"/>
          </a:xfrm>
          <a:prstGeom prst="rect">
            <a:avLst/>
          </a:prstGeom>
          <a:noFill/>
          <a:ln>
            <a:noFill/>
          </a:ln>
        </p:spPr>
      </p:pic>
      <p:pic>
        <p:nvPicPr>
          <p:cNvPr id="453" name="Google Shape;453;p54"/>
          <p:cNvPicPr preferRelativeResize="0"/>
          <p:nvPr/>
        </p:nvPicPr>
        <p:blipFill>
          <a:blip r:embed="rId8">
            <a:alphaModFix/>
          </a:blip>
          <a:stretch>
            <a:fillRect/>
          </a:stretch>
        </p:blipFill>
        <p:spPr>
          <a:xfrm>
            <a:off x="0" y="2683575"/>
            <a:ext cx="4717976" cy="2459924"/>
          </a:xfrm>
          <a:prstGeom prst="rect">
            <a:avLst/>
          </a:prstGeom>
          <a:noFill/>
          <a:ln>
            <a:noFill/>
          </a:ln>
        </p:spPr>
      </p:pic>
      <p:sp>
        <p:nvSpPr>
          <p:cNvPr id="454" name="Google Shape;454;p54"/>
          <p:cNvSpPr txBox="1"/>
          <p:nvPr/>
        </p:nvSpPr>
        <p:spPr>
          <a:xfrm>
            <a:off x="-62" y="4404600"/>
            <a:ext cx="4718100" cy="923400"/>
          </a:xfrm>
          <a:prstGeom prst="rect">
            <a:avLst/>
          </a:prstGeom>
          <a:solidFill>
            <a:srgbClr val="9FC5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200">
                <a:solidFill>
                  <a:schemeClr val="dk1"/>
                </a:solidFill>
                <a:latin typeface="Calibri"/>
                <a:ea typeface="Calibri"/>
                <a:cs typeface="Calibri"/>
                <a:sym typeface="Calibri"/>
              </a:rPr>
              <a:t>Thanks to </a:t>
            </a:r>
            <a:r>
              <a:rPr b="1" lang="en-GB" sz="1200">
                <a:solidFill>
                  <a:schemeClr val="dk1"/>
                </a:solidFill>
                <a:latin typeface="Calibri"/>
                <a:ea typeface="Calibri"/>
                <a:cs typeface="Calibri"/>
                <a:sym typeface="Calibri"/>
              </a:rPr>
              <a:t>efficient </a:t>
            </a:r>
            <a:r>
              <a:rPr b="1" lang="en-GB" sz="1200">
                <a:solidFill>
                  <a:schemeClr val="dk1"/>
                </a:solidFill>
                <a:latin typeface="Calibri"/>
                <a:ea typeface="Calibri"/>
                <a:cs typeface="Calibri"/>
                <a:sym typeface="Calibri"/>
              </a:rPr>
              <a:t>AI-generated heart structures, machines work optimally. ASML guy is happy and boss is also happy. With better chips, cancer research, stopping climate change etc. will be made more accessible.</a:t>
            </a:r>
            <a:endParaRPr b="1" sz="1200">
              <a:solidFill>
                <a:schemeClr val="dk1"/>
              </a:solidFill>
              <a:latin typeface="Calibri"/>
              <a:ea typeface="Calibri"/>
              <a:cs typeface="Calibri"/>
              <a:sym typeface="Calibri"/>
            </a:endParaRPr>
          </a:p>
        </p:txBody>
      </p:sp>
      <p:sp>
        <p:nvSpPr>
          <p:cNvPr id="455" name="Google Shape;455;p54"/>
          <p:cNvSpPr txBox="1"/>
          <p:nvPr/>
        </p:nvSpPr>
        <p:spPr>
          <a:xfrm>
            <a:off x="5122875" y="874800"/>
            <a:ext cx="2310300" cy="800400"/>
          </a:xfrm>
          <a:prstGeom prst="rect">
            <a:avLst/>
          </a:prstGeom>
          <a:solidFill>
            <a:srgbClr val="9FC5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2000">
                <a:solidFill>
                  <a:schemeClr val="dk1"/>
                </a:solidFill>
                <a:latin typeface="Calibri"/>
                <a:ea typeface="Calibri"/>
                <a:cs typeface="Calibri"/>
                <a:sym typeface="Calibri"/>
              </a:rPr>
              <a:t>I want the heart to look like this …</a:t>
            </a:r>
            <a:endParaRPr b="1" sz="2000">
              <a:solidFill>
                <a:schemeClr val="dk1"/>
              </a:solidFill>
              <a:latin typeface="Calibri"/>
              <a:ea typeface="Calibri"/>
              <a:cs typeface="Calibri"/>
              <a:sym typeface="Calibri"/>
            </a:endParaRPr>
          </a:p>
        </p:txBody>
      </p:sp>
      <p:sp>
        <p:nvSpPr>
          <p:cNvPr id="456" name="Google Shape;456;p54"/>
          <p:cNvSpPr/>
          <p:nvPr/>
        </p:nvSpPr>
        <p:spPr>
          <a:xfrm>
            <a:off x="5987975" y="1683125"/>
            <a:ext cx="328500" cy="566700"/>
          </a:xfrm>
          <a:prstGeom prst="downArrow">
            <a:avLst>
              <a:gd fmla="val 50000" name="adj1"/>
              <a:gd fmla="val 50000" name="adj2"/>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57" name="Google Shape;457;p54"/>
          <p:cNvSpPr/>
          <p:nvPr/>
        </p:nvSpPr>
        <p:spPr>
          <a:xfrm>
            <a:off x="5987975" y="3210200"/>
            <a:ext cx="328500" cy="566700"/>
          </a:xfrm>
          <a:prstGeom prst="downArrow">
            <a:avLst>
              <a:gd fmla="val 50000" name="adj1"/>
              <a:gd fmla="val 50000" name="adj2"/>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1" name="Shape 461"/>
        <p:cNvGrpSpPr/>
        <p:nvPr/>
      </p:nvGrpSpPr>
      <p:grpSpPr>
        <a:xfrm>
          <a:off x="0" y="0"/>
          <a:ext cx="0" cy="0"/>
          <a:chOff x="0" y="0"/>
          <a:chExt cx="0" cy="0"/>
        </a:xfrm>
      </p:grpSpPr>
      <p:sp>
        <p:nvSpPr>
          <p:cNvPr id="462" name="Google Shape;462;p55"/>
          <p:cNvSpPr txBox="1"/>
          <p:nvPr>
            <p:ph type="title"/>
          </p:nvPr>
        </p:nvSpPr>
        <p:spPr>
          <a:xfrm>
            <a:off x="793800" y="82825"/>
            <a:ext cx="7556400" cy="733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GB"/>
              <a:t>Process pipeline</a:t>
            </a:r>
            <a:endParaRPr/>
          </a:p>
        </p:txBody>
      </p:sp>
      <p:sp>
        <p:nvSpPr>
          <p:cNvPr id="463" name="Google Shape;463;p55"/>
          <p:cNvSpPr/>
          <p:nvPr/>
        </p:nvSpPr>
        <p:spPr>
          <a:xfrm>
            <a:off x="528900"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User input</a:t>
            </a:r>
            <a:endParaRPr>
              <a:solidFill>
                <a:schemeClr val="dk1"/>
              </a:solidFill>
              <a:latin typeface="Calibri"/>
              <a:ea typeface="Calibri"/>
              <a:cs typeface="Calibri"/>
              <a:sym typeface="Calibri"/>
            </a:endParaRPr>
          </a:p>
        </p:txBody>
      </p:sp>
      <p:sp>
        <p:nvSpPr>
          <p:cNvPr id="464" name="Google Shape;464;p55"/>
          <p:cNvSpPr/>
          <p:nvPr/>
        </p:nvSpPr>
        <p:spPr>
          <a:xfrm>
            <a:off x="2159628"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Instruction processing</a:t>
            </a:r>
            <a:endParaRPr>
              <a:solidFill>
                <a:schemeClr val="dk1"/>
              </a:solidFill>
              <a:latin typeface="Calibri"/>
              <a:ea typeface="Calibri"/>
              <a:cs typeface="Calibri"/>
              <a:sym typeface="Calibri"/>
            </a:endParaRPr>
          </a:p>
        </p:txBody>
      </p:sp>
      <p:sp>
        <p:nvSpPr>
          <p:cNvPr id="465" name="Google Shape;465;p55"/>
          <p:cNvSpPr/>
          <p:nvPr/>
        </p:nvSpPr>
        <p:spPr>
          <a:xfrm>
            <a:off x="3790325"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Topology generation</a:t>
            </a:r>
            <a:endParaRPr>
              <a:solidFill>
                <a:schemeClr val="dk1"/>
              </a:solidFill>
              <a:latin typeface="Calibri"/>
              <a:ea typeface="Calibri"/>
              <a:cs typeface="Calibri"/>
              <a:sym typeface="Calibri"/>
            </a:endParaRPr>
          </a:p>
        </p:txBody>
      </p:sp>
      <p:sp>
        <p:nvSpPr>
          <p:cNvPr id="466" name="Google Shape;466;p55"/>
          <p:cNvSpPr/>
          <p:nvPr/>
        </p:nvSpPr>
        <p:spPr>
          <a:xfrm>
            <a:off x="5532650"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Topology validation</a:t>
            </a:r>
            <a:endParaRPr>
              <a:solidFill>
                <a:schemeClr val="dk1"/>
              </a:solidFill>
              <a:latin typeface="Calibri"/>
              <a:ea typeface="Calibri"/>
              <a:cs typeface="Calibri"/>
              <a:sym typeface="Calibri"/>
            </a:endParaRPr>
          </a:p>
        </p:txBody>
      </p:sp>
      <p:sp>
        <p:nvSpPr>
          <p:cNvPr id="467" name="Google Shape;467;p55"/>
          <p:cNvSpPr/>
          <p:nvPr/>
        </p:nvSpPr>
        <p:spPr>
          <a:xfrm>
            <a:off x="7274975"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Topology simulation</a:t>
            </a:r>
            <a:endParaRPr>
              <a:solidFill>
                <a:schemeClr val="dk1"/>
              </a:solidFill>
              <a:latin typeface="Calibri"/>
              <a:ea typeface="Calibri"/>
              <a:cs typeface="Calibri"/>
              <a:sym typeface="Calibri"/>
            </a:endParaRPr>
          </a:p>
        </p:txBody>
      </p:sp>
      <p:sp>
        <p:nvSpPr>
          <p:cNvPr id="468" name="Google Shape;468;p55"/>
          <p:cNvSpPr/>
          <p:nvPr/>
        </p:nvSpPr>
        <p:spPr>
          <a:xfrm>
            <a:off x="7227125" y="3551900"/>
            <a:ext cx="13941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Reward function processing</a:t>
            </a:r>
            <a:endParaRPr>
              <a:solidFill>
                <a:schemeClr val="dk1"/>
              </a:solidFill>
              <a:latin typeface="Calibri"/>
              <a:ea typeface="Calibri"/>
              <a:cs typeface="Calibri"/>
              <a:sym typeface="Calibri"/>
            </a:endParaRPr>
          </a:p>
        </p:txBody>
      </p:sp>
      <p:sp>
        <p:nvSpPr>
          <p:cNvPr id="469" name="Google Shape;469;p55"/>
          <p:cNvSpPr/>
          <p:nvPr/>
        </p:nvSpPr>
        <p:spPr>
          <a:xfrm>
            <a:off x="3742475" y="3551900"/>
            <a:ext cx="13941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Reinforcement learning loop</a:t>
            </a:r>
            <a:endParaRPr>
              <a:solidFill>
                <a:schemeClr val="dk1"/>
              </a:solidFill>
              <a:latin typeface="Calibri"/>
              <a:ea typeface="Calibri"/>
              <a:cs typeface="Calibri"/>
              <a:sym typeface="Calibri"/>
            </a:endParaRPr>
          </a:p>
        </p:txBody>
      </p:sp>
      <p:sp>
        <p:nvSpPr>
          <p:cNvPr id="470" name="Google Shape;470;p55"/>
          <p:cNvSpPr/>
          <p:nvPr/>
        </p:nvSpPr>
        <p:spPr>
          <a:xfrm>
            <a:off x="3742475" y="1098925"/>
            <a:ext cx="13941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Supervised fine-tuning</a:t>
            </a:r>
            <a:endParaRPr>
              <a:solidFill>
                <a:schemeClr val="dk1"/>
              </a:solidFill>
              <a:latin typeface="Calibri"/>
              <a:ea typeface="Calibri"/>
              <a:cs typeface="Calibri"/>
              <a:sym typeface="Calibri"/>
            </a:endParaRPr>
          </a:p>
        </p:txBody>
      </p:sp>
      <p:sp>
        <p:nvSpPr>
          <p:cNvPr id="471" name="Google Shape;471;p55"/>
          <p:cNvSpPr/>
          <p:nvPr/>
        </p:nvSpPr>
        <p:spPr>
          <a:xfrm>
            <a:off x="1730775" y="2639900"/>
            <a:ext cx="504300" cy="165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72" name="Google Shape;472;p55"/>
          <p:cNvSpPr/>
          <p:nvPr/>
        </p:nvSpPr>
        <p:spPr>
          <a:xfrm>
            <a:off x="5050225" y="2639900"/>
            <a:ext cx="584700" cy="165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73" name="Google Shape;473;p55"/>
          <p:cNvSpPr/>
          <p:nvPr/>
        </p:nvSpPr>
        <p:spPr>
          <a:xfrm>
            <a:off x="3390488" y="2639900"/>
            <a:ext cx="504300" cy="165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74" name="Google Shape;474;p55"/>
          <p:cNvSpPr/>
          <p:nvPr/>
        </p:nvSpPr>
        <p:spPr>
          <a:xfrm>
            <a:off x="6644000" y="2643600"/>
            <a:ext cx="762300" cy="1932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solidFill>
                  <a:schemeClr val="lt1"/>
                </a:solidFill>
                <a:latin typeface="Calibri"/>
                <a:ea typeface="Calibri"/>
                <a:cs typeface="Calibri"/>
                <a:sym typeface="Calibri"/>
              </a:rPr>
              <a:t>valid</a:t>
            </a:r>
            <a:endParaRPr>
              <a:solidFill>
                <a:schemeClr val="lt1"/>
              </a:solidFill>
              <a:latin typeface="Calibri"/>
              <a:ea typeface="Calibri"/>
              <a:cs typeface="Calibri"/>
              <a:sym typeface="Calibri"/>
            </a:endParaRPr>
          </a:p>
        </p:txBody>
      </p:sp>
      <p:sp>
        <p:nvSpPr>
          <p:cNvPr id="475" name="Google Shape;475;p55"/>
          <p:cNvSpPr/>
          <p:nvPr/>
        </p:nvSpPr>
        <p:spPr>
          <a:xfrm rot="5400000">
            <a:off x="7666525" y="3220175"/>
            <a:ext cx="584700" cy="186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76" name="Google Shape;476;p55"/>
          <p:cNvSpPr/>
          <p:nvPr/>
        </p:nvSpPr>
        <p:spPr>
          <a:xfrm flipH="1">
            <a:off x="5088800" y="3821450"/>
            <a:ext cx="2186100" cy="125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77" name="Google Shape;477;p55"/>
          <p:cNvSpPr/>
          <p:nvPr/>
        </p:nvSpPr>
        <p:spPr>
          <a:xfrm flipH="1" rot="5400000">
            <a:off x="4045225" y="3213450"/>
            <a:ext cx="697500" cy="137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78" name="Google Shape;478;p55"/>
          <p:cNvSpPr/>
          <p:nvPr/>
        </p:nvSpPr>
        <p:spPr>
          <a:xfrm>
            <a:off x="7274975" y="10661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dk1"/>
                </a:solidFill>
                <a:latin typeface="Calibri"/>
                <a:ea typeface="Calibri"/>
                <a:cs typeface="Calibri"/>
                <a:sym typeface="Calibri"/>
              </a:rPr>
              <a:t>Dataset augmentation</a:t>
            </a:r>
            <a:endParaRPr>
              <a:solidFill>
                <a:schemeClr val="dk1"/>
              </a:solidFill>
              <a:latin typeface="Calibri"/>
              <a:ea typeface="Calibri"/>
              <a:cs typeface="Calibri"/>
              <a:sym typeface="Calibri"/>
            </a:endParaRPr>
          </a:p>
        </p:txBody>
      </p:sp>
      <p:sp>
        <p:nvSpPr>
          <p:cNvPr id="479" name="Google Shape;479;p55"/>
          <p:cNvSpPr/>
          <p:nvPr/>
        </p:nvSpPr>
        <p:spPr>
          <a:xfrm flipH="1" rot="5400000">
            <a:off x="7535125" y="1951150"/>
            <a:ext cx="847500" cy="182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80" name="Google Shape;480;p55"/>
          <p:cNvSpPr/>
          <p:nvPr/>
        </p:nvSpPr>
        <p:spPr>
          <a:xfrm flipH="1">
            <a:off x="5010650" y="1315100"/>
            <a:ext cx="2342400" cy="125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481" name="Google Shape;481;p55"/>
          <p:cNvSpPr/>
          <p:nvPr/>
        </p:nvSpPr>
        <p:spPr>
          <a:xfrm flipH="1" rot="-2699134">
            <a:off x="4921605" y="3206199"/>
            <a:ext cx="841952" cy="214253"/>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solidFill>
                  <a:schemeClr val="lt1"/>
                </a:solidFill>
                <a:latin typeface="Calibri"/>
                <a:ea typeface="Calibri"/>
                <a:cs typeface="Calibri"/>
                <a:sym typeface="Calibri"/>
              </a:rPr>
              <a:t>invalid</a:t>
            </a:r>
            <a:endParaRPr>
              <a:solidFill>
                <a:schemeClr val="lt1"/>
              </a:solidFill>
              <a:latin typeface="Calibri"/>
              <a:ea typeface="Calibri"/>
              <a:cs typeface="Calibri"/>
              <a:sym typeface="Calibri"/>
            </a:endParaRPr>
          </a:p>
        </p:txBody>
      </p:sp>
      <p:sp>
        <p:nvSpPr>
          <p:cNvPr id="482" name="Google Shape;482;p55"/>
          <p:cNvSpPr/>
          <p:nvPr/>
        </p:nvSpPr>
        <p:spPr>
          <a:xfrm rot="-2886052">
            <a:off x="6502781" y="1921112"/>
            <a:ext cx="1058816" cy="242188"/>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solidFill>
                  <a:schemeClr val="lt1"/>
                </a:solidFill>
                <a:latin typeface="Calibri"/>
                <a:ea typeface="Calibri"/>
                <a:cs typeface="Calibri"/>
                <a:sym typeface="Calibri"/>
              </a:rPr>
              <a:t>invalid</a:t>
            </a:r>
            <a:endParaRPr>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Kantoorthema">
  <a:themeElements>
    <a:clrScheme name="TUe_PPT_V2">
      <a:dk1>
        <a:srgbClr val="000000"/>
      </a:dk1>
      <a:lt1>
        <a:srgbClr val="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