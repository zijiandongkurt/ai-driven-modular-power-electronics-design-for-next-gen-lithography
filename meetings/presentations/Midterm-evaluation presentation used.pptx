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3" roundtripDataSignature="AMtx7mghkI6qlEcFDNJUYqa88FXou9yg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Hello everyone, my name is …,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This is and this ..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Our project is about …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5" name="Google Shape;23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What do data centers, electric vehicles, and smartphones have in common?</a:t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They all rely on efficient power conversion, and Power electronics is the backbone of these systems.</a:t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How long does it take to design a power electronics system?</a:t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Weeks? Months?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Deployment delay:	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-"/>
            </a:pPr>
            <a:r>
              <a:rPr lang="en-GB"/>
              <a:t>As these technologies continue to evolve, the demand for better power electronics is rapidly increasing.	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-"/>
            </a:pPr>
            <a:r>
              <a:rPr lang="en-GB"/>
              <a:t>Faster innovation cycles mean that companies must design more efficient systems in less time. Otherwise, they risk falling behind.</a:t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Energy impact:	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-"/>
            </a:pPr>
            <a:r>
              <a:rPr lang="en-GB"/>
              <a:t>Data centers consume ~1–2% of global electricity	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-"/>
            </a:pPr>
            <a:r>
              <a:rPr lang="en-GB"/>
              <a:t>(Example: Google data centers consumed 30.8 million MWh in 2024)	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-"/>
            </a:pPr>
            <a:r>
              <a:rPr lang="en-GB"/>
              <a:t>Even small efficiency improvements → huge energy and cost savings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Chris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00">
                <a:solidFill>
                  <a:schemeClr val="dk1"/>
                </a:solidFill>
              </a:rPr>
              <a:t>Zijian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00">
                <a:solidFill>
                  <a:schemeClr val="dk1"/>
                </a:solidFill>
              </a:rPr>
              <a:t>Our approach consists of three main components: generation, evaluation, and optimization.</a:t>
            </a: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AutoNum type="arabicPeriod"/>
            </a:pPr>
            <a:r>
              <a:rPr lang="en-GB" sz="1000">
                <a:solidFill>
                  <a:schemeClr val="dk1"/>
                </a:solidFill>
              </a:rPr>
              <a:t>First, we use an LLM to generate candidate circuit topologies from high-level specifications. The model is initialized with a supervised fine-tuning warm start, which enables it to generate reasonable designs from the beginning.</a:t>
            </a: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AutoNum type="arabicPeriod"/>
            </a:pPr>
            <a:r>
              <a:rPr lang="en-GB" sz="1000">
                <a:solidFill>
                  <a:schemeClr val="dk1"/>
                </a:solidFill>
              </a:rPr>
              <a:t>Next, each generated topology is evaluated through validation and circuit simulation. This ensures that the designs are physically valid and get the performance result based on the requirement.</a:t>
            </a:r>
            <a:endParaRPr sz="1000">
              <a:solidFill>
                <a:schemeClr val="dk1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AutoNum type="arabicPeriod"/>
            </a:pPr>
            <a:r>
              <a:rPr lang="en-GB" sz="1000">
                <a:solidFill>
                  <a:schemeClr val="dk1"/>
                </a:solidFill>
              </a:rPr>
              <a:t>Finally, we use reinforcement learning to update the policy based on simulation feedback. This enables the pipeline to iteratively improve and guide the generation toward better designs.</a:t>
            </a:r>
            <a:endParaRPr sz="10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Atakan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1.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 comprehensive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 of relevant articles will be conducted to identify knowledge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gaps and understand state-of-the-art methods. Based on this analysis,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an appropriate approach to the problem will be chosen.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2.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Based on the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chosen approach, the infrastructure for data generation will be estab-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lished. If the approach calls for a dataset, this will be generated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3.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The model training pipeline will be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implemented. Model performance will be evaluated and improved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through iterative optimization, including hyperparameter tuning,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architectural adjustments, or additional data generation from simula-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tions.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4.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 prototype will be deployed to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demonstrate the model’s performance. This implementation will be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used during the final demonstration.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5.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Comprehensive documentation will be prepared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to ensure reproducibility and enable verification of the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functional integrity of the developed models.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1.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This is our training pipeline, This is how we plan to train our LLM to understand how to output valid netlist give some constraints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chemeClr val="dk1"/>
                </a:solidFill>
              </a:rPr>
              <a:t>2.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A constraint set, in the form of a json will be delivered as an input to a LLM that generates a an adjustable number of topologies in the form of a SPICE netlist (.net).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These netlists go through a validation process to classify hallucinations and actual working topologies.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/>
              <a:t>3.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 validation algorithm classifies topologies either as valid or invalid based on pre-simulation hard constraints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(e.g. syntax, floating nodes, short circuits, …).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Valid topologies are simulated through LTSpice. Invalid topologies are augmented to a netlist validation class dataset.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 validation algorithm may not work perfectly, thus the simulation process may fail for false positive cases (invalid classified as valid).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4.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/>
              <a:t>Reward Function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This is how we plan to distinguish between good topologies and bad topologies.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Based on the simulation results we calculate a fitness score based on the Hard constraints, an Area estimate and the efficiency.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This value is then sent to the reinforcement learning part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/>
              <a:t>Reinforcement learning Part: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Reinforcement learning serves as the optimization layer in our pipeline.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We first aggregate reward signals from simulation, including efficiency, and constraints.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These signals are then used to update the policy, using batched learning for stability and efficiency.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The updated policy is fed back to guide future topology generation.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This creates a closed loop that allows the system to continuously improve over time.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/>
              <a:t>5.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100">
                <a:solidFill>
                  <a:srgbClr val="0E0E0E"/>
                </a:solidFill>
              </a:rPr>
              <a:t>SFT stands for Supervised Fine-Tuning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All generated netlists, including both valid and invalid ones, are added to a dataset.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Using this dataset, we perform supervised fine-tuning so that the LLM can learn to distinguish between valid and invalid topologies.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This helps the model better understand what a feasible circuit looks like before reinforcement learning.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Atakan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Yuhao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-GB"/>
              <a:t>Efficiency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-GB"/>
              <a:t>Cost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-GB"/>
              <a:t>Density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d40397e94d_0_4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g3d40397e94d_0_4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40397e94d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g3d40397e94d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d40397e94d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4" name="Google Shape;384;g3d40397e94d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d40397e94d_0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g3d40397e94d_0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d40397e94d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" name="Google Shape;397;g3d40397e94d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top">
  <p:cSld name="Title slide - Title at the top">
    <p:bg>
      <p:bgPr>
        <a:solidFill>
          <a:srgbClr val="EEE8E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/>
          <p:nvPr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3"/>
          <p:cNvSpPr txBox="1"/>
          <p:nvPr>
            <p:ph type="ctrTitle"/>
          </p:nvPr>
        </p:nvSpPr>
        <p:spPr>
          <a:xfrm>
            <a:off x="-1" y="7560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" type="subTitle"/>
          </p:nvPr>
        </p:nvSpPr>
        <p:spPr>
          <a:xfrm>
            <a:off x="-1" y="1548000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5" name="Google Shape;15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3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4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" type="body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14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2 columns">
  <p:cSld name="Text slide - 2 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/>
          <p:nvPr>
            <p:ph type="title"/>
          </p:nvPr>
        </p:nvSpPr>
        <p:spPr>
          <a:xfrm>
            <a:off x="758825" y="585793"/>
            <a:ext cx="3595688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" type="body"/>
          </p:nvPr>
        </p:nvSpPr>
        <p:spPr>
          <a:xfrm>
            <a:off x="755650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2" type="body"/>
          </p:nvPr>
        </p:nvSpPr>
        <p:spPr>
          <a:xfrm>
            <a:off x="4723606" y="1296000"/>
            <a:ext cx="3595688" cy="2933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" name="Google Shape;29;p15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5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1" name="Google Shape;31;p15"/>
          <p:cNvSpPr txBox="1"/>
          <p:nvPr>
            <p:ph idx="3" type="body"/>
          </p:nvPr>
        </p:nvSpPr>
        <p:spPr>
          <a:xfrm>
            <a:off x="4714875" y="586800"/>
            <a:ext cx="3604419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 b="0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light image">
  <p:cSld name="Heading + full screen light image">
    <p:bg>
      <p:bgPr>
        <a:solidFill>
          <a:srgbClr val="F2F2F2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16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in the middle">
  <p:cSld name="Title slide - Title in the middle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/>
          <p:nvPr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7"/>
          <p:cNvSpPr txBox="1"/>
          <p:nvPr>
            <p:ph type="ctrTitle"/>
          </p:nvPr>
        </p:nvSpPr>
        <p:spPr>
          <a:xfrm>
            <a:off x="-1" y="18355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" type="subTitle"/>
          </p:nvPr>
        </p:nvSpPr>
        <p:spPr>
          <a:xfrm>
            <a:off x="-1" y="2628097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41" name="Google Shape;41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17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bottom">
  <p:cSld name="Title slide - Title at the bottom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/>
          <p:nvPr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dk1">
              <a:alpha val="25098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8"/>
          <p:cNvSpPr txBox="1"/>
          <p:nvPr>
            <p:ph type="ctrTitle"/>
          </p:nvPr>
        </p:nvSpPr>
        <p:spPr>
          <a:xfrm>
            <a:off x="-1" y="29150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" type="subTitle"/>
          </p:nvPr>
        </p:nvSpPr>
        <p:spPr>
          <a:xfrm>
            <a:off x="-1" y="3708591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48" name="Google Shape;48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400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8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8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text - 1/2 image">
  <p:cSld name="1/2 text - 1/2 imag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9"/>
          <p:cNvSpPr txBox="1"/>
          <p:nvPr>
            <p:ph type="title"/>
          </p:nvPr>
        </p:nvSpPr>
        <p:spPr>
          <a:xfrm>
            <a:off x="756000" y="586800"/>
            <a:ext cx="360000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" type="body"/>
          </p:nvPr>
        </p:nvSpPr>
        <p:spPr>
          <a:xfrm>
            <a:off x="755650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9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7" name="Google Shape;57;p19"/>
          <p:cNvSpPr/>
          <p:nvPr>
            <p:ph idx="2" type="pic"/>
          </p:nvPr>
        </p:nvSpPr>
        <p:spPr>
          <a:xfrm>
            <a:off x="4714875" y="0"/>
            <a:ext cx="4429125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text - 1/3 image">
  <p:cSld name="2/3 text - 1/3 imag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756000" y="586800"/>
            <a:ext cx="4910138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" type="body"/>
          </p:nvPr>
        </p:nvSpPr>
        <p:spPr>
          <a:xfrm>
            <a:off x="755650" y="1295401"/>
            <a:ext cx="491331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20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4" name="Google Shape;64;p20"/>
          <p:cNvSpPr/>
          <p:nvPr>
            <p:ph idx="2" type="pic"/>
          </p:nvPr>
        </p:nvSpPr>
        <p:spPr>
          <a:xfrm>
            <a:off x="6046788" y="0"/>
            <a:ext cx="3097212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image - 1/2 text">
  <p:cSld name="1/2 image - 1/2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/>
          <p:nvPr>
            <p:ph type="title"/>
          </p:nvPr>
        </p:nvSpPr>
        <p:spPr>
          <a:xfrm>
            <a:off x="4723518" y="586800"/>
            <a:ext cx="360000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" type="body"/>
          </p:nvPr>
        </p:nvSpPr>
        <p:spPr>
          <a:xfrm>
            <a:off x="4720343" y="1295401"/>
            <a:ext cx="3598863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21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1" name="Google Shape;71;p21"/>
          <p:cNvSpPr/>
          <p:nvPr>
            <p:ph idx="2" type="pic"/>
          </p:nvPr>
        </p:nvSpPr>
        <p:spPr>
          <a:xfrm>
            <a:off x="0" y="0"/>
            <a:ext cx="4354513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3 image - 2/3 text">
  <p:cSld name="1/3 image - 2/3 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/>
          <p:nvPr>
            <p:ph type="title"/>
          </p:nvPr>
        </p:nvSpPr>
        <p:spPr>
          <a:xfrm>
            <a:off x="3494405" y="586800"/>
            <a:ext cx="4820920" cy="732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" type="body"/>
          </p:nvPr>
        </p:nvSpPr>
        <p:spPr>
          <a:xfrm>
            <a:off x="3491230" y="1295401"/>
            <a:ext cx="4824095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6" name="Google Shape;76;p22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8" name="Google Shape;78;p22"/>
          <p:cNvSpPr/>
          <p:nvPr>
            <p:ph idx="2" type="pic"/>
          </p:nvPr>
        </p:nvSpPr>
        <p:spPr>
          <a:xfrm>
            <a:off x="0" y="0"/>
            <a:ext cx="3022600" cy="456723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+ image/movie 16:9">
  <p:cSld name="Headline + image/movie 16:9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3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2" name="Google Shape;82;p23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3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4" name="Google Shape;84;p23"/>
          <p:cNvSpPr txBox="1"/>
          <p:nvPr>
            <p:ph idx="1" type="body"/>
          </p:nvPr>
        </p:nvSpPr>
        <p:spPr>
          <a:xfrm>
            <a:off x="1889125" y="1079501"/>
            <a:ext cx="5292725" cy="29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23"/>
          <p:cNvSpPr txBox="1"/>
          <p:nvPr>
            <p:ph idx="2" type="body"/>
          </p:nvPr>
        </p:nvSpPr>
        <p:spPr>
          <a:xfrm>
            <a:off x="1889125" y="4106268"/>
            <a:ext cx="5292725" cy="1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1"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dark image">
  <p:cSld name="Heading + full screen dark image">
    <p:bg>
      <p:bgPr>
        <a:solidFill>
          <a:srgbClr val="A5A5A5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4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9" name="Google Shape;89;p24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4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ite background">
  <p:cSld name="White background">
    <p:bg>
      <p:bgPr>
        <a:solidFill>
          <a:schemeClr val="lt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type="title"/>
          </p:nvPr>
        </p:nvSpPr>
        <p:spPr>
          <a:xfrm>
            <a:off x="758825" y="518400"/>
            <a:ext cx="7556500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4" name="Google Shape;94;p25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6" name="Google Shape;96;p25"/>
          <p:cNvCxnSpPr/>
          <p:nvPr/>
        </p:nvCxnSpPr>
        <p:spPr>
          <a:xfrm>
            <a:off x="0" y="456378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7" name="Google Shape;97;p25"/>
          <p:cNvSpPr/>
          <p:nvPr>
            <p:ph idx="2" type="pic"/>
          </p:nvPr>
        </p:nvSpPr>
        <p:spPr>
          <a:xfrm>
            <a:off x="1890000" y="1299075"/>
            <a:ext cx="5292725" cy="297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+ text">
  <p:cSld name="Table + tex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6"/>
          <p:cNvSpPr txBox="1"/>
          <p:nvPr>
            <p:ph type="title"/>
          </p:nvPr>
        </p:nvSpPr>
        <p:spPr>
          <a:xfrm>
            <a:off x="755650" y="586800"/>
            <a:ext cx="7563556" cy="516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26"/>
          <p:cNvSpPr txBox="1"/>
          <p:nvPr>
            <p:ph idx="1" type="body"/>
          </p:nvPr>
        </p:nvSpPr>
        <p:spPr>
          <a:xfrm>
            <a:off x="755651" y="2638425"/>
            <a:ext cx="7563556" cy="1590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26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har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7"/>
          <p:cNvSpPr txBox="1"/>
          <p:nvPr>
            <p:ph type="title"/>
          </p:nvPr>
        </p:nvSpPr>
        <p:spPr>
          <a:xfrm>
            <a:off x="755650" y="586800"/>
            <a:ext cx="7563556" cy="5163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7" name="Google Shape;107;p27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27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9" name="Google Shape;109;p27"/>
          <p:cNvSpPr/>
          <p:nvPr>
            <p:ph idx="2" type="chart"/>
          </p:nvPr>
        </p:nvSpPr>
        <p:spPr>
          <a:xfrm>
            <a:off x="755650" y="1079500"/>
            <a:ext cx="7559675" cy="31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top">
  <p:cSld name="Title slide - Title at the top">
    <p:bg>
      <p:bgPr>
        <a:solidFill>
          <a:srgbClr val="EEE8E8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40397e94d_0_436"/>
          <p:cNvSpPr/>
          <p:nvPr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dk1">
              <a:alpha val="25099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d40397e94d_0_436"/>
          <p:cNvSpPr txBox="1"/>
          <p:nvPr>
            <p:ph type="ctrTitle"/>
          </p:nvPr>
        </p:nvSpPr>
        <p:spPr>
          <a:xfrm>
            <a:off x="-1" y="756049"/>
            <a:ext cx="9144000" cy="792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d40397e94d_0_436"/>
          <p:cNvSpPr txBox="1"/>
          <p:nvPr>
            <p:ph idx="1" type="subTitle"/>
          </p:nvPr>
        </p:nvSpPr>
        <p:spPr>
          <a:xfrm>
            <a:off x="-1" y="1548000"/>
            <a:ext cx="9144000" cy="288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20" name="Google Shape;120;g3d40397e94d_0_4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398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g3d40397e94d_0_436"/>
          <p:cNvSpPr txBox="1"/>
          <p:nvPr>
            <p:ph idx="2" type="body"/>
          </p:nvPr>
        </p:nvSpPr>
        <p:spPr>
          <a:xfrm>
            <a:off x="0" y="3990975"/>
            <a:ext cx="9144000" cy="576300"/>
          </a:xfrm>
          <a:prstGeom prst="rect">
            <a:avLst/>
          </a:prstGeom>
          <a:solidFill>
            <a:srgbClr val="000000">
              <a:alpha val="25099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g3d40397e94d_0_436"/>
          <p:cNvSpPr txBox="1"/>
          <p:nvPr>
            <p:ph idx="3" type="body"/>
          </p:nvPr>
        </p:nvSpPr>
        <p:spPr>
          <a:xfrm>
            <a:off x="-6667" y="4567237"/>
            <a:ext cx="7347300" cy="57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" type="obj">
  <p:cSld name="OBJECT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40397e94d_0_443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g3d40397e94d_0_443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g3d40397e94d_0_44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7" name="Google Shape;127;g3d40397e94d_0_443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d40397e94d_0_443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arlet background">
  <p:cSld name="Scarlet background">
    <p:bg>
      <p:bgPr>
        <a:solidFill>
          <a:schemeClr val="dk2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40397e94d_0_449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d40397e94d_0_449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50"/>
              <a:buNone/>
              <a:defRPr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None/>
              <a:defRPr>
                <a:solidFill>
                  <a:schemeClr val="lt1"/>
                </a:solidFill>
              </a:defRPr>
            </a:lvl2pPr>
            <a:lvl3pPr indent="-333375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3pPr>
            <a:lvl4pPr indent="-333375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4pPr>
            <a:lvl5pPr indent="-333375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5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g3d40397e94d_0_44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3" name="Google Shape;133;g3d40397e94d_0_449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d40397e94d_0_449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+ 3 images">
  <p:cSld name="Text + 3 images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40397e94d_0_455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g3d40397e94d_0_455"/>
          <p:cNvSpPr txBox="1"/>
          <p:nvPr>
            <p:ph idx="1" type="body"/>
          </p:nvPr>
        </p:nvSpPr>
        <p:spPr>
          <a:xfrm>
            <a:off x="758824" y="1306642"/>
            <a:ext cx="2084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8" name="Google Shape;138;g3d40397e94d_0_45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9" name="Google Shape;139;g3d40397e94d_0_455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g3d40397e94d_0_455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41" name="Google Shape;141;g3d40397e94d_0_455"/>
          <p:cNvSpPr txBox="1"/>
          <p:nvPr>
            <p:ph idx="2" type="body"/>
          </p:nvPr>
        </p:nvSpPr>
        <p:spPr>
          <a:xfrm>
            <a:off x="3490913" y="1302661"/>
            <a:ext cx="2084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g3d40397e94d_0_455"/>
          <p:cNvSpPr txBox="1"/>
          <p:nvPr>
            <p:ph idx="3" type="body"/>
          </p:nvPr>
        </p:nvSpPr>
        <p:spPr>
          <a:xfrm>
            <a:off x="6235414" y="1302661"/>
            <a:ext cx="2084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None/>
              <a:defRPr sz="165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g3d40397e94d_0_455"/>
          <p:cNvSpPr/>
          <p:nvPr>
            <p:ph idx="4" type="pic"/>
          </p:nvPr>
        </p:nvSpPr>
        <p:spPr>
          <a:xfrm>
            <a:off x="755650" y="1943101"/>
            <a:ext cx="2087700" cy="2625300"/>
          </a:xfrm>
          <a:prstGeom prst="rect">
            <a:avLst/>
          </a:prstGeom>
          <a:noFill/>
          <a:ln>
            <a:noFill/>
          </a:ln>
        </p:spPr>
      </p:sp>
      <p:sp>
        <p:nvSpPr>
          <p:cNvPr id="144" name="Google Shape;144;g3d40397e94d_0_455"/>
          <p:cNvSpPr/>
          <p:nvPr>
            <p:ph idx="5" type="pic"/>
          </p:nvPr>
        </p:nvSpPr>
        <p:spPr>
          <a:xfrm>
            <a:off x="3487739" y="1943101"/>
            <a:ext cx="2087700" cy="2625300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g3d40397e94d_0_455"/>
          <p:cNvSpPr/>
          <p:nvPr>
            <p:ph idx="6" type="pic"/>
          </p:nvPr>
        </p:nvSpPr>
        <p:spPr>
          <a:xfrm>
            <a:off x="6235414" y="1943101"/>
            <a:ext cx="2087700" cy="2625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2 columns">
  <p:cSld name="Text slide - 2 columns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40397e94d_0_466"/>
          <p:cNvSpPr txBox="1"/>
          <p:nvPr>
            <p:ph type="title"/>
          </p:nvPr>
        </p:nvSpPr>
        <p:spPr>
          <a:xfrm>
            <a:off x="758825" y="585793"/>
            <a:ext cx="35958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g3d40397e94d_0_466"/>
          <p:cNvSpPr txBox="1"/>
          <p:nvPr>
            <p:ph idx="1" type="body"/>
          </p:nvPr>
        </p:nvSpPr>
        <p:spPr>
          <a:xfrm>
            <a:off x="755650" y="1295401"/>
            <a:ext cx="35988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9" name="Google Shape;149;g3d40397e94d_0_466"/>
          <p:cNvSpPr txBox="1"/>
          <p:nvPr>
            <p:ph idx="2" type="body"/>
          </p:nvPr>
        </p:nvSpPr>
        <p:spPr>
          <a:xfrm>
            <a:off x="4723606" y="1296000"/>
            <a:ext cx="3595800" cy="29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g3d40397e94d_0_46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g3d40397e94d_0_466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g3d40397e94d_0_466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3" name="Google Shape;153;g3d40397e94d_0_466"/>
          <p:cNvSpPr txBox="1"/>
          <p:nvPr>
            <p:ph idx="3" type="body"/>
          </p:nvPr>
        </p:nvSpPr>
        <p:spPr>
          <a:xfrm>
            <a:off x="4714875" y="586800"/>
            <a:ext cx="36045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 b="0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light image">
  <p:cSld name="Heading + full screen light image">
    <p:bg>
      <p:bgPr>
        <a:solidFill>
          <a:srgbClr val="F2F2F2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40397e94d_0_474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g3d40397e94d_0_47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7" name="Google Shape;157;g3d40397e94d_0_474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8" name="Google Shape;158;g3d40397e94d_0_474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in the middle">
  <p:cSld name="Title slide - Title in the middle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40397e94d_0_479"/>
          <p:cNvSpPr/>
          <p:nvPr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dk1">
              <a:alpha val="25099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d40397e94d_0_479"/>
          <p:cNvSpPr txBox="1"/>
          <p:nvPr>
            <p:ph type="ctrTitle"/>
          </p:nvPr>
        </p:nvSpPr>
        <p:spPr>
          <a:xfrm>
            <a:off x="-1" y="1835549"/>
            <a:ext cx="9144000" cy="792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g3d40397e94d_0_479"/>
          <p:cNvSpPr txBox="1"/>
          <p:nvPr>
            <p:ph idx="1" type="subTitle"/>
          </p:nvPr>
        </p:nvSpPr>
        <p:spPr>
          <a:xfrm>
            <a:off x="-1" y="2628097"/>
            <a:ext cx="9144000" cy="288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63" name="Google Shape;163;g3d40397e94d_0_4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398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g3d40397e94d_0_479"/>
          <p:cNvSpPr txBox="1"/>
          <p:nvPr>
            <p:ph idx="2" type="body"/>
          </p:nvPr>
        </p:nvSpPr>
        <p:spPr>
          <a:xfrm>
            <a:off x="0" y="3990975"/>
            <a:ext cx="9144000" cy="576300"/>
          </a:xfrm>
          <a:prstGeom prst="rect">
            <a:avLst/>
          </a:prstGeom>
          <a:solidFill>
            <a:srgbClr val="000000">
              <a:alpha val="25099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g3d40397e94d_0_479"/>
          <p:cNvSpPr txBox="1"/>
          <p:nvPr>
            <p:ph idx="3" type="body"/>
          </p:nvPr>
        </p:nvSpPr>
        <p:spPr>
          <a:xfrm>
            <a:off x="-6667" y="4567237"/>
            <a:ext cx="7347300" cy="57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Title at the bottom">
  <p:cSld name="Title slide - Title at the bottom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d40397e94d_0_486"/>
          <p:cNvSpPr/>
          <p:nvPr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dk1">
              <a:alpha val="25099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d40397e94d_0_486"/>
          <p:cNvSpPr txBox="1"/>
          <p:nvPr>
            <p:ph type="ctrTitle"/>
          </p:nvPr>
        </p:nvSpPr>
        <p:spPr>
          <a:xfrm>
            <a:off x="-1" y="2915049"/>
            <a:ext cx="9144000" cy="792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>
            <a:lvl1pPr lv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  <a:defRPr sz="2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g3d40397e94d_0_486"/>
          <p:cNvSpPr txBox="1"/>
          <p:nvPr>
            <p:ph idx="1" type="subTitle"/>
          </p:nvPr>
        </p:nvSpPr>
        <p:spPr>
          <a:xfrm>
            <a:off x="-1" y="3708591"/>
            <a:ext cx="9144000" cy="288000"/>
          </a:xfrm>
          <a:prstGeom prst="rect">
            <a:avLst/>
          </a:prstGeom>
          <a:solidFill>
            <a:schemeClr val="dk2">
              <a:alpha val="50199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 cap="none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70" name="Google Shape;170;g3d40397e94d_0_4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0600" y="4568825"/>
            <a:ext cx="1803398" cy="57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g3d40397e94d_0_486"/>
          <p:cNvSpPr txBox="1"/>
          <p:nvPr>
            <p:ph idx="2" type="body"/>
          </p:nvPr>
        </p:nvSpPr>
        <p:spPr>
          <a:xfrm>
            <a:off x="0" y="3990975"/>
            <a:ext cx="9144000" cy="576300"/>
          </a:xfrm>
          <a:prstGeom prst="rect">
            <a:avLst/>
          </a:prstGeom>
          <a:solidFill>
            <a:srgbClr val="000000">
              <a:alpha val="25099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1" sz="11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g3d40397e94d_0_486"/>
          <p:cNvSpPr txBox="1"/>
          <p:nvPr>
            <p:ph idx="3" type="body"/>
          </p:nvPr>
        </p:nvSpPr>
        <p:spPr>
          <a:xfrm>
            <a:off x="-6667" y="4567237"/>
            <a:ext cx="7347300" cy="57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b="0" sz="11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text - 1/2 image">
  <p:cSld name="1/2 text - 1/2 image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40397e94d_0_493"/>
          <p:cNvSpPr txBox="1"/>
          <p:nvPr>
            <p:ph type="title"/>
          </p:nvPr>
        </p:nvSpPr>
        <p:spPr>
          <a:xfrm>
            <a:off x="756000" y="586800"/>
            <a:ext cx="36000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" name="Google Shape;175;g3d40397e94d_0_493"/>
          <p:cNvSpPr txBox="1"/>
          <p:nvPr>
            <p:ph idx="1" type="body"/>
          </p:nvPr>
        </p:nvSpPr>
        <p:spPr>
          <a:xfrm>
            <a:off x="755650" y="1295401"/>
            <a:ext cx="35988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g3d40397e94d_0_49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g3d40397e94d_0_493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g3d40397e94d_0_493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9" name="Google Shape;179;g3d40397e94d_0_493"/>
          <p:cNvSpPr/>
          <p:nvPr>
            <p:ph idx="2" type="pic"/>
          </p:nvPr>
        </p:nvSpPr>
        <p:spPr>
          <a:xfrm>
            <a:off x="4714875" y="0"/>
            <a:ext cx="4429200" cy="456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/3 text - 1/3 image">
  <p:cSld name="2/3 text - 1/3 image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40397e94d_0_500"/>
          <p:cNvSpPr txBox="1"/>
          <p:nvPr>
            <p:ph type="title"/>
          </p:nvPr>
        </p:nvSpPr>
        <p:spPr>
          <a:xfrm>
            <a:off x="756000" y="586800"/>
            <a:ext cx="49101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g3d40397e94d_0_500"/>
          <p:cNvSpPr txBox="1"/>
          <p:nvPr>
            <p:ph idx="1" type="body"/>
          </p:nvPr>
        </p:nvSpPr>
        <p:spPr>
          <a:xfrm>
            <a:off x="755650" y="1295401"/>
            <a:ext cx="49134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g3d40397e94d_0_50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4" name="Google Shape;184;g3d40397e94d_0_500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g3d40397e94d_0_500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6" name="Google Shape;186;g3d40397e94d_0_500"/>
          <p:cNvSpPr/>
          <p:nvPr>
            <p:ph idx="2" type="pic"/>
          </p:nvPr>
        </p:nvSpPr>
        <p:spPr>
          <a:xfrm>
            <a:off x="6046788" y="0"/>
            <a:ext cx="3097200" cy="456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2 image - 1/2 text">
  <p:cSld name="1/2 image - 1/2 tex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d40397e94d_0_507"/>
          <p:cNvSpPr txBox="1"/>
          <p:nvPr>
            <p:ph type="title"/>
          </p:nvPr>
        </p:nvSpPr>
        <p:spPr>
          <a:xfrm>
            <a:off x="4723518" y="586800"/>
            <a:ext cx="36000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g3d40397e94d_0_507"/>
          <p:cNvSpPr txBox="1"/>
          <p:nvPr>
            <p:ph idx="1" type="body"/>
          </p:nvPr>
        </p:nvSpPr>
        <p:spPr>
          <a:xfrm>
            <a:off x="4720343" y="1295401"/>
            <a:ext cx="35988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g3d40397e94d_0_50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1" name="Google Shape;191;g3d40397e94d_0_507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3d40397e94d_0_507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3" name="Google Shape;193;g3d40397e94d_0_507"/>
          <p:cNvSpPr/>
          <p:nvPr>
            <p:ph idx="2" type="pic"/>
          </p:nvPr>
        </p:nvSpPr>
        <p:spPr>
          <a:xfrm>
            <a:off x="0" y="0"/>
            <a:ext cx="4354500" cy="456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/3 image - 2/3 text">
  <p:cSld name="1/3 image - 2/3 text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40397e94d_0_514"/>
          <p:cNvSpPr txBox="1"/>
          <p:nvPr>
            <p:ph type="title"/>
          </p:nvPr>
        </p:nvSpPr>
        <p:spPr>
          <a:xfrm>
            <a:off x="3494405" y="586800"/>
            <a:ext cx="4821000" cy="7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g3d40397e94d_0_514"/>
          <p:cNvSpPr txBox="1"/>
          <p:nvPr>
            <p:ph idx="1" type="body"/>
          </p:nvPr>
        </p:nvSpPr>
        <p:spPr>
          <a:xfrm>
            <a:off x="3491230" y="1295401"/>
            <a:ext cx="4824000" cy="29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g3d40397e94d_0_5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8" name="Google Shape;198;g3d40397e94d_0_514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g3d40397e94d_0_514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0" name="Google Shape;200;g3d40397e94d_0_514"/>
          <p:cNvSpPr/>
          <p:nvPr>
            <p:ph idx="2" type="pic"/>
          </p:nvPr>
        </p:nvSpPr>
        <p:spPr>
          <a:xfrm>
            <a:off x="0" y="0"/>
            <a:ext cx="3022500" cy="456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+ image/movie 16:9">
  <p:cSld name="Headline + image/movie 16:9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40397e94d_0_521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g3d40397e94d_0_5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4" name="Google Shape;204;g3d40397e94d_0_521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g3d40397e94d_0_521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g3d40397e94d_0_521"/>
          <p:cNvSpPr txBox="1"/>
          <p:nvPr>
            <p:ph idx="1" type="body"/>
          </p:nvPr>
        </p:nvSpPr>
        <p:spPr>
          <a:xfrm>
            <a:off x="1889125" y="1079501"/>
            <a:ext cx="5292600" cy="29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g3d40397e94d_0_521"/>
          <p:cNvSpPr txBox="1"/>
          <p:nvPr>
            <p:ph idx="2" type="body"/>
          </p:nvPr>
        </p:nvSpPr>
        <p:spPr>
          <a:xfrm>
            <a:off x="1889125" y="4106268"/>
            <a:ext cx="5292600" cy="1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1" sz="11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ing + full screen dark image">
  <p:cSld name="Heading + full screen dark image">
    <p:bg>
      <p:bgPr>
        <a:solidFill>
          <a:srgbClr val="A5A5A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40397e94d_0_528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Calibri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g3d40397e94d_0_52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g3d40397e94d_0_528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g3d40397e94d_0_528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ite background">
  <p:cSld name="White background"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40397e94d_0_533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g3d40397e94d_0_53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6" name="Google Shape;216;g3d40397e94d_0_533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g3d40397e94d_0_533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18" name="Google Shape;218;g3d40397e94d_0_533"/>
          <p:cNvCxnSpPr/>
          <p:nvPr/>
        </p:nvCxnSpPr>
        <p:spPr>
          <a:xfrm>
            <a:off x="0" y="4563782"/>
            <a:ext cx="9144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9" name="Google Shape;219;g3d40397e94d_0_533"/>
          <p:cNvSpPr/>
          <p:nvPr>
            <p:ph idx="2" type="pic"/>
          </p:nvPr>
        </p:nvSpPr>
        <p:spPr>
          <a:xfrm>
            <a:off x="1890000" y="1299075"/>
            <a:ext cx="5292600" cy="297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+ text">
  <p:cSld name="Table + text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d40397e94d_0_540"/>
          <p:cNvSpPr txBox="1"/>
          <p:nvPr>
            <p:ph type="title"/>
          </p:nvPr>
        </p:nvSpPr>
        <p:spPr>
          <a:xfrm>
            <a:off x="755650" y="586800"/>
            <a:ext cx="75636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g3d40397e94d_0_540"/>
          <p:cNvSpPr txBox="1"/>
          <p:nvPr>
            <p:ph idx="1" type="body"/>
          </p:nvPr>
        </p:nvSpPr>
        <p:spPr>
          <a:xfrm>
            <a:off x="755651" y="2638425"/>
            <a:ext cx="7563600" cy="15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3429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3" name="Google Shape;223;g3d40397e94d_0_54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4" name="Google Shape;224;g3d40397e94d_0_540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g3d40397e94d_0_540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">
  <p:cSld name="Chart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d40397e94d_0_546"/>
          <p:cNvSpPr txBox="1"/>
          <p:nvPr>
            <p:ph type="title"/>
          </p:nvPr>
        </p:nvSpPr>
        <p:spPr>
          <a:xfrm>
            <a:off x="755650" y="586800"/>
            <a:ext cx="75636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None/>
              <a:defRPr b="0" sz="195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g3d40397e94d_0_54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9" name="Google Shape;229;g3d40397e94d_0_546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0" name="Google Shape;230;g3d40397e94d_0_546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g3d40397e94d_0_546"/>
          <p:cNvSpPr/>
          <p:nvPr>
            <p:ph idx="2" type="chart"/>
          </p:nvPr>
        </p:nvSpPr>
        <p:spPr>
          <a:xfrm>
            <a:off x="755650" y="1079500"/>
            <a:ext cx="7559700" cy="31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6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19.xml"/><Relationship Id="rId19" Type="http://schemas.openxmlformats.org/officeDocument/2006/relationships/theme" Target="../theme/theme2.xml"/><Relationship Id="rId6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32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E8E8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" name="Google Shape;7;p12"/>
          <p:cNvSpPr txBox="1"/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b="1" i="0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" type="body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3375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3375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3375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" name="Google Shape;10;p1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6575" y="4568825"/>
            <a:ext cx="987425" cy="57467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E8E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40397e94d_0_430"/>
          <p:cNvSpPr txBox="1"/>
          <p:nvPr>
            <p:ph idx="12" type="sldNum"/>
          </p:nvPr>
        </p:nvSpPr>
        <p:spPr>
          <a:xfrm>
            <a:off x="2" y="4568400"/>
            <a:ext cx="111450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2" name="Google Shape;112;g3d40397e94d_0_430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b="1" i="0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g3d40397e94d_0_430"/>
          <p:cNvSpPr txBox="1"/>
          <p:nvPr>
            <p:ph idx="1" type="body"/>
          </p:nvPr>
        </p:nvSpPr>
        <p:spPr>
          <a:xfrm>
            <a:off x="758824" y="1306642"/>
            <a:ext cx="7556400" cy="29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Arial"/>
              <a:buNone/>
              <a:defRPr b="0" i="0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None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3375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3375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3375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50"/>
              <a:buFont typeface="Arial"/>
              <a:buChar char="•"/>
              <a:defRPr b="0" i="0" sz="16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4" name="Google Shape;114;g3d40397e94d_0_430"/>
          <p:cNvSpPr txBox="1"/>
          <p:nvPr>
            <p:ph idx="11" type="ftr"/>
          </p:nvPr>
        </p:nvSpPr>
        <p:spPr>
          <a:xfrm>
            <a:off x="1114426" y="4568400"/>
            <a:ext cx="70422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5" name="Google Shape;115;g3d40397e94d_0_43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156575" y="4568825"/>
            <a:ext cx="987426" cy="57467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jpg"/><Relationship Id="rId4" Type="http://schemas.openxmlformats.org/officeDocument/2006/relationships/image" Target="../media/image9.jp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hyperlink" Target="https://techcrunch.com/2025/07/01/googles-data-center-energy-use-doubled-in-four-years/" TargetMode="External"/><Relationship Id="rId5" Type="http://schemas.openxmlformats.org/officeDocument/2006/relationships/image" Target="../media/image14.png"/><Relationship Id="rId6" Type="http://schemas.openxmlformats.org/officeDocument/2006/relationships/hyperlink" Target="https://www.marketsandmarkets.com/Market-Reports/power-electronics-market-204729766.html" TargetMode="External"/><Relationship Id="rId7" Type="http://schemas.openxmlformats.org/officeDocument/2006/relationships/hyperlink" Target="https://sustainability.google/reports/google-2025-environmental-report/" TargetMode="External"/><Relationship Id="rId8" Type="http://schemas.openxmlformats.org/officeDocument/2006/relationships/hyperlink" Target="https://www.globalelectricity.org/data-centers-energy-consumption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hyperlink" Target="https://deepmind.google/blog/how-alphachip-transformed-computer-chip-design/" TargetMode="External"/><Relationship Id="rId5" Type="http://schemas.openxmlformats.org/officeDocument/2006/relationships/image" Target="../media/image1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ieeexplore.ieee.org/stamp/stamp.jsp?tp=&amp;arnumber=11153923" TargetMode="External"/><Relationship Id="rId4" Type="http://schemas.openxmlformats.org/officeDocument/2006/relationships/hyperlink" Target="https://ieeexplore.ieee.org/stamp/stamp.jsp?tp=&amp;arnumber=9576505" TargetMode="External"/><Relationship Id="rId9" Type="http://schemas.openxmlformats.org/officeDocument/2006/relationships/hyperlink" Target="https://webthesis.biblio.polito.it/28628/1/tesi.pdf" TargetMode="External"/><Relationship Id="rId5" Type="http://schemas.openxmlformats.org/officeDocument/2006/relationships/hyperlink" Target="https://shunzh.github.io/pdfs/fan-iccad-2021.pdf" TargetMode="External"/><Relationship Id="rId6" Type="http://schemas.openxmlformats.org/officeDocument/2006/relationships/hyperlink" Target="https://www.sciencedirect.com/science/article/pii/S136403212501264X" TargetMode="External"/><Relationship Id="rId7" Type="http://schemas.openxmlformats.org/officeDocument/2006/relationships/hyperlink" Target="https://researchwith.njit.edu/en/publications/from-specification-to-topology-automatic-power-converter-design-v/" TargetMode="External"/><Relationship Id="rId8" Type="http://schemas.openxmlformats.org/officeDocument/2006/relationships/hyperlink" Target="https://www.sciencedirect.com/science/article/pii/S0045790625001910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"/>
          <p:cNvSpPr txBox="1"/>
          <p:nvPr>
            <p:ph type="ctrTitle"/>
          </p:nvPr>
        </p:nvSpPr>
        <p:spPr>
          <a:xfrm>
            <a:off x="-1" y="756049"/>
            <a:ext cx="9143999" cy="792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ctr" bIns="0" lIns="756000" spcFirstLastPara="1" rIns="1962000" wrap="square" tIns="0">
            <a:noAutofit/>
          </a:bodyPr>
          <a:lstStyle/>
          <a:p>
            <a:pPr indent="0" lvl="0" marL="0" rt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Calibri"/>
              <a:buNone/>
            </a:pPr>
            <a:r>
              <a:rPr lang="en-GB"/>
              <a:t>AI-driven power electronics design for next-gen lithography</a:t>
            </a:r>
            <a:endParaRPr/>
          </a:p>
        </p:txBody>
      </p:sp>
      <p:sp>
        <p:nvSpPr>
          <p:cNvPr id="238" name="Google Shape;238;p1"/>
          <p:cNvSpPr txBox="1"/>
          <p:nvPr>
            <p:ph idx="1" type="subTitle"/>
          </p:nvPr>
        </p:nvSpPr>
        <p:spPr>
          <a:xfrm>
            <a:off x="-1" y="1548000"/>
            <a:ext cx="9143999" cy="288000"/>
          </a:xfrm>
          <a:prstGeom prst="rect">
            <a:avLst/>
          </a:prstGeom>
          <a:solidFill>
            <a:schemeClr val="dk2">
              <a:alpha val="50196"/>
            </a:schemeClr>
          </a:solidFill>
          <a:ln>
            <a:noFill/>
          </a:ln>
        </p:spPr>
        <p:txBody>
          <a:bodyPr anchorCtr="0" anchor="t" bIns="0" lIns="756000" spcFirstLastPara="1" rIns="1962000" wrap="square" tIns="18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</a:pPr>
            <a:r>
              <a:rPr lang="en-GB"/>
              <a:t>March 31st, 2026</a:t>
            </a:r>
            <a:endParaRPr/>
          </a:p>
        </p:txBody>
      </p:sp>
      <p:sp>
        <p:nvSpPr>
          <p:cNvPr id="239" name="Google Shape;239;p1"/>
          <p:cNvSpPr txBox="1"/>
          <p:nvPr>
            <p:ph idx="2" type="body"/>
          </p:nvPr>
        </p:nvSpPr>
        <p:spPr>
          <a:xfrm>
            <a:off x="0" y="3990975"/>
            <a:ext cx="9143999" cy="576263"/>
          </a:xfrm>
          <a:prstGeom prst="rect">
            <a:avLst/>
          </a:prstGeom>
          <a:solidFill>
            <a:srgbClr val="000000">
              <a:alpha val="25098"/>
            </a:srgbClr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GB"/>
              <a:t>5ARIP10 Team Internship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GB"/>
              <a:t>Atakan Kumas, Yuhao Shan, Chris Hogendoorn, Zijian Dong </a:t>
            </a:r>
            <a:endParaRPr/>
          </a:p>
        </p:txBody>
      </p:sp>
      <p:sp>
        <p:nvSpPr>
          <p:cNvPr id="240" name="Google Shape;240;p1"/>
          <p:cNvSpPr txBox="1"/>
          <p:nvPr>
            <p:ph idx="3" type="body"/>
          </p:nvPr>
        </p:nvSpPr>
        <p:spPr>
          <a:xfrm>
            <a:off x="-6667" y="4567237"/>
            <a:ext cx="7347267" cy="5762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GB"/>
              <a:t>EE department, Power electronics group</a:t>
            </a:r>
            <a:endParaRPr/>
          </a:p>
        </p:txBody>
      </p:sp>
      <p:pic>
        <p:nvPicPr>
          <p:cNvPr id="241" name="Google Shape;24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60250" y="4605000"/>
            <a:ext cx="1780349" cy="50072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1"/>
          <p:cNvSpPr txBox="1"/>
          <p:nvPr/>
        </p:nvSpPr>
        <p:spPr>
          <a:xfrm>
            <a:off x="2280285" y="2417862"/>
            <a:ext cx="457581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"/>
          <p:cNvSpPr txBox="1"/>
          <p:nvPr/>
        </p:nvSpPr>
        <p:spPr>
          <a:xfrm>
            <a:off x="402143" y="1070952"/>
            <a:ext cx="4677323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do data centers, electric vehicles, and smartphones have in common?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"/>
          <p:cNvSpPr txBox="1"/>
          <p:nvPr/>
        </p:nvSpPr>
        <p:spPr>
          <a:xfrm>
            <a:off x="402143" y="2580486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long does it take to design a power electronics system?</a:t>
            </a:r>
            <a:endParaRPr/>
          </a:p>
        </p:txBody>
      </p:sp>
      <p:pic>
        <p:nvPicPr>
          <p:cNvPr descr="6 Types of Electrical Plugs and Their Uses | Family Handyman" id="249" name="Google Shape;24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0" y="337165"/>
            <a:ext cx="1719587" cy="17195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7 Funny Electronics ideas | funny, short funny quotes, math quotes" id="250" name="Google Shape;250;p2"/>
          <p:cNvPicPr preferRelativeResize="0"/>
          <p:nvPr/>
        </p:nvPicPr>
        <p:blipFill rotWithShape="1">
          <a:blip r:embed="rId4">
            <a:alphaModFix/>
          </a:blip>
          <a:srcRect b="5916" l="0" r="0" t="3126"/>
          <a:stretch/>
        </p:blipFill>
        <p:spPr>
          <a:xfrm>
            <a:off x="6738012" y="53110"/>
            <a:ext cx="2264459" cy="190061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"/>
          <p:cNvSpPr txBox="1"/>
          <p:nvPr/>
        </p:nvSpPr>
        <p:spPr>
          <a:xfrm>
            <a:off x="402143" y="1645944"/>
            <a:ext cx="4572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They all need </a:t>
            </a:r>
            <a:r>
              <a:rPr b="1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power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402143" y="3315414"/>
            <a:ext cx="4572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Weeks to </a:t>
            </a:r>
            <a:r>
              <a:rPr b="1" i="0" lang="en-GB" sz="1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months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ngry Crazy Designer Yelling And Crumpling Paper On His Workplace Stock  Photo - Download Image Now - iStock" id="253" name="Google Shape;253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38300" y="2896106"/>
            <a:ext cx="1719588" cy="1146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tired and depressed designer in the messy workroom" id="254" name="Google Shape;25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81462" y="2681337"/>
            <a:ext cx="1863359" cy="1883708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"/>
          <p:cNvSpPr txBox="1"/>
          <p:nvPr/>
        </p:nvSpPr>
        <p:spPr>
          <a:xfrm>
            <a:off x="194283" y="295904"/>
            <a:ext cx="273648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What’s wrong?</a:t>
            </a:r>
            <a:endParaRPr/>
          </a:p>
        </p:txBody>
      </p:sp>
      <p:sp>
        <p:nvSpPr>
          <p:cNvPr id="256" name="Google Shape;256;p2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"/>
          <p:cNvSpPr txBox="1"/>
          <p:nvPr>
            <p:ph idx="1" type="body"/>
          </p:nvPr>
        </p:nvSpPr>
        <p:spPr>
          <a:xfrm>
            <a:off x="223236" y="334651"/>
            <a:ext cx="4943010" cy="407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None/>
            </a:pPr>
            <a:r>
              <a:rPr b="1" lang="en-GB" sz="2400"/>
              <a:t>How does this impact companies?</a:t>
            </a:r>
            <a:endParaRPr/>
          </a:p>
        </p:txBody>
      </p:sp>
      <p:sp>
        <p:nvSpPr>
          <p:cNvPr id="262" name="Google Shape;262;p3"/>
          <p:cNvSpPr txBox="1"/>
          <p:nvPr/>
        </p:nvSpPr>
        <p:spPr>
          <a:xfrm>
            <a:off x="408741" y="1251216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Deployment delay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Excess energy consumption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971" y="783108"/>
            <a:ext cx="5221175" cy="902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0269" y="1740870"/>
            <a:ext cx="5539062" cy="812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06" y="2729475"/>
            <a:ext cx="4887971" cy="1727557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"/>
          <p:cNvSpPr txBox="1"/>
          <p:nvPr/>
        </p:nvSpPr>
        <p:spPr>
          <a:xfrm>
            <a:off x="129261" y="4512517"/>
            <a:ext cx="4572000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GB" sz="8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https://www.marketsandmarkets.com/Market-Reports/power-electronics-market-204729766.html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https://sustainability.google/reports/google-2025-environmental-report/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https://www.globalelectricity.org/data-centers-energy-consumption/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https://techcrunch.com/2025/07/01/googles-data-center-energy-use-doubled-in-four-years/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"/>
          <p:cNvSpPr txBox="1"/>
          <p:nvPr>
            <p:ph idx="2" type="body"/>
          </p:nvPr>
        </p:nvSpPr>
        <p:spPr>
          <a:xfrm>
            <a:off x="4125729" y="997903"/>
            <a:ext cx="501827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047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lang="en-GB" sz="1800"/>
              <a:t>A: Develop an AI-driven system that is able to explore PE topologies </a:t>
            </a:r>
            <a:endParaRPr/>
          </a:p>
          <a:p>
            <a:pPr indent="-285750" lvl="0" marL="390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Font typeface="Noto Sans Symbols"/>
              <a:buChar char="🡺"/>
            </a:pPr>
            <a:r>
              <a:rPr lang="en-GB" sz="1800"/>
              <a:t>accelerates circuit design process</a:t>
            </a:r>
            <a:endParaRPr/>
          </a:p>
          <a:p>
            <a:pPr indent="-285750" lvl="0" marL="3905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Font typeface="Noto Sans Symbols"/>
              <a:buChar char="🡺"/>
            </a:pPr>
            <a:r>
              <a:rPr lang="en-GB" sz="1800"/>
              <a:t>swift response to demand</a:t>
            </a:r>
            <a:endParaRPr/>
          </a:p>
        </p:txBody>
      </p:sp>
      <p:sp>
        <p:nvSpPr>
          <p:cNvPr id="273" name="Google Shape;273;p4"/>
          <p:cNvSpPr txBox="1"/>
          <p:nvPr/>
        </p:nvSpPr>
        <p:spPr>
          <a:xfrm>
            <a:off x="99954" y="271296"/>
            <a:ext cx="383259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do we solve this?</a:t>
            </a:r>
            <a:endParaRPr/>
          </a:p>
        </p:txBody>
      </p:sp>
      <p:sp>
        <p:nvSpPr>
          <p:cNvPr id="274" name="Google Shape;274;p4"/>
          <p:cNvSpPr txBox="1"/>
          <p:nvPr/>
        </p:nvSpPr>
        <p:spPr>
          <a:xfrm>
            <a:off x="293929" y="936348"/>
            <a:ext cx="344573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Q: What if it the design process could be done in hours?</a:t>
            </a:r>
            <a:endParaRPr/>
          </a:p>
        </p:txBody>
      </p:sp>
      <p:pic>
        <p:nvPicPr>
          <p:cNvPr id="275" name="Google Shape;2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3889" y="1873145"/>
            <a:ext cx="3285812" cy="1195786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4"/>
          <p:cNvSpPr txBox="1"/>
          <p:nvPr/>
        </p:nvSpPr>
        <p:spPr>
          <a:xfrm>
            <a:off x="99954" y="4793870"/>
            <a:ext cx="45720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https://deepmind.google/blog/how-alphachip-transformed-computer-chip-design/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lose-up photograph of Google's Tensor Processing Unit (TPU) Trillium." id="277" name="Google Shape;277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91" y="3296148"/>
            <a:ext cx="2391508" cy="1345223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4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"/>
          <p:cNvSpPr txBox="1"/>
          <p:nvPr>
            <p:ph type="title"/>
          </p:nvPr>
        </p:nvSpPr>
        <p:spPr>
          <a:xfrm>
            <a:off x="758825" y="518711"/>
            <a:ext cx="7556400" cy="5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Approaches/Directions</a:t>
            </a:r>
            <a:endParaRPr/>
          </a:p>
        </p:txBody>
      </p:sp>
      <p:sp>
        <p:nvSpPr>
          <p:cNvPr id="284" name="Google Shape;284;p5"/>
          <p:cNvSpPr txBox="1"/>
          <p:nvPr>
            <p:ph idx="1" type="body"/>
          </p:nvPr>
        </p:nvSpPr>
        <p:spPr>
          <a:xfrm>
            <a:off x="758825" y="1183550"/>
            <a:ext cx="7556400" cy="29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t/>
            </a:r>
            <a:endParaRPr b="1"/>
          </a:p>
          <a:p>
            <a:pPr indent="-3524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Char char="●"/>
            </a:pPr>
            <a:r>
              <a:rPr b="1" lang="en-GB" sz="2150"/>
              <a:t>LLM-driven topology generation</a:t>
            </a:r>
            <a:br>
              <a:rPr b="1" lang="en-GB" sz="2150"/>
            </a:br>
            <a:r>
              <a:rPr b="1" lang="en-GB" sz="2150"/>
              <a:t>	</a:t>
            </a:r>
            <a:r>
              <a:rPr lang="en-GB" sz="2150"/>
              <a:t>initialized with SFT warm start</a:t>
            </a:r>
            <a:br>
              <a:rPr lang="en-GB"/>
            </a:br>
            <a:r>
              <a:rPr lang="en-GB"/>
              <a:t>	Generate candidate circuit designs from high-level specifications</a:t>
            </a:r>
            <a:endParaRPr/>
          </a:p>
          <a:p>
            <a:pPr indent="-3524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Char char="●"/>
            </a:pPr>
            <a:r>
              <a:rPr b="1" lang="en-GB" sz="2150"/>
              <a:t>Simulation-in-the-loop evaluation</a:t>
            </a:r>
            <a:br>
              <a:rPr lang="en-GB"/>
            </a:br>
            <a:r>
              <a:rPr lang="en-GB"/>
              <a:t>	Validate and evaluate each design using circuit simulation</a:t>
            </a:r>
            <a:endParaRPr/>
          </a:p>
          <a:p>
            <a:pPr indent="-36512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50"/>
              <a:buChar char="●"/>
            </a:pPr>
            <a:r>
              <a:rPr b="1" lang="en-GB" sz="2150"/>
              <a:t>RL-based optimization</a:t>
            </a:r>
            <a:endParaRPr b="1" sz="2150"/>
          </a:p>
          <a:p>
            <a:pPr indent="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lang="en-GB"/>
              <a:t>Learn a policy to iteratively improve topology generation</a:t>
            </a:r>
            <a:endParaRPr/>
          </a:p>
          <a:p>
            <a:pPr indent="0" lvl="0" marL="1371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lang="en-GB"/>
              <a:t>	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t/>
            </a:r>
            <a:endParaRPr/>
          </a:p>
        </p:txBody>
      </p:sp>
      <p:sp>
        <p:nvSpPr>
          <p:cNvPr id="285" name="Google Shape;285;p5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6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Milestones/Roadmap</a:t>
            </a:r>
            <a:endParaRPr/>
          </a:p>
        </p:txBody>
      </p:sp>
      <p:sp>
        <p:nvSpPr>
          <p:cNvPr id="291" name="Google Shape;291;p6"/>
          <p:cNvSpPr/>
          <p:nvPr/>
        </p:nvSpPr>
        <p:spPr>
          <a:xfrm>
            <a:off x="209575" y="1386275"/>
            <a:ext cx="2039400" cy="1266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5425" lIns="145425" spcFirstLastPara="1" rIns="145425" wrap="square" tIns="145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Literature Review and process research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6"/>
          <p:cNvSpPr/>
          <p:nvPr/>
        </p:nvSpPr>
        <p:spPr>
          <a:xfrm>
            <a:off x="3552291" y="1386275"/>
            <a:ext cx="2039400" cy="1266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5425" lIns="145425" spcFirstLastPara="1" rIns="145425" wrap="square" tIns="145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training and tuning</a:t>
            </a:r>
            <a:endParaRPr b="0" i="0" sz="222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7017577" y="1386275"/>
            <a:ext cx="2039400" cy="1266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5425" lIns="145425" spcFirstLastPara="1" rIns="145425" wrap="square" tIns="145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report writing</a:t>
            </a:r>
            <a:endParaRPr b="0" i="0" sz="222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6"/>
          <p:cNvSpPr/>
          <p:nvPr/>
        </p:nvSpPr>
        <p:spPr>
          <a:xfrm>
            <a:off x="1841525" y="3389700"/>
            <a:ext cx="2039400" cy="1266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5425" lIns="145425" spcFirstLastPara="1" rIns="145425" wrap="square" tIns="145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generation and simulation processing</a:t>
            </a:r>
            <a:endParaRPr b="0" i="0" sz="222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6"/>
          <p:cNvSpPr/>
          <p:nvPr/>
        </p:nvSpPr>
        <p:spPr>
          <a:xfrm>
            <a:off x="5591700" y="3458675"/>
            <a:ext cx="2039400" cy="1266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45425" lIns="145425" spcFirstLastPara="1" rIns="145425" wrap="square" tIns="145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Interactive Implementation</a:t>
            </a:r>
            <a:endParaRPr b="0" i="0" sz="2226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6"/>
          <p:cNvSpPr/>
          <p:nvPr/>
        </p:nvSpPr>
        <p:spPr>
          <a:xfrm rot="3768942">
            <a:off x="1377900" y="2782055"/>
            <a:ext cx="1166893" cy="562851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6"/>
          <p:cNvSpPr/>
          <p:nvPr/>
        </p:nvSpPr>
        <p:spPr>
          <a:xfrm rot="-4065614">
            <a:off x="3259169" y="2739489"/>
            <a:ext cx="1172310" cy="533481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6"/>
          <p:cNvSpPr/>
          <p:nvPr/>
        </p:nvSpPr>
        <p:spPr>
          <a:xfrm rot="4249187">
            <a:off x="4957459" y="2724818"/>
            <a:ext cx="1166979" cy="562805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6"/>
          <p:cNvSpPr/>
          <p:nvPr/>
        </p:nvSpPr>
        <p:spPr>
          <a:xfrm rot="-4183497">
            <a:off x="6900270" y="2782058"/>
            <a:ext cx="1167008" cy="562858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151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120875" y="1287650"/>
            <a:ext cx="3808200" cy="34746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3482275" y="1196600"/>
            <a:ext cx="5661600" cy="36339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6"/>
          <p:cNvSpPr txBox="1"/>
          <p:nvPr/>
        </p:nvSpPr>
        <p:spPr>
          <a:xfrm>
            <a:off x="1638150" y="901475"/>
            <a:ext cx="5574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GB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6"/>
          <p:cNvSpPr txBox="1"/>
          <p:nvPr/>
        </p:nvSpPr>
        <p:spPr>
          <a:xfrm>
            <a:off x="6034375" y="711800"/>
            <a:ext cx="5574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b="0" i="0" lang="en-GB" sz="1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6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"/>
          <p:cNvSpPr txBox="1"/>
          <p:nvPr>
            <p:ph type="title"/>
          </p:nvPr>
        </p:nvSpPr>
        <p:spPr>
          <a:xfrm>
            <a:off x="793800" y="82825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Training pipeline</a:t>
            </a:r>
            <a:endParaRPr/>
          </a:p>
        </p:txBody>
      </p:sp>
      <p:sp>
        <p:nvSpPr>
          <p:cNvPr id="310" name="Google Shape;310;p7"/>
          <p:cNvSpPr/>
          <p:nvPr/>
        </p:nvSpPr>
        <p:spPr>
          <a:xfrm>
            <a:off x="959138" y="2322107"/>
            <a:ext cx="13872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Constraint set dataset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7"/>
          <p:cNvSpPr/>
          <p:nvPr/>
        </p:nvSpPr>
        <p:spPr>
          <a:xfrm>
            <a:off x="2862426" y="2322107"/>
            <a:ext cx="13872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Topology generation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4723927" y="2322107"/>
            <a:ext cx="13872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Topology validation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7"/>
          <p:cNvSpPr/>
          <p:nvPr/>
        </p:nvSpPr>
        <p:spPr>
          <a:xfrm>
            <a:off x="6585428" y="2322107"/>
            <a:ext cx="13872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Topology simulation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/>
          <p:nvPr/>
        </p:nvSpPr>
        <p:spPr>
          <a:xfrm>
            <a:off x="6534305" y="3544461"/>
            <a:ext cx="14895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Reward function processing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7"/>
          <p:cNvSpPr/>
          <p:nvPr/>
        </p:nvSpPr>
        <p:spPr>
          <a:xfrm>
            <a:off x="2811303" y="3544461"/>
            <a:ext cx="14895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Reinforcement learning loop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7"/>
          <p:cNvSpPr/>
          <p:nvPr/>
        </p:nvSpPr>
        <p:spPr>
          <a:xfrm>
            <a:off x="2811303" y="923708"/>
            <a:ext cx="14895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Supervised fine-tuning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7"/>
          <p:cNvSpPr/>
          <p:nvPr/>
        </p:nvSpPr>
        <p:spPr>
          <a:xfrm>
            <a:off x="4208504" y="2570082"/>
            <a:ext cx="624900" cy="176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/>
          <p:nvPr/>
        </p:nvSpPr>
        <p:spPr>
          <a:xfrm>
            <a:off x="5911294" y="2574035"/>
            <a:ext cx="814500" cy="2064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valid</a:t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7"/>
          <p:cNvSpPr/>
          <p:nvPr/>
        </p:nvSpPr>
        <p:spPr>
          <a:xfrm rot="5400000">
            <a:off x="7003579" y="3190072"/>
            <a:ext cx="624900" cy="1992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7"/>
          <p:cNvSpPr/>
          <p:nvPr/>
        </p:nvSpPr>
        <p:spPr>
          <a:xfrm flipH="1">
            <a:off x="4249848" y="3832447"/>
            <a:ext cx="2335500" cy="1341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7"/>
          <p:cNvSpPr/>
          <p:nvPr/>
        </p:nvSpPr>
        <p:spPr>
          <a:xfrm flipH="1" rot="5400000">
            <a:off x="3134505" y="3182604"/>
            <a:ext cx="745500" cy="146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/>
          <p:nvPr/>
        </p:nvSpPr>
        <p:spPr>
          <a:xfrm>
            <a:off x="6585428" y="888637"/>
            <a:ext cx="1387200" cy="710400"/>
          </a:xfrm>
          <a:prstGeom prst="rect">
            <a:avLst/>
          </a:prstGeom>
          <a:solidFill>
            <a:schemeClr val="lt1"/>
          </a:solidFill>
          <a:ln cap="flat" cmpd="sng" w="101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Expansion</a:t>
            </a:r>
            <a:endParaRPr b="0" i="0" sz="149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7"/>
          <p:cNvSpPr/>
          <p:nvPr/>
        </p:nvSpPr>
        <p:spPr>
          <a:xfrm flipH="1" rot="5400000">
            <a:off x="6863185" y="1834034"/>
            <a:ext cx="905700" cy="194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/>
          <p:nvPr/>
        </p:nvSpPr>
        <p:spPr>
          <a:xfrm flipH="1">
            <a:off x="4166244" y="1154668"/>
            <a:ext cx="2502600" cy="1341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7"/>
          <p:cNvSpPr/>
          <p:nvPr/>
        </p:nvSpPr>
        <p:spPr>
          <a:xfrm flipH="1" rot="-2699189">
            <a:off x="4071066" y="3175131"/>
            <a:ext cx="899652" cy="229103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invalid</a:t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/>
          <p:nvPr/>
        </p:nvSpPr>
        <p:spPr>
          <a:xfrm rot="-2885783">
            <a:off x="5760615" y="1802139"/>
            <a:ext cx="1131042" cy="258979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rPr b="0" i="0" lang="en-GB" sz="1495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invalid</a:t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/>
          <p:nvPr/>
        </p:nvSpPr>
        <p:spPr>
          <a:xfrm>
            <a:off x="2297454" y="2588882"/>
            <a:ext cx="624900" cy="176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01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75" lIns="97675" spcFirstLastPara="1" rIns="97675" wrap="square" tIns="9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5"/>
              <a:buFont typeface="Arial"/>
              <a:buNone/>
            </a:pPr>
            <a:r>
              <a:t/>
            </a:r>
            <a:endParaRPr b="0" i="0" sz="14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3196788" y="1961850"/>
            <a:ext cx="718524" cy="30763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LLM</a:t>
            </a:r>
            <a:endParaRPr b="0" i="0" sz="17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"/>
          <p:cNvSpPr/>
          <p:nvPr/>
        </p:nvSpPr>
        <p:spPr>
          <a:xfrm>
            <a:off x="793800" y="1403675"/>
            <a:ext cx="1764300" cy="903300"/>
          </a:xfrm>
          <a:prstGeom prst="rect">
            <a:avLst/>
          </a:prstGeom>
          <a:solidFill>
            <a:schemeClr val="lt1"/>
          </a:solidFill>
          <a:ln cap="flat" cmpd="sng" w="12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4225" lIns="124225" spcFirstLastPara="1" rIns="124225" wrap="square" tIns="1242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2"/>
              <a:buFont typeface="Arial"/>
              <a:buNone/>
            </a:pPr>
            <a:r>
              <a:rPr b="0" i="0" lang="en-GB" sz="190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input</a:t>
            </a:r>
            <a:endParaRPr b="0" i="0" sz="19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8"/>
          <p:cNvSpPr/>
          <p:nvPr/>
        </p:nvSpPr>
        <p:spPr>
          <a:xfrm>
            <a:off x="3689858" y="1403675"/>
            <a:ext cx="1764300" cy="903300"/>
          </a:xfrm>
          <a:prstGeom prst="rect">
            <a:avLst/>
          </a:prstGeom>
          <a:solidFill>
            <a:schemeClr val="lt1"/>
          </a:solidFill>
          <a:ln cap="flat" cmpd="sng" w="12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4225" lIns="124225" spcFirstLastPara="1" rIns="124225" wrap="square" tIns="1242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2"/>
              <a:buFont typeface="Arial"/>
              <a:buNone/>
            </a:pPr>
            <a:r>
              <a:rPr b="0" i="0" lang="en-GB" sz="190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Topology generation</a:t>
            </a:r>
            <a:endParaRPr b="0" i="0" sz="19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8"/>
          <p:cNvSpPr txBox="1"/>
          <p:nvPr>
            <p:ph type="title"/>
          </p:nvPr>
        </p:nvSpPr>
        <p:spPr>
          <a:xfrm>
            <a:off x="793800" y="70875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Testing pipeline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2392948" y="1731025"/>
            <a:ext cx="1422300" cy="224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29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4225" lIns="124225" spcFirstLastPara="1" rIns="124225" wrap="square" tIns="1242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2"/>
              <a:buFont typeface="Arial"/>
              <a:buNone/>
            </a:pPr>
            <a:r>
              <a:t/>
            </a:r>
            <a:endParaRPr b="0" i="0" sz="1902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8"/>
          <p:cNvSpPr/>
          <p:nvPr/>
        </p:nvSpPr>
        <p:spPr>
          <a:xfrm>
            <a:off x="6381933" y="1403675"/>
            <a:ext cx="1764300" cy="903300"/>
          </a:xfrm>
          <a:prstGeom prst="rect">
            <a:avLst/>
          </a:prstGeom>
          <a:solidFill>
            <a:schemeClr val="lt1"/>
          </a:solidFill>
          <a:ln cap="flat" cmpd="sng" w="129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4225" lIns="124225" spcFirstLastPara="1" rIns="124225" wrap="square" tIns="1242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2"/>
              <a:buFont typeface="Arial"/>
              <a:buNone/>
            </a:pPr>
            <a:r>
              <a:rPr b="0" i="0" lang="en-GB" sz="190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response</a:t>
            </a:r>
            <a:endParaRPr b="0" i="0" sz="190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"/>
          <p:cNvSpPr/>
          <p:nvPr/>
        </p:nvSpPr>
        <p:spPr>
          <a:xfrm>
            <a:off x="5314107" y="1742975"/>
            <a:ext cx="1202100" cy="224700"/>
          </a:xfrm>
          <a:prstGeom prst="homePlate">
            <a:avLst>
              <a:gd fmla="val 50000" name="adj"/>
            </a:avLst>
          </a:prstGeom>
          <a:solidFill>
            <a:schemeClr val="lt2"/>
          </a:solidFill>
          <a:ln cap="flat" cmpd="sng" w="129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4225" lIns="124225" spcFirstLastPara="1" rIns="124225" wrap="square" tIns="1242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2"/>
              <a:buFont typeface="Arial"/>
              <a:buNone/>
            </a:pPr>
            <a:r>
              <a:t/>
            </a:r>
            <a:endParaRPr b="0" i="0" sz="1902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8"/>
          <p:cNvSpPr/>
          <p:nvPr/>
        </p:nvSpPr>
        <p:spPr>
          <a:xfrm>
            <a:off x="3558038" y="816625"/>
            <a:ext cx="2027916" cy="575100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GB" sz="1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Fine-tuned LLM</a:t>
            </a:r>
            <a:endParaRPr b="0" i="0" sz="17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8"/>
          <p:cNvSpPr txBox="1"/>
          <p:nvPr/>
        </p:nvSpPr>
        <p:spPr>
          <a:xfrm>
            <a:off x="822563" y="2666175"/>
            <a:ext cx="2836800" cy="252950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GB" sz="14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r>
              <a:rPr b="0" i="0" lang="en-GB" sz="14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Accept plain-text design specification from user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Calibri"/>
              <a:buChar char="-"/>
            </a:pPr>
            <a:r>
              <a:rPr b="0" i="0" lang="en-GB" sz="14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Performance requirements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Calibri"/>
              <a:buChar char="-"/>
            </a:pPr>
            <a:r>
              <a:rPr b="0" i="0" lang="en-GB" sz="14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Constraints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0675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Calibri"/>
              <a:buChar char="-"/>
            </a:pPr>
            <a:r>
              <a:rPr b="0" i="0" lang="en-GB" sz="14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Bogus prompts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8"/>
          <p:cNvSpPr txBox="1"/>
          <p:nvPr/>
        </p:nvSpPr>
        <p:spPr>
          <a:xfrm>
            <a:off x="4254337" y="2748776"/>
            <a:ext cx="4067100" cy="8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-GB" sz="14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Output:</a:t>
            </a:r>
            <a:r>
              <a:rPr b="0" i="0" lang="en-GB" sz="14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Generates a set of distinct, structural, optimal and reliable topologies that meet the specifications of the user.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8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Next Steps</a:t>
            </a:r>
            <a:endParaRPr/>
          </a:p>
        </p:txBody>
      </p:sp>
      <p:sp>
        <p:nvSpPr>
          <p:cNvPr id="349" name="Google Shape;349;p9"/>
          <p:cNvSpPr txBox="1"/>
          <p:nvPr/>
        </p:nvSpPr>
        <p:spPr>
          <a:xfrm>
            <a:off x="990750" y="1088375"/>
            <a:ext cx="7162500" cy="38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6000" lIns="91425" spcFirstLastPara="1" rIns="91425" wrap="square" tIns="91425">
            <a:spAutoFit/>
          </a:bodyPr>
          <a:lstStyle/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System Integration</a:t>
            </a:r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codebases and validate the end-to-end framework.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SFT Data Preparation</a:t>
            </a:r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Generate and curate datasets for Supervised Fine-Tuning.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&amp; Evaluation</a:t>
            </a:r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Execute model training and assess topology generation 	performance.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Iterative Refinement</a:t>
            </a:r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Fine-tune parameters based on test metrics to iterate model 	versions.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Adaptive LoRA Routing</a:t>
            </a:r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GB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 constraint-specific LoRAs with a dynamic routing mechanism for scenario adaptation.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9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4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0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References</a:t>
            </a:r>
            <a:endParaRPr/>
          </a:p>
        </p:txBody>
      </p:sp>
      <p:sp>
        <p:nvSpPr>
          <p:cNvPr id="356" name="Google Shape;356;p10"/>
          <p:cNvSpPr txBox="1"/>
          <p:nvPr/>
        </p:nvSpPr>
        <p:spPr>
          <a:xfrm>
            <a:off x="664900" y="1252200"/>
            <a:ext cx="8706900" cy="40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AI-Driven Integrated Circuit Design: A Survey of Techniques, Challenges, and Opportunities, IEEE： </a:t>
            </a: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https://ieeexplore.ieee.org/stamp/stamp.jsp?tp=&amp;arnumber=11153923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Automated Design of Analog Circuits Using Reinforcement Learning： </a:t>
            </a: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https://ieeexplore.ieee.org/stamp/stamp.jsp?tp=&amp;arnumber=9576505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Automatic Power Converter Design via Reinforcement Learning (Fan et al., ICCAD 2021)：</a:t>
            </a: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https://shunzh.github.io/pdfs/fan-iccad-2021.pdf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An Overview of Reinforcement Learning for Power Electronic Converters (2025):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https://www.sciencedirect.com/science/article/pii/S136403212501264X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AUTOCIRCUIT-RL: Reinforcement Learning-Driven LLM for Automated Circuit Topology Generation (IBM Research, ICML 2025):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https://researchwith.njit.edu/en/publications/from-specification-to-topology-automatic-power-converter-design-v/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Revolutionizing Power Electronics Design through Large Language Models (ScienceDirect, 2025):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8"/>
              </a:rPr>
              <a:t>https://www.sciencedirect.com/science/article/pii/S0045790625001910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none" cap="none" strike="noStrike">
                <a:solidFill>
                  <a:srgbClr val="0E0E0E"/>
                </a:solidFill>
                <a:latin typeface="Arial"/>
                <a:ea typeface="Arial"/>
                <a:cs typeface="Arial"/>
                <a:sym typeface="Arial"/>
              </a:rPr>
              <a:t>Graph Neural Networks for Topology Recognition of AMS Integrated Circuits (Polito thesis):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GB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https://webthesis.biblio.polito.it/28628/1/tesi.pdf</a:t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97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E0E0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1"/>
          <p:cNvSpPr txBox="1"/>
          <p:nvPr>
            <p:ph type="title"/>
          </p:nvPr>
        </p:nvSpPr>
        <p:spPr>
          <a:xfrm>
            <a:off x="1806697" y="1177089"/>
            <a:ext cx="5530606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rPr b="0" lang="en-GB" sz="2000"/>
              <a:t>What would you do differently in our approach (e.g. the training pipeline)?</a:t>
            </a:r>
            <a:endParaRPr/>
          </a:p>
        </p:txBody>
      </p:sp>
      <p:sp>
        <p:nvSpPr>
          <p:cNvPr id="363" name="Google Shape;363;p11"/>
          <p:cNvSpPr txBox="1"/>
          <p:nvPr/>
        </p:nvSpPr>
        <p:spPr>
          <a:xfrm>
            <a:off x="1806697" y="2244118"/>
            <a:ext cx="5530606" cy="733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Imagine that this project is completed, along with the solution, do you see any problems it might still introduce afterward?</a:t>
            </a:r>
            <a:endParaRPr/>
          </a:p>
        </p:txBody>
      </p:sp>
      <p:sp>
        <p:nvSpPr>
          <p:cNvPr id="364" name="Google Shape;364;p11"/>
          <p:cNvSpPr txBox="1"/>
          <p:nvPr/>
        </p:nvSpPr>
        <p:spPr>
          <a:xfrm>
            <a:off x="1806697" y="3539747"/>
            <a:ext cx="5530606" cy="10148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you can see we are still discussing of using a single LLM for certain tasks. Would a mixture of agents strategy be a better idea or not?</a:t>
            </a:r>
            <a:endParaRPr/>
          </a:p>
        </p:txBody>
      </p:sp>
      <p:sp>
        <p:nvSpPr>
          <p:cNvPr id="365" name="Google Shape;365;p11"/>
          <p:cNvSpPr txBox="1"/>
          <p:nvPr/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rPr b="1" i="0" lang="en-GB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questions</a:t>
            </a:r>
            <a:endParaRPr/>
          </a:p>
        </p:txBody>
      </p:sp>
      <p:sp>
        <p:nvSpPr>
          <p:cNvPr id="366" name="Google Shape;366;p11"/>
          <p:cNvSpPr txBox="1"/>
          <p:nvPr>
            <p:ph idx="12" type="sldNum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0" lIns="75600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d40397e94d_0_425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Feedback</a:t>
            </a:r>
            <a:endParaRPr/>
          </a:p>
        </p:txBody>
      </p:sp>
      <p:sp>
        <p:nvSpPr>
          <p:cNvPr id="372" name="Google Shape;372;g3d40397e94d_0_425"/>
          <p:cNvSpPr txBox="1"/>
          <p:nvPr/>
        </p:nvSpPr>
        <p:spPr>
          <a:xfrm>
            <a:off x="926925" y="1392325"/>
            <a:ext cx="7823700" cy="28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Char char="-"/>
            </a:pPr>
            <a:r>
              <a:rPr lang="en-GB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Regarding the Model Selection, Could you validate why you choose transformer LLM, rather than other types such as Graphical Model.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Char char="-"/>
            </a:pPr>
            <a:r>
              <a:rPr lang="en-GB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scope of the project is a bit unclear, especially for people without relevant background knowledge.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Char char="-"/>
            </a:pPr>
            <a:r>
              <a:rPr lang="en-GB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Also need more logical connection between the Energy Consumption case(page 2) and our project, why our project can alleviate this problem.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2425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50"/>
              <a:buFont typeface="Calibri"/>
              <a:buChar char="-"/>
            </a:pPr>
            <a:r>
              <a:rPr lang="en-GB" sz="19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motivation of &lt;Topology Validation&gt; is not Strong enough.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d40397e94d_0_149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Zijian dong</a:t>
            </a:r>
            <a:endParaRPr/>
          </a:p>
        </p:txBody>
      </p:sp>
      <p:sp>
        <p:nvSpPr>
          <p:cNvPr id="378" name="Google Shape;378;g3d40397e94d_0_149"/>
          <p:cNvSpPr txBox="1"/>
          <p:nvPr/>
        </p:nvSpPr>
        <p:spPr>
          <a:xfrm>
            <a:off x="339275" y="1193800"/>
            <a:ext cx="8597700" cy="26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your individual contribution to the project so far?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is your initial planning affected by now?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 you expect to achieve?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g3d40397e94d_0_149"/>
          <p:cNvSpPr txBox="1"/>
          <p:nvPr/>
        </p:nvSpPr>
        <p:spPr>
          <a:xfrm>
            <a:off x="452675" y="1431150"/>
            <a:ext cx="8281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/>
              <a:t>I worked with my teammates continuously on the shared tasks, such as planning, brainstorming and research, pipeline design, etc.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/>
              <a:t>I take care of the minutes of the meating for further reference, and I personally focuse on the implementation of the Reinforcement learning loop, which is part of the whole pipeline.</a:t>
            </a:r>
            <a:endParaRPr sz="1200"/>
          </a:p>
        </p:txBody>
      </p:sp>
      <p:sp>
        <p:nvSpPr>
          <p:cNvPr id="380" name="Google Shape;380;g3d40397e94d_0_149"/>
          <p:cNvSpPr txBox="1"/>
          <p:nvPr/>
        </p:nvSpPr>
        <p:spPr>
          <a:xfrm>
            <a:off x="452675" y="2533500"/>
            <a:ext cx="8281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/>
              <a:t>I feel the current workflow is in line with the initial plan.</a:t>
            </a:r>
            <a:endParaRPr sz="1200"/>
          </a:p>
        </p:txBody>
      </p:sp>
      <p:sp>
        <p:nvSpPr>
          <p:cNvPr id="381" name="Google Shape;381;g3d40397e94d_0_149"/>
          <p:cNvSpPr txBox="1"/>
          <p:nvPr/>
        </p:nvSpPr>
        <p:spPr>
          <a:xfrm>
            <a:off x="452675" y="3536325"/>
            <a:ext cx="8281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/>
              <a:t>I expect the whole project can be completely functional, while everyone could gain more experience in products development&amp; domian knowledges, communication skills. </a:t>
            </a:r>
            <a:endParaRPr sz="1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d40397e94d_0_157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Atakan Kumas</a:t>
            </a:r>
            <a:endParaRPr/>
          </a:p>
        </p:txBody>
      </p:sp>
      <p:sp>
        <p:nvSpPr>
          <p:cNvPr id="387" name="Google Shape;387;g3d40397e94d_0_157"/>
          <p:cNvSpPr txBox="1"/>
          <p:nvPr/>
        </p:nvSpPr>
        <p:spPr>
          <a:xfrm>
            <a:off x="339275" y="1193800"/>
            <a:ext cx="7837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chemeClr val="dk1"/>
                </a:solidFill>
              </a:rPr>
              <a:t>What is your individual contribution to the project so far? </a:t>
            </a:r>
            <a:endParaRPr b="1" i="0" sz="20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I worked on parts of the project plan. I was also responsible for researching simulation engines, learning methods and implementing the simulation process for the training pipeline.</a:t>
            </a:r>
            <a:endParaRPr i="0" sz="195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chemeClr val="dk1"/>
                </a:solidFill>
              </a:rPr>
              <a:t>How is your initial planning affected by now?</a:t>
            </a:r>
            <a:endParaRPr b="1" i="0" sz="20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GB" sz="1300">
                <a:solidFill>
                  <a:schemeClr val="dk1"/>
                </a:solidFill>
              </a:rPr>
              <a:t>At first, It felt like a dilemma to choose a direction together with the team, but after further research and discussion, we we’re able to build a consensus. For the rest, I find it going according to plan. </a:t>
            </a:r>
            <a:endParaRPr i="0" sz="20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GB" sz="2000" u="none" cap="none" strike="noStrike">
                <a:solidFill>
                  <a:schemeClr val="dk1"/>
                </a:solidFill>
              </a:rPr>
              <a:t>What do you expect to achieve? </a:t>
            </a:r>
            <a:endParaRPr b="1" i="0" sz="20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I expect a result that can please everyone in the team and that can reflect our hard work for achieving it. At the end of this internship, I wish to have gained a lot of experience that I can apply in later projects and my future career.</a:t>
            </a:r>
            <a:endParaRPr i="0" sz="19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d40397e94d_0_162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Chris hogendoorn</a:t>
            </a:r>
            <a:endParaRPr/>
          </a:p>
        </p:txBody>
      </p:sp>
      <p:sp>
        <p:nvSpPr>
          <p:cNvPr id="393" name="Google Shape;393;g3d40397e94d_0_162"/>
          <p:cNvSpPr txBox="1"/>
          <p:nvPr/>
        </p:nvSpPr>
        <p:spPr>
          <a:xfrm>
            <a:off x="339275" y="1193800"/>
            <a:ext cx="7837800" cy="29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your individual contribution to the project so far?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is your initial planning affected by now?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GB" sz="1500">
                <a:solidFill>
                  <a:schemeClr val="dk1"/>
                </a:solidFill>
              </a:rPr>
              <a:t>We have done what is expected </a:t>
            </a:r>
            <a:r>
              <a:rPr lang="en-GB" sz="1500">
                <a:solidFill>
                  <a:schemeClr val="dk1"/>
                </a:solidFill>
              </a:rPr>
              <a:t>until</a:t>
            </a:r>
            <a:r>
              <a:rPr lang="en-GB" sz="1500">
                <a:solidFill>
                  <a:schemeClr val="dk1"/>
                </a:solidFill>
              </a:rPr>
              <a:t> now and we are still on schedule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 you expect to achieve?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lang="en-GB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</a:t>
            </a:r>
            <a:r>
              <a:rPr lang="en-GB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</a:t>
            </a:r>
            <a:r>
              <a:rPr lang="en-GB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achieve a good result for all parties involved, both for my supervisors and for ASML and a good grade for my teammates and I. I expect to have good knowledge about finetuning an LLM which I could use in other projects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g3d40397e94d_0_162"/>
          <p:cNvSpPr txBox="1"/>
          <p:nvPr/>
        </p:nvSpPr>
        <p:spPr>
          <a:xfrm>
            <a:off x="466950" y="1495525"/>
            <a:ext cx="8059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/>
              <a:t>I was responsible for researching the fitness function and state of the art methods. I have worked with my teammates in discussions to guide us towards a </a:t>
            </a:r>
            <a:r>
              <a:rPr lang="en-GB"/>
              <a:t>consensus. I have also presented the midterm presentation and in the ASML internal presentation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40397e94d_0_168"/>
          <p:cNvSpPr txBox="1"/>
          <p:nvPr>
            <p:ph type="title"/>
          </p:nvPr>
        </p:nvSpPr>
        <p:spPr>
          <a:xfrm>
            <a:off x="758825" y="518400"/>
            <a:ext cx="75564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GB"/>
              <a:t>Yuhao Shan</a:t>
            </a:r>
            <a:endParaRPr/>
          </a:p>
        </p:txBody>
      </p:sp>
      <p:sp>
        <p:nvSpPr>
          <p:cNvPr id="400" name="Google Shape;400;g3d40397e94d_0_168"/>
          <p:cNvSpPr txBox="1"/>
          <p:nvPr/>
        </p:nvSpPr>
        <p:spPr>
          <a:xfrm>
            <a:off x="339275" y="1193800"/>
            <a:ext cx="7837800" cy="26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is your individual contribution to the project so far? 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is your initial planning affected by now?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GB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 you expect to achieve?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g3d40397e94d_0_168"/>
          <p:cNvSpPr txBox="1"/>
          <p:nvPr/>
        </p:nvSpPr>
        <p:spPr>
          <a:xfrm>
            <a:off x="491675" y="1575425"/>
            <a:ext cx="7277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/>
              <a:t>I did some research for our project with the approach and worked on the implementation of the LLM interface.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d40397e94d_0_168"/>
          <p:cNvSpPr txBox="1"/>
          <p:nvPr/>
        </p:nvSpPr>
        <p:spPr>
          <a:xfrm>
            <a:off x="491675" y="2448525"/>
            <a:ext cx="7837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/>
              <a:t>At first I just wanted to use LLM as a semantic converter and train a GNN model as Netlist generator. And after communication, we chose to use a trained LLM to generate topologies.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g3d40397e94d_0_168"/>
          <p:cNvSpPr txBox="1"/>
          <p:nvPr/>
        </p:nvSpPr>
        <p:spPr>
          <a:xfrm>
            <a:off x="491675" y="3372500"/>
            <a:ext cx="7277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/>
              <a:t>I expect to achieve our requirements of the project successfully and get experience on how to develop a project with LLM.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TUe_PPT_V2">
      <a:dk1>
        <a:srgbClr val="000000"/>
      </a:dk1>
      <a:lt1>
        <a:srgbClr val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Kantoorthema">
  <a:themeElements>
    <a:clrScheme name="TUe_PPT_V2">
      <a:dk1>
        <a:srgbClr val="000000"/>
      </a:dk1>
      <a:lt1>
        <a:srgbClr val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