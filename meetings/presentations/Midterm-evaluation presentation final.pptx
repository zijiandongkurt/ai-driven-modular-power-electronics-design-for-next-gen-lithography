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34" roundtripDataSignature="AMtx7mh6HOdXSho8p2myIheQ/0kAbSZz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34" Type="http://customschemas.google.com/relationships/presentationmetadata" Target="meta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GB"/>
              <a:t>Hello everyone, my name is …,</a:t>
            </a:r>
            <a:endParaRPr/>
          </a:p>
          <a:p>
            <a:pPr indent="0" lvl="0" marL="0" rtl="0" algn="l">
              <a:lnSpc>
                <a:spcPct val="100000"/>
              </a:lnSpc>
              <a:spcBef>
                <a:spcPts val="0"/>
              </a:spcBef>
              <a:spcAft>
                <a:spcPts val="0"/>
              </a:spcAft>
              <a:buSzPts val="1100"/>
              <a:buNone/>
            </a:pPr>
            <a:r>
              <a:rPr lang="en-GB"/>
              <a:t>This is and this ..</a:t>
            </a:r>
            <a:endParaRPr/>
          </a:p>
          <a:p>
            <a:pPr indent="0" lvl="0" marL="0" rtl="0" algn="l">
              <a:lnSpc>
                <a:spcPct val="100000"/>
              </a:lnSpc>
              <a:spcBef>
                <a:spcPts val="0"/>
              </a:spcBef>
              <a:spcAft>
                <a:spcPts val="0"/>
              </a:spcAft>
              <a:buSzPts val="1100"/>
              <a:buNone/>
            </a:pPr>
            <a:r>
              <a:rPr lang="en-GB"/>
              <a:t>Our project is about …</a:t>
            </a:r>
            <a:endParaRPr/>
          </a:p>
          <a:p>
            <a:pPr indent="0" lvl="0" marL="0" rtl="0" algn="l">
              <a:lnSpc>
                <a:spcPct val="100000"/>
              </a:lnSpc>
              <a:spcBef>
                <a:spcPts val="0"/>
              </a:spcBef>
              <a:spcAft>
                <a:spcPts val="0"/>
              </a:spcAft>
              <a:buSzPts val="1100"/>
              <a:buNone/>
            </a:pPr>
            <a:r>
              <a:t/>
            </a:r>
            <a:endParaRPr/>
          </a:p>
        </p:txBody>
      </p:sp>
      <p:sp>
        <p:nvSpPr>
          <p:cNvPr id="130" name="Google Shape;13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 name="Google Shape;14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GB">
                <a:solidFill>
                  <a:schemeClr val="dk1"/>
                </a:solidFill>
              </a:rPr>
              <a:t>Answers what, who and why</a:t>
            </a:r>
            <a:endParaRPr>
              <a:solidFill>
                <a:schemeClr val="dk1"/>
              </a:solidFill>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Everyone (Zijian -&gt; Chris -&gt; Atakan -&gt; Yuhao)</a:t>
            </a:r>
            <a:br>
              <a:rPr lang="en-GB"/>
            </a:b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3" name="Google Shape;163;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158750" rtl="0" algn="l">
              <a:lnSpc>
                <a:spcPct val="100000"/>
              </a:lnSpc>
              <a:spcBef>
                <a:spcPts val="0"/>
              </a:spcBef>
              <a:spcAft>
                <a:spcPts val="0"/>
              </a:spcAft>
              <a:buSzPts val="1100"/>
              <a:buNone/>
            </a:pPr>
            <a:r>
              <a:rPr b="1" lang="en-GB"/>
              <a:t>What do data centers, electric vehicles, and smartphones have in common?</a:t>
            </a:r>
            <a:endParaRPr/>
          </a:p>
          <a:p>
            <a:pPr indent="0" lvl="0" marL="158750" rtl="0" algn="l">
              <a:lnSpc>
                <a:spcPct val="100000"/>
              </a:lnSpc>
              <a:spcBef>
                <a:spcPts val="0"/>
              </a:spcBef>
              <a:spcAft>
                <a:spcPts val="0"/>
              </a:spcAft>
              <a:buSzPts val="1100"/>
              <a:buNone/>
            </a:pPr>
            <a:r>
              <a:rPr lang="en-GB"/>
              <a:t>They all rely on efficient power conversion, and Power electronics is the backbone of these systems.</a:t>
            </a:r>
            <a:endParaRPr/>
          </a:p>
          <a:p>
            <a:pPr indent="0" lvl="0" marL="158750" rtl="0" algn="l">
              <a:lnSpc>
                <a:spcPct val="100000"/>
              </a:lnSpc>
              <a:spcBef>
                <a:spcPts val="0"/>
              </a:spcBef>
              <a:spcAft>
                <a:spcPts val="0"/>
              </a:spcAft>
              <a:buSzPts val="1100"/>
              <a:buNone/>
            </a:pPr>
            <a:r>
              <a:t/>
            </a:r>
            <a:endParaRPr/>
          </a:p>
          <a:p>
            <a:pPr indent="0" lvl="0" marL="158750" rtl="0" algn="l">
              <a:lnSpc>
                <a:spcPct val="100000"/>
              </a:lnSpc>
              <a:spcBef>
                <a:spcPts val="0"/>
              </a:spcBef>
              <a:spcAft>
                <a:spcPts val="0"/>
              </a:spcAft>
              <a:buSzPts val="1100"/>
              <a:buNone/>
            </a:pPr>
            <a:r>
              <a:rPr b="1" lang="en-GB"/>
              <a:t>How long does it take to design a power electronics system?</a:t>
            </a:r>
            <a:endParaRPr/>
          </a:p>
          <a:p>
            <a:pPr indent="0" lvl="0" marL="158750" rtl="0" algn="l">
              <a:lnSpc>
                <a:spcPct val="100000"/>
              </a:lnSpc>
              <a:spcBef>
                <a:spcPts val="0"/>
              </a:spcBef>
              <a:spcAft>
                <a:spcPts val="0"/>
              </a:spcAft>
              <a:buSzPts val="1100"/>
              <a:buNone/>
            </a:pPr>
            <a:r>
              <a:rPr lang="en-GB"/>
              <a:t>Weeks? Months?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158750" rtl="0" algn="l">
              <a:lnSpc>
                <a:spcPct val="100000"/>
              </a:lnSpc>
              <a:spcBef>
                <a:spcPts val="0"/>
              </a:spcBef>
              <a:spcAft>
                <a:spcPts val="0"/>
              </a:spcAft>
              <a:buSzPts val="1100"/>
              <a:buNone/>
            </a:pPr>
            <a:r>
              <a:rPr b="1" lang="en-GB"/>
              <a:t>Deployment delay:	</a:t>
            </a:r>
            <a:endParaRPr/>
          </a:p>
          <a:p>
            <a:pPr indent="-298450" lvl="0" marL="457200" rtl="0" algn="l">
              <a:lnSpc>
                <a:spcPct val="100000"/>
              </a:lnSpc>
              <a:spcBef>
                <a:spcPts val="0"/>
              </a:spcBef>
              <a:spcAft>
                <a:spcPts val="0"/>
              </a:spcAft>
              <a:buSzPts val="1100"/>
              <a:buFont typeface="Arial"/>
              <a:buChar char="-"/>
            </a:pPr>
            <a:r>
              <a:rPr lang="en-GB"/>
              <a:t>As these technologies continue to evolve, the demand for better power electronics is rapidly increasing.	</a:t>
            </a:r>
            <a:endParaRPr/>
          </a:p>
          <a:p>
            <a:pPr indent="-298450" lvl="0" marL="457200" rtl="0" algn="l">
              <a:lnSpc>
                <a:spcPct val="100000"/>
              </a:lnSpc>
              <a:spcBef>
                <a:spcPts val="0"/>
              </a:spcBef>
              <a:spcAft>
                <a:spcPts val="0"/>
              </a:spcAft>
              <a:buSzPts val="1100"/>
              <a:buFont typeface="Arial"/>
              <a:buChar char="-"/>
            </a:pPr>
            <a:r>
              <a:rPr lang="en-GB"/>
              <a:t>Faster innovation cycles mean that companies must design more efficient systems in less time. Otherwise, they risk falling behind.</a:t>
            </a:r>
            <a:endParaRPr/>
          </a:p>
          <a:p>
            <a:pPr indent="0" lvl="0" marL="158750" rtl="0" algn="l">
              <a:lnSpc>
                <a:spcPct val="100000"/>
              </a:lnSpc>
              <a:spcBef>
                <a:spcPts val="0"/>
              </a:spcBef>
              <a:spcAft>
                <a:spcPts val="0"/>
              </a:spcAft>
              <a:buSzPts val="1100"/>
              <a:buNone/>
            </a:pPr>
            <a:r>
              <a:t/>
            </a:r>
            <a:endParaRPr/>
          </a:p>
          <a:p>
            <a:pPr indent="0" lvl="0" marL="158750" rtl="0" algn="l">
              <a:lnSpc>
                <a:spcPct val="100000"/>
              </a:lnSpc>
              <a:spcBef>
                <a:spcPts val="0"/>
              </a:spcBef>
              <a:spcAft>
                <a:spcPts val="0"/>
              </a:spcAft>
              <a:buSzPts val="1100"/>
              <a:buNone/>
            </a:pPr>
            <a:r>
              <a:rPr b="1" lang="en-GB"/>
              <a:t>Energy impact:	</a:t>
            </a:r>
            <a:endParaRPr/>
          </a:p>
          <a:p>
            <a:pPr indent="-298450" lvl="0" marL="457200" rtl="0" algn="l">
              <a:lnSpc>
                <a:spcPct val="100000"/>
              </a:lnSpc>
              <a:spcBef>
                <a:spcPts val="0"/>
              </a:spcBef>
              <a:spcAft>
                <a:spcPts val="0"/>
              </a:spcAft>
              <a:buSzPts val="1100"/>
              <a:buFont typeface="Arial"/>
              <a:buChar char="-"/>
            </a:pPr>
            <a:r>
              <a:rPr lang="en-GB"/>
              <a:t>Data centers consume ~1–2% of global electricity	</a:t>
            </a:r>
            <a:endParaRPr/>
          </a:p>
          <a:p>
            <a:pPr indent="-298450" lvl="0" marL="457200" rtl="0" algn="l">
              <a:lnSpc>
                <a:spcPct val="100000"/>
              </a:lnSpc>
              <a:spcBef>
                <a:spcPts val="0"/>
              </a:spcBef>
              <a:spcAft>
                <a:spcPts val="0"/>
              </a:spcAft>
              <a:buSzPts val="1100"/>
              <a:buFont typeface="Arial"/>
              <a:buChar char="-"/>
            </a:pPr>
            <a:r>
              <a:rPr lang="en-GB"/>
              <a:t>(Example: Google data centers consumed 30.8 million MWh in 2024)	</a:t>
            </a:r>
            <a:endParaRPr/>
          </a:p>
          <a:p>
            <a:pPr indent="-298450" lvl="0" marL="457200" rtl="0" algn="l">
              <a:lnSpc>
                <a:spcPct val="100000"/>
              </a:lnSpc>
              <a:spcBef>
                <a:spcPts val="0"/>
              </a:spcBef>
              <a:spcAft>
                <a:spcPts val="0"/>
              </a:spcAft>
              <a:buSzPts val="1100"/>
              <a:buFont typeface="Arial"/>
              <a:buChar char="-"/>
            </a:pPr>
            <a:r>
              <a:rPr lang="en-GB"/>
              <a:t>Even small efficiency improvements → huge energy and cost savings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Chris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6" name="Google Shape;196;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Zijian</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Our approach consists of three main components: generation, evaluation, and optimization.</a:t>
            </a:r>
            <a:endParaRPr sz="1000">
              <a:solidFill>
                <a:schemeClr val="dk1"/>
              </a:solidFill>
            </a:endParaRPr>
          </a:p>
          <a:p>
            <a:pPr indent="-292100" lvl="0" marL="457200" rtl="0" algn="l">
              <a:lnSpc>
                <a:spcPct val="115000"/>
              </a:lnSpc>
              <a:spcBef>
                <a:spcPts val="1200"/>
              </a:spcBef>
              <a:spcAft>
                <a:spcPts val="0"/>
              </a:spcAft>
              <a:buClr>
                <a:schemeClr val="dk1"/>
              </a:buClr>
              <a:buSzPts val="1000"/>
              <a:buAutoNum type="arabicPeriod"/>
            </a:pPr>
            <a:r>
              <a:rPr lang="en-GB" sz="1000">
                <a:solidFill>
                  <a:schemeClr val="dk1"/>
                </a:solidFill>
              </a:rPr>
              <a:t>First, we use an LLM to generate candidate circuit topologies from high-level specifications. The model is initialized with a supervised fine-tuning warm start, which enables it to generate reasonable designs from the beginning.</a:t>
            </a:r>
            <a:endParaRPr sz="1000">
              <a:solidFill>
                <a:schemeClr val="dk1"/>
              </a:solidFill>
            </a:endParaRPr>
          </a:p>
          <a:p>
            <a:pPr indent="-292100" lvl="0" marL="457200" rtl="0" algn="l">
              <a:lnSpc>
                <a:spcPct val="115000"/>
              </a:lnSpc>
              <a:spcBef>
                <a:spcPts val="0"/>
              </a:spcBef>
              <a:spcAft>
                <a:spcPts val="0"/>
              </a:spcAft>
              <a:buClr>
                <a:schemeClr val="dk1"/>
              </a:buClr>
              <a:buSzPts val="1000"/>
              <a:buAutoNum type="arabicPeriod"/>
            </a:pPr>
            <a:r>
              <a:rPr lang="en-GB" sz="1000">
                <a:solidFill>
                  <a:schemeClr val="dk1"/>
                </a:solidFill>
              </a:rPr>
              <a:t>Next, each generated topology is evaluated through validation and circuit simulation. This ensures that the designs are physically valid and get the performance result based on the requirement.</a:t>
            </a:r>
            <a:endParaRPr sz="1000">
              <a:solidFill>
                <a:schemeClr val="dk1"/>
              </a:solidFill>
            </a:endParaRPr>
          </a:p>
          <a:p>
            <a:pPr indent="-292100" lvl="0" marL="457200" rtl="0" algn="l">
              <a:lnSpc>
                <a:spcPct val="115000"/>
              </a:lnSpc>
              <a:spcBef>
                <a:spcPts val="0"/>
              </a:spcBef>
              <a:spcAft>
                <a:spcPts val="0"/>
              </a:spcAft>
              <a:buClr>
                <a:schemeClr val="dk1"/>
              </a:buClr>
              <a:buSzPts val="1000"/>
              <a:buAutoNum type="arabicPeriod"/>
            </a:pPr>
            <a:r>
              <a:rPr lang="en-GB" sz="1000">
                <a:solidFill>
                  <a:schemeClr val="dk1"/>
                </a:solidFill>
              </a:rPr>
              <a:t>Finally, we use reinforcement learning to update the policy based on simulation feedback. This enables the pipeline to iteratively improve and guide the generation toward better designs.</a:t>
            </a:r>
            <a:endParaRPr sz="1000">
              <a:solidFill>
                <a:schemeClr val="dk1"/>
              </a:solidFill>
            </a:endParaRPr>
          </a:p>
          <a:p>
            <a:pPr indent="0" lvl="0" marL="457200" rtl="0" algn="l">
              <a:lnSpc>
                <a:spcPct val="115000"/>
              </a:lnSpc>
              <a:spcBef>
                <a:spcPts val="1200"/>
              </a:spcBef>
              <a:spcAft>
                <a:spcPts val="0"/>
              </a:spcAft>
              <a:buSzPts val="1100"/>
              <a:buNone/>
            </a:pPr>
            <a:r>
              <a:t/>
            </a:r>
            <a:endParaRPr sz="1000">
              <a:solidFill>
                <a:schemeClr val="dk1"/>
              </a:solidFill>
            </a:endParaRPr>
          </a:p>
          <a:p>
            <a:pPr indent="0" lvl="0" marL="0" rtl="0" algn="l">
              <a:lnSpc>
                <a:spcPct val="115000"/>
              </a:lnSpc>
              <a:spcBef>
                <a:spcPts val="1200"/>
              </a:spcBef>
              <a:spcAft>
                <a:spcPts val="120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 name="Google Shape;202;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Answers how</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7" name="Google Shape;207;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Atakan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1.</a:t>
            </a:r>
            <a:endParaRPr/>
          </a:p>
          <a:p>
            <a:pPr indent="0" lvl="0" marL="0" rtl="0" algn="l">
              <a:lnSpc>
                <a:spcPct val="100000"/>
              </a:lnSpc>
              <a:spcBef>
                <a:spcPts val="0"/>
              </a:spcBef>
              <a:spcAft>
                <a:spcPts val="0"/>
              </a:spcAft>
              <a:buClr>
                <a:schemeClr val="dk1"/>
              </a:buClr>
              <a:buSzPts val="1100"/>
              <a:buFont typeface="Arial"/>
              <a:buNone/>
            </a:pPr>
            <a:r>
              <a:rPr lang="en-GB"/>
              <a:t>A comprehensive</a:t>
            </a:r>
            <a:endParaRPr/>
          </a:p>
          <a:p>
            <a:pPr indent="0" lvl="0" marL="0" rtl="0" algn="l">
              <a:lnSpc>
                <a:spcPct val="100000"/>
              </a:lnSpc>
              <a:spcBef>
                <a:spcPts val="0"/>
              </a:spcBef>
              <a:spcAft>
                <a:spcPts val="0"/>
              </a:spcAft>
              <a:buClr>
                <a:schemeClr val="dk1"/>
              </a:buClr>
              <a:buSzPts val="1100"/>
              <a:buFont typeface="Arial"/>
              <a:buNone/>
            </a:pPr>
            <a:r>
              <a:rPr lang="en-GB"/>
              <a:t>review of relevant articles will be conducted to identify knowledge</a:t>
            </a:r>
            <a:endParaRPr/>
          </a:p>
          <a:p>
            <a:pPr indent="0" lvl="0" marL="0" rtl="0" algn="l">
              <a:lnSpc>
                <a:spcPct val="100000"/>
              </a:lnSpc>
              <a:spcBef>
                <a:spcPts val="0"/>
              </a:spcBef>
              <a:spcAft>
                <a:spcPts val="0"/>
              </a:spcAft>
              <a:buClr>
                <a:schemeClr val="dk1"/>
              </a:buClr>
              <a:buSzPts val="1100"/>
              <a:buFont typeface="Arial"/>
              <a:buNone/>
            </a:pPr>
            <a:r>
              <a:rPr lang="en-GB"/>
              <a:t>gaps and understand state-of-the-art methods. Based on this analysis,</a:t>
            </a:r>
            <a:endParaRPr/>
          </a:p>
          <a:p>
            <a:pPr indent="0" lvl="0" marL="0" rtl="0" algn="l">
              <a:lnSpc>
                <a:spcPct val="100000"/>
              </a:lnSpc>
              <a:spcBef>
                <a:spcPts val="0"/>
              </a:spcBef>
              <a:spcAft>
                <a:spcPts val="0"/>
              </a:spcAft>
              <a:buClr>
                <a:schemeClr val="dk1"/>
              </a:buClr>
              <a:buSzPts val="1100"/>
              <a:buFont typeface="Arial"/>
              <a:buNone/>
            </a:pPr>
            <a:r>
              <a:rPr lang="en-GB"/>
              <a:t>an appropriate approach to the problem will be chosen.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2.</a:t>
            </a:r>
            <a:endParaRPr/>
          </a:p>
          <a:p>
            <a:pPr indent="0" lvl="0" marL="0" rtl="0" algn="l">
              <a:lnSpc>
                <a:spcPct val="100000"/>
              </a:lnSpc>
              <a:spcBef>
                <a:spcPts val="0"/>
              </a:spcBef>
              <a:spcAft>
                <a:spcPts val="0"/>
              </a:spcAft>
              <a:buClr>
                <a:schemeClr val="dk1"/>
              </a:buClr>
              <a:buSzPts val="1100"/>
              <a:buFont typeface="Arial"/>
              <a:buNone/>
            </a:pPr>
            <a:r>
              <a:rPr lang="en-GB"/>
              <a:t>Based on the</a:t>
            </a:r>
            <a:endParaRPr/>
          </a:p>
          <a:p>
            <a:pPr indent="0" lvl="0" marL="0" rtl="0" algn="l">
              <a:lnSpc>
                <a:spcPct val="100000"/>
              </a:lnSpc>
              <a:spcBef>
                <a:spcPts val="0"/>
              </a:spcBef>
              <a:spcAft>
                <a:spcPts val="0"/>
              </a:spcAft>
              <a:buClr>
                <a:schemeClr val="dk1"/>
              </a:buClr>
              <a:buSzPts val="1100"/>
              <a:buFont typeface="Arial"/>
              <a:buNone/>
            </a:pPr>
            <a:r>
              <a:rPr lang="en-GB"/>
              <a:t>chosen approach, the infrastructure for data generation will be estab-</a:t>
            </a:r>
            <a:endParaRPr/>
          </a:p>
          <a:p>
            <a:pPr indent="0" lvl="0" marL="0" rtl="0" algn="l">
              <a:lnSpc>
                <a:spcPct val="100000"/>
              </a:lnSpc>
              <a:spcBef>
                <a:spcPts val="0"/>
              </a:spcBef>
              <a:spcAft>
                <a:spcPts val="0"/>
              </a:spcAft>
              <a:buClr>
                <a:schemeClr val="dk1"/>
              </a:buClr>
              <a:buSzPts val="1100"/>
              <a:buFont typeface="Arial"/>
              <a:buNone/>
            </a:pPr>
            <a:r>
              <a:rPr lang="en-GB"/>
              <a:t>lished. If the approach calls for a dataset, this will be generated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3.</a:t>
            </a:r>
            <a:endParaRPr/>
          </a:p>
          <a:p>
            <a:pPr indent="0" lvl="0" marL="0" rtl="0" algn="l">
              <a:lnSpc>
                <a:spcPct val="100000"/>
              </a:lnSpc>
              <a:spcBef>
                <a:spcPts val="0"/>
              </a:spcBef>
              <a:spcAft>
                <a:spcPts val="0"/>
              </a:spcAft>
              <a:buClr>
                <a:schemeClr val="dk1"/>
              </a:buClr>
              <a:buSzPts val="1100"/>
              <a:buFont typeface="Arial"/>
              <a:buNone/>
            </a:pPr>
            <a:r>
              <a:rPr lang="en-GB"/>
              <a:t>The model training pipeline will be</a:t>
            </a:r>
            <a:endParaRPr/>
          </a:p>
          <a:p>
            <a:pPr indent="0" lvl="0" marL="0" rtl="0" algn="l">
              <a:lnSpc>
                <a:spcPct val="100000"/>
              </a:lnSpc>
              <a:spcBef>
                <a:spcPts val="0"/>
              </a:spcBef>
              <a:spcAft>
                <a:spcPts val="0"/>
              </a:spcAft>
              <a:buClr>
                <a:schemeClr val="dk1"/>
              </a:buClr>
              <a:buSzPts val="1100"/>
              <a:buFont typeface="Arial"/>
              <a:buNone/>
            </a:pPr>
            <a:r>
              <a:rPr lang="en-GB"/>
              <a:t>implemented. Model performance will be evaluated and improved</a:t>
            </a:r>
            <a:endParaRPr/>
          </a:p>
          <a:p>
            <a:pPr indent="0" lvl="0" marL="0" rtl="0" algn="l">
              <a:lnSpc>
                <a:spcPct val="100000"/>
              </a:lnSpc>
              <a:spcBef>
                <a:spcPts val="0"/>
              </a:spcBef>
              <a:spcAft>
                <a:spcPts val="0"/>
              </a:spcAft>
              <a:buClr>
                <a:schemeClr val="dk1"/>
              </a:buClr>
              <a:buSzPts val="1100"/>
              <a:buFont typeface="Arial"/>
              <a:buNone/>
            </a:pPr>
            <a:r>
              <a:rPr lang="en-GB"/>
              <a:t>through iterative optimization, including hyperparameter tuning,</a:t>
            </a:r>
            <a:endParaRPr/>
          </a:p>
          <a:p>
            <a:pPr indent="0" lvl="0" marL="0" rtl="0" algn="l">
              <a:lnSpc>
                <a:spcPct val="100000"/>
              </a:lnSpc>
              <a:spcBef>
                <a:spcPts val="0"/>
              </a:spcBef>
              <a:spcAft>
                <a:spcPts val="0"/>
              </a:spcAft>
              <a:buClr>
                <a:schemeClr val="dk1"/>
              </a:buClr>
              <a:buSzPts val="1100"/>
              <a:buFont typeface="Arial"/>
              <a:buNone/>
            </a:pPr>
            <a:r>
              <a:rPr lang="en-GB"/>
              <a:t>architectural adjustments, or additional data generation from simula-</a:t>
            </a:r>
            <a:endParaRPr/>
          </a:p>
          <a:p>
            <a:pPr indent="0" lvl="0" marL="0" rtl="0" algn="l">
              <a:lnSpc>
                <a:spcPct val="100000"/>
              </a:lnSpc>
              <a:spcBef>
                <a:spcPts val="0"/>
              </a:spcBef>
              <a:spcAft>
                <a:spcPts val="0"/>
              </a:spcAft>
              <a:buClr>
                <a:schemeClr val="dk1"/>
              </a:buClr>
              <a:buSzPts val="1100"/>
              <a:buFont typeface="Arial"/>
              <a:buNone/>
            </a:pPr>
            <a:r>
              <a:rPr lang="en-GB"/>
              <a:t>tions.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4. </a:t>
            </a:r>
            <a:endParaRPr/>
          </a:p>
          <a:p>
            <a:pPr indent="0" lvl="0" marL="0" rtl="0" algn="l">
              <a:lnSpc>
                <a:spcPct val="100000"/>
              </a:lnSpc>
              <a:spcBef>
                <a:spcPts val="0"/>
              </a:spcBef>
              <a:spcAft>
                <a:spcPts val="0"/>
              </a:spcAft>
              <a:buClr>
                <a:schemeClr val="dk1"/>
              </a:buClr>
              <a:buSzPts val="1100"/>
              <a:buFont typeface="Arial"/>
              <a:buNone/>
            </a:pPr>
            <a:r>
              <a:rPr lang="en-GB"/>
              <a:t>A prototype will be deployed to</a:t>
            </a:r>
            <a:endParaRPr/>
          </a:p>
          <a:p>
            <a:pPr indent="0" lvl="0" marL="0" rtl="0" algn="l">
              <a:lnSpc>
                <a:spcPct val="100000"/>
              </a:lnSpc>
              <a:spcBef>
                <a:spcPts val="0"/>
              </a:spcBef>
              <a:spcAft>
                <a:spcPts val="0"/>
              </a:spcAft>
              <a:buClr>
                <a:schemeClr val="dk1"/>
              </a:buClr>
              <a:buSzPts val="1100"/>
              <a:buFont typeface="Arial"/>
              <a:buNone/>
            </a:pPr>
            <a:r>
              <a:rPr lang="en-GB"/>
              <a:t>demonstrate the model’s performance. This implementation will be</a:t>
            </a:r>
            <a:endParaRPr/>
          </a:p>
          <a:p>
            <a:pPr indent="0" lvl="0" marL="0" rtl="0" algn="l">
              <a:lnSpc>
                <a:spcPct val="100000"/>
              </a:lnSpc>
              <a:spcBef>
                <a:spcPts val="0"/>
              </a:spcBef>
              <a:spcAft>
                <a:spcPts val="0"/>
              </a:spcAft>
              <a:buClr>
                <a:schemeClr val="dk1"/>
              </a:buClr>
              <a:buSzPts val="1100"/>
              <a:buFont typeface="Arial"/>
              <a:buNone/>
            </a:pPr>
            <a:r>
              <a:rPr lang="en-GB"/>
              <a:t>used during the final demonstration.</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GB"/>
              <a:t>5.</a:t>
            </a:r>
            <a:endParaRPr/>
          </a:p>
          <a:p>
            <a:pPr indent="0" lvl="0" marL="0" rtl="0" algn="l">
              <a:lnSpc>
                <a:spcPct val="100000"/>
              </a:lnSpc>
              <a:spcBef>
                <a:spcPts val="0"/>
              </a:spcBef>
              <a:spcAft>
                <a:spcPts val="0"/>
              </a:spcAft>
              <a:buClr>
                <a:schemeClr val="dk1"/>
              </a:buClr>
              <a:buSzPts val="1100"/>
              <a:buFont typeface="Arial"/>
              <a:buNone/>
            </a:pPr>
            <a:r>
              <a:rPr lang="en-GB"/>
              <a:t>Comprehensive documentation will be pre-</a:t>
            </a:r>
            <a:endParaRPr/>
          </a:p>
          <a:p>
            <a:pPr indent="0" lvl="0" marL="0" rtl="0" algn="l">
              <a:lnSpc>
                <a:spcPct val="100000"/>
              </a:lnSpc>
              <a:spcBef>
                <a:spcPts val="0"/>
              </a:spcBef>
              <a:spcAft>
                <a:spcPts val="0"/>
              </a:spcAft>
              <a:buClr>
                <a:schemeClr val="dk1"/>
              </a:buClr>
              <a:buSzPts val="1100"/>
              <a:buFont typeface="Arial"/>
              <a:buNone/>
            </a:pPr>
            <a:r>
              <a:rPr lang="en-GB"/>
              <a:t>pared to ensure reproducibility and enable verification of the func-</a:t>
            </a:r>
            <a:endParaRPr/>
          </a:p>
          <a:p>
            <a:pPr indent="0" lvl="0" marL="0" rtl="0" algn="l">
              <a:lnSpc>
                <a:spcPct val="100000"/>
              </a:lnSpc>
              <a:spcBef>
                <a:spcPts val="0"/>
              </a:spcBef>
              <a:spcAft>
                <a:spcPts val="0"/>
              </a:spcAft>
              <a:buClr>
                <a:schemeClr val="dk1"/>
              </a:buClr>
              <a:buSzPts val="1100"/>
              <a:buFont typeface="Arial"/>
              <a:buNone/>
            </a:pPr>
            <a:r>
              <a:rPr lang="en-GB"/>
              <a:t>tional integrity of the developed models.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5" name="Google Shape;225;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3" name="Google Shape;243;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b="1" lang="en-GB"/>
              <a:t>1. </a:t>
            </a:r>
            <a:endParaRPr/>
          </a:p>
          <a:p>
            <a:pPr indent="0" lvl="0" marL="0" rtl="0" algn="l">
              <a:lnSpc>
                <a:spcPct val="100000"/>
              </a:lnSpc>
              <a:spcBef>
                <a:spcPts val="0"/>
              </a:spcBef>
              <a:spcAft>
                <a:spcPts val="0"/>
              </a:spcAft>
              <a:buSzPts val="1100"/>
              <a:buNone/>
            </a:pPr>
            <a:r>
              <a:rPr lang="en-GB"/>
              <a:t>This is our training pipeline, This is how we plan to train our LLM to understand how to output valid netlist give some constraints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Clr>
                <a:schemeClr val="dk1"/>
              </a:buClr>
              <a:buSzPts val="1100"/>
              <a:buFont typeface="Arial"/>
              <a:buNone/>
            </a:pPr>
            <a:r>
              <a:rPr b="1" lang="en-GB" sz="1100">
                <a:solidFill>
                  <a:schemeClr val="dk1"/>
                </a:solidFill>
              </a:rPr>
              <a:t>2. </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A constraint set, in the form of a json will be delivered as an input to a larger LLM that generates a an adjustable number of topologies in the form of a SPICE netlist (.net).</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These netlists go through a validation process to classify hallucinations and actual working topologies.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Clr>
                <a:schemeClr val="dk1"/>
              </a:buClr>
              <a:buSzPts val="1100"/>
              <a:buFont typeface="Arial"/>
              <a:buNone/>
            </a:pPr>
            <a:r>
              <a:rPr b="1" lang="en-GB"/>
              <a:t>3. </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The validation algorithm classifies topologies either as valid or invalid based on pre-simulation hard constraints </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(e.g. syntax, floating nodes, short circuits, …).</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Valid topologies are simulated through LTSpice. Invalid topologies are augmented to a netlist validation class dataset. </a:t>
            </a:r>
            <a:endParaRPr/>
          </a:p>
          <a:p>
            <a:pPr indent="0" lvl="0" marL="0" rtl="0" algn="l">
              <a:lnSpc>
                <a:spcPct val="100000"/>
              </a:lnSpc>
              <a:spcBef>
                <a:spcPts val="0"/>
              </a:spcBef>
              <a:spcAft>
                <a:spcPts val="0"/>
              </a:spcAft>
              <a:buClr>
                <a:schemeClr val="dk1"/>
              </a:buClr>
              <a:buSzPts val="1100"/>
              <a:buFont typeface="Arial"/>
              <a:buNone/>
            </a:pPr>
            <a:r>
              <a:rPr lang="en-GB" sz="1100">
                <a:solidFill>
                  <a:schemeClr val="dk1"/>
                </a:solidFill>
              </a:rPr>
              <a:t>The validation algorithm may not work perfectly, thus the simulation process may fail for false positive cases (invalid classified as valid). </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lang="en-GB"/>
              <a:t>4. </a:t>
            </a:r>
            <a:endParaRPr/>
          </a:p>
          <a:p>
            <a:pPr indent="0" lvl="0" marL="0" rtl="0" algn="l">
              <a:lnSpc>
                <a:spcPct val="100000"/>
              </a:lnSpc>
              <a:spcBef>
                <a:spcPts val="0"/>
              </a:spcBef>
              <a:spcAft>
                <a:spcPts val="0"/>
              </a:spcAft>
              <a:buClr>
                <a:schemeClr val="dk1"/>
              </a:buClr>
              <a:buSzPts val="1100"/>
              <a:buFont typeface="Arial"/>
              <a:buNone/>
            </a:pPr>
            <a:r>
              <a:rPr b="1" lang="en-GB"/>
              <a:t>Reward Function</a:t>
            </a:r>
            <a:endParaRPr/>
          </a:p>
          <a:p>
            <a:pPr indent="0" lvl="0" marL="0" rtl="0" algn="l">
              <a:lnSpc>
                <a:spcPct val="100000"/>
              </a:lnSpc>
              <a:spcBef>
                <a:spcPts val="0"/>
              </a:spcBef>
              <a:spcAft>
                <a:spcPts val="0"/>
              </a:spcAft>
              <a:buClr>
                <a:schemeClr val="dk1"/>
              </a:buClr>
              <a:buSzPts val="1100"/>
              <a:buFont typeface="Arial"/>
              <a:buNone/>
            </a:pPr>
            <a:r>
              <a:rPr lang="en-GB"/>
              <a:t>This is how we plan to distinguish between good topologies and bad topologies. </a:t>
            </a:r>
            <a:endParaRPr/>
          </a:p>
          <a:p>
            <a:pPr indent="0" lvl="0" marL="0" rtl="0" algn="l">
              <a:lnSpc>
                <a:spcPct val="100000"/>
              </a:lnSpc>
              <a:spcBef>
                <a:spcPts val="0"/>
              </a:spcBef>
              <a:spcAft>
                <a:spcPts val="0"/>
              </a:spcAft>
              <a:buClr>
                <a:schemeClr val="dk1"/>
              </a:buClr>
              <a:buSzPts val="1100"/>
              <a:buFont typeface="Arial"/>
              <a:buNone/>
            </a:pPr>
            <a:r>
              <a:rPr lang="en-GB"/>
              <a:t>Based on the simulation results we calculate a fitness score based on the Hard constraints, an Area estimate and the efficiency. </a:t>
            </a:r>
            <a:endParaRPr/>
          </a:p>
          <a:p>
            <a:pPr indent="0" lvl="0" marL="0" rtl="0" algn="l">
              <a:lnSpc>
                <a:spcPct val="100000"/>
              </a:lnSpc>
              <a:spcBef>
                <a:spcPts val="0"/>
              </a:spcBef>
              <a:spcAft>
                <a:spcPts val="0"/>
              </a:spcAft>
              <a:buClr>
                <a:schemeClr val="dk1"/>
              </a:buClr>
              <a:buSzPts val="1100"/>
              <a:buFont typeface="Arial"/>
              <a:buNone/>
            </a:pPr>
            <a:r>
              <a:rPr lang="en-GB"/>
              <a:t>This value is then sent to the reinforcement learning part</a:t>
            </a:r>
            <a:endParaRPr/>
          </a:p>
          <a:p>
            <a:pPr indent="0" lvl="0" marL="0" rtl="0" algn="l">
              <a:lnSpc>
                <a:spcPct val="100000"/>
              </a:lnSpc>
              <a:spcBef>
                <a:spcPts val="0"/>
              </a:spcBef>
              <a:spcAft>
                <a:spcPts val="0"/>
              </a:spcAft>
              <a:buClr>
                <a:schemeClr val="dk1"/>
              </a:buClr>
              <a:buSzPts val="1100"/>
              <a:buFont typeface="Arial"/>
              <a:buNone/>
            </a:pPr>
            <a:r>
              <a:t/>
            </a:r>
            <a:endParaRPr/>
          </a:p>
          <a:p>
            <a:pPr indent="0" lvl="0" marL="0" rtl="0" algn="l">
              <a:lnSpc>
                <a:spcPct val="100000"/>
              </a:lnSpc>
              <a:spcBef>
                <a:spcPts val="0"/>
              </a:spcBef>
              <a:spcAft>
                <a:spcPts val="0"/>
              </a:spcAft>
              <a:buClr>
                <a:schemeClr val="dk1"/>
              </a:buClr>
              <a:buSzPts val="1100"/>
              <a:buFont typeface="Arial"/>
              <a:buNone/>
            </a:pPr>
            <a:r>
              <a:rPr b="1" lang="en-GB"/>
              <a:t>Reinforcement learning Part:</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Reinforcement learning serves as the optimization layer in our pipeline.</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We first aggregate reward signals from simulation, including efficiency, and constraints.</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These signals are then used to update the policy, using batched learning for stability and efficiency.</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The updated policy is fed back to guide future topology generation.</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This creates a closed loop that allows the system to continuously improve over time.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b="1" lang="en-GB"/>
              <a:t>5.</a:t>
            </a:r>
            <a:endParaRPr/>
          </a:p>
          <a:p>
            <a:pPr indent="0" lvl="0" marL="0" rtl="0" algn="l">
              <a:lnSpc>
                <a:spcPct val="115000"/>
              </a:lnSpc>
              <a:spcBef>
                <a:spcPts val="0"/>
              </a:spcBef>
              <a:spcAft>
                <a:spcPts val="0"/>
              </a:spcAft>
              <a:buClr>
                <a:schemeClr val="dk1"/>
              </a:buClr>
              <a:buSzPts val="1100"/>
              <a:buFont typeface="Arial"/>
              <a:buNone/>
            </a:pPr>
            <a:r>
              <a:rPr b="1" lang="en-GB" sz="1100">
                <a:solidFill>
                  <a:srgbClr val="0E0E0E"/>
                </a:solidFill>
              </a:rPr>
              <a:t>SFT stands for Supervised Fine-Tuning</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All generated netlists, including both valid and invalid ones, are added to a dataset.</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Using this dataset, we perform supervised fine-tuning so that the LLM can learn to distinguish between valid and invalid topologies.</a:t>
            </a:r>
            <a:endParaRPr/>
          </a:p>
          <a:p>
            <a:pPr indent="0" lvl="0" marL="0" rtl="0" algn="l">
              <a:lnSpc>
                <a:spcPct val="115000"/>
              </a:lnSpc>
              <a:spcBef>
                <a:spcPts val="0"/>
              </a:spcBef>
              <a:spcAft>
                <a:spcPts val="0"/>
              </a:spcAft>
              <a:buClr>
                <a:schemeClr val="dk1"/>
              </a:buClr>
              <a:buSzPts val="1100"/>
              <a:buFont typeface="Arial"/>
              <a:buNone/>
            </a:pPr>
            <a:r>
              <a:rPr lang="en-GB" sz="1100">
                <a:solidFill>
                  <a:schemeClr val="dk1"/>
                </a:solidFill>
              </a:rPr>
              <a:t>This helps the model better understand what a feasible circuit looks like before reinforcement learning.</a:t>
            </a:r>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7" name="Google Shape;267;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sz="1950">
                <a:solidFill>
                  <a:schemeClr val="dk1"/>
                </a:solidFill>
              </a:rPr>
              <a:t>Yuhao</a:t>
            </a:r>
            <a:endParaRPr sz="1950">
              <a:solidFill>
                <a:schemeClr val="dk1"/>
              </a:solidFill>
            </a:endParaRPr>
          </a:p>
          <a:p>
            <a:pPr indent="0" lvl="0" marL="0" rtl="0" algn="l">
              <a:lnSpc>
                <a:spcPct val="100000"/>
              </a:lnSpc>
              <a:spcBef>
                <a:spcPts val="0"/>
              </a:spcBef>
              <a:spcAft>
                <a:spcPts val="0"/>
              </a:spcAft>
              <a:buSzPts val="1100"/>
              <a:buNone/>
            </a:pPr>
            <a:r>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A constraint set, in the form of a json will be delivered as an input to a larger LLM that generates a an adjustable number of topologies in the form of a SPICE netlist (.net).</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These netlists go through a validation process to classify hallucinations and actual working topologies.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1" name="Google Shape;291;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sz="1950">
                <a:solidFill>
                  <a:schemeClr val="dk1"/>
                </a:solidFill>
              </a:rPr>
              <a:t>Atakan</a:t>
            </a:r>
            <a:endParaRPr sz="1950">
              <a:solidFill>
                <a:schemeClr val="dk1"/>
              </a:solidFill>
            </a:endParaRPr>
          </a:p>
          <a:p>
            <a:pPr indent="0" lvl="0" marL="0" rtl="0" algn="l">
              <a:lnSpc>
                <a:spcPct val="100000"/>
              </a:lnSpc>
              <a:spcBef>
                <a:spcPts val="0"/>
              </a:spcBef>
              <a:spcAft>
                <a:spcPts val="0"/>
              </a:spcAft>
              <a:buSzPts val="1100"/>
              <a:buNone/>
            </a:pPr>
            <a:r>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The validation algorithm classifies topologies either as valid or invalid based on pre-simulation hard constraints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(e.g. syntax, floating nodes, short circuits,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Valid topologies are simulated through LTSpice. Invalid topologies are augmented to a netlist validation class dataset.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The validation algorithm may not work perfectly, thus the simulation process may fail for false positive cases (invalid classified as valid).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5" name="Google Shape;315;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GB"/>
              <a:t>Chris: Reward Function</a:t>
            </a:r>
            <a:endParaRPr/>
          </a:p>
          <a:p>
            <a:pPr indent="0" lvl="0" marL="0" rtl="0" algn="l">
              <a:lnSpc>
                <a:spcPct val="100000"/>
              </a:lnSpc>
              <a:spcBef>
                <a:spcPts val="0"/>
              </a:spcBef>
              <a:spcAft>
                <a:spcPts val="0"/>
              </a:spcAft>
              <a:buClr>
                <a:schemeClr val="dk1"/>
              </a:buClr>
              <a:buSzPts val="1100"/>
              <a:buFont typeface="Arial"/>
              <a:buNone/>
            </a:pPr>
            <a:r>
              <a:rPr lang="en-GB"/>
              <a:t>This is how we plan to distinguish between good topologies and bad topologies. </a:t>
            </a:r>
            <a:endParaRPr/>
          </a:p>
          <a:p>
            <a:pPr indent="0" lvl="0" marL="0" rtl="0" algn="l">
              <a:lnSpc>
                <a:spcPct val="100000"/>
              </a:lnSpc>
              <a:spcBef>
                <a:spcPts val="0"/>
              </a:spcBef>
              <a:spcAft>
                <a:spcPts val="0"/>
              </a:spcAft>
              <a:buClr>
                <a:schemeClr val="dk1"/>
              </a:buClr>
              <a:buSzPts val="1100"/>
              <a:buFont typeface="Arial"/>
              <a:buNone/>
            </a:pPr>
            <a:r>
              <a:rPr lang="en-GB"/>
              <a:t>Based on the simulation results we calculate a fitness score based on the Hard constraints, an Area estimate and the efficiency. </a:t>
            </a:r>
            <a:endParaRPr/>
          </a:p>
          <a:p>
            <a:pPr indent="0" lvl="0" marL="0" rtl="0" algn="l">
              <a:lnSpc>
                <a:spcPct val="100000"/>
              </a:lnSpc>
              <a:spcBef>
                <a:spcPts val="0"/>
              </a:spcBef>
              <a:spcAft>
                <a:spcPts val="0"/>
              </a:spcAft>
              <a:buClr>
                <a:schemeClr val="dk1"/>
              </a:buClr>
              <a:buSzPts val="1100"/>
              <a:buFont typeface="Arial"/>
              <a:buNone/>
            </a:pPr>
            <a:r>
              <a:rPr lang="en-GB"/>
              <a:t>This value is then sent to the reinforcement learning part</a:t>
            </a:r>
            <a:endParaRPr/>
          </a:p>
          <a:p>
            <a:pPr indent="0" lvl="0" marL="0" rtl="0" algn="l">
              <a:lnSpc>
                <a:spcPct val="100000"/>
              </a:lnSpc>
              <a:spcBef>
                <a:spcPts val="0"/>
              </a:spcBef>
              <a:spcAft>
                <a:spcPts val="0"/>
              </a:spcAft>
              <a:buClr>
                <a:schemeClr val="dk1"/>
              </a:buClr>
              <a:buSzPts val="1100"/>
              <a:buFont typeface="Arial"/>
              <a:buNone/>
            </a:pPr>
            <a:r>
              <a:t/>
            </a:r>
            <a:endParaRPr/>
          </a:p>
          <a:p>
            <a:pPr indent="0" lvl="0" marL="0" rtl="0" algn="l">
              <a:lnSpc>
                <a:spcPct val="100000"/>
              </a:lnSpc>
              <a:spcBef>
                <a:spcPts val="0"/>
              </a:spcBef>
              <a:spcAft>
                <a:spcPts val="0"/>
              </a:spcAft>
              <a:buClr>
                <a:schemeClr val="dk1"/>
              </a:buClr>
              <a:buSzPts val="1100"/>
              <a:buFont typeface="Arial"/>
              <a:buNone/>
            </a:pPr>
            <a:r>
              <a:rPr lang="en-GB"/>
              <a:t>Zijian: Reinforcement learning Part:</a:t>
            </a:r>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Reinforcement learning serves as the optimization layer in our pipeline.</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We first aggregate reward signals from simulation, including efficiency, and constraints.</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These signals are then used to update the policy, using batched learning for stability and efficiency.</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The updated policy is fed back to guide future topology generation.</a:t>
            </a:r>
            <a:endParaRPr sz="1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00">
                <a:solidFill>
                  <a:schemeClr val="dk1"/>
                </a:solidFill>
              </a:rPr>
              <a:t>This creates a closed loop that allows the system to continuously improve over time.</a:t>
            </a:r>
            <a:endParaRPr sz="100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0" name="Google Shape;34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GB" sz="1950">
                <a:solidFill>
                  <a:schemeClr val="dk1"/>
                </a:solidFill>
              </a:rPr>
              <a:t>Zijian</a:t>
            </a:r>
            <a:endParaRPr sz="195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6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GB" sz="1050">
                <a:solidFill>
                  <a:srgbClr val="0E0E0E"/>
                </a:solidFill>
              </a:rPr>
              <a:t>SFT stands for Supervised Fine-Tuning</a:t>
            </a:r>
            <a:endParaRPr sz="16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All generated netlists, including both valid and invalid ones, are added to a dataset.</a:t>
            </a:r>
            <a:endParaRPr sz="105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Using this dataset, we perform supervised fine-tuning so that the LLM can learn to distinguish between valid and invalid topologies.</a:t>
            </a:r>
            <a:endParaRPr sz="105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GB" sz="1050">
                <a:solidFill>
                  <a:schemeClr val="dk1"/>
                </a:solidFill>
              </a:rPr>
              <a:t>This helps the model better understand what a feasible circuit looks like before reinforcement learning.</a:t>
            </a:r>
            <a:endParaRPr sz="105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600">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4" name="Google Shape;364;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Atakan</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7" name="Google Shape;377;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Answers so what?</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GB"/>
              <a:t>Yuhao</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8" name="Google Shape;38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GB"/>
              <a:t>Efficiency</a:t>
            </a:r>
            <a:endParaRPr/>
          </a:p>
          <a:p>
            <a:pPr indent="-298450" lvl="0" marL="457200" rtl="0" algn="l">
              <a:lnSpc>
                <a:spcPct val="100000"/>
              </a:lnSpc>
              <a:spcBef>
                <a:spcPts val="0"/>
              </a:spcBef>
              <a:spcAft>
                <a:spcPts val="0"/>
              </a:spcAft>
              <a:buSzPts val="1100"/>
              <a:buChar char="-"/>
            </a:pPr>
            <a:r>
              <a:rPr lang="en-GB"/>
              <a:t>Cost</a:t>
            </a:r>
            <a:endParaRPr/>
          </a:p>
          <a:p>
            <a:pPr indent="-298450" lvl="0" marL="457200" rtl="0" algn="l">
              <a:lnSpc>
                <a:spcPct val="100000"/>
              </a:lnSpc>
              <a:spcBef>
                <a:spcPts val="0"/>
              </a:spcBef>
              <a:spcAft>
                <a:spcPts val="0"/>
              </a:spcAft>
              <a:buSzPts val="1100"/>
              <a:buChar char="-"/>
            </a:pPr>
            <a:r>
              <a:rPr lang="en-GB"/>
              <a:t>Density</a:t>
            </a:r>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2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2" name="Google Shape;402;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8" name="Google Shape;408;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7" name="Google Shape;417;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3" name="Google Shape;423;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0" name="Google Shape;430;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9" name="Google Shape;439;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b="1" lang="en-GB" sz="1300"/>
              <a:t>Beginning</a:t>
            </a:r>
            <a:endParaRPr b="1" sz="1300"/>
          </a:p>
          <a:p>
            <a:pPr indent="0" lvl="0" marL="0" rtl="0" algn="l">
              <a:lnSpc>
                <a:spcPct val="100000"/>
              </a:lnSpc>
              <a:spcBef>
                <a:spcPts val="0"/>
              </a:spcBef>
              <a:spcAft>
                <a:spcPts val="0"/>
              </a:spcAft>
              <a:buSzPts val="1100"/>
              <a:buNone/>
            </a:pPr>
            <a:r>
              <a:rPr lang="en-GB" sz="1300"/>
              <a:t>Computers have chips, they work like our brain doing all the thinking and decision making</a:t>
            </a:r>
            <a:endParaRPr sz="1300"/>
          </a:p>
          <a:p>
            <a:pPr indent="0" lvl="0" marL="0" rtl="0" algn="l">
              <a:lnSpc>
                <a:spcPct val="100000"/>
              </a:lnSpc>
              <a:spcBef>
                <a:spcPts val="0"/>
              </a:spcBef>
              <a:spcAft>
                <a:spcPts val="0"/>
              </a:spcAft>
              <a:buSzPts val="1100"/>
              <a:buNone/>
            </a:pPr>
            <a:r>
              <a:rPr lang="en-GB" sz="1300"/>
              <a:t>Unlike brains, chips can be manufactured and reproduced</a:t>
            </a:r>
            <a:endParaRPr sz="1300"/>
          </a:p>
          <a:p>
            <a:pPr indent="0" lvl="0" marL="0" rtl="0" algn="l">
              <a:lnSpc>
                <a:spcPct val="100000"/>
              </a:lnSpc>
              <a:spcBef>
                <a:spcPts val="0"/>
              </a:spcBef>
              <a:spcAft>
                <a:spcPts val="0"/>
              </a:spcAft>
              <a:buSzPts val="1100"/>
              <a:buNone/>
            </a:pPr>
            <a:r>
              <a:rPr lang="en-GB" sz="1300"/>
              <a:t>Once upon a time, a company called ASML, decided to make machines that can build these little tiny reproducible brains.</a:t>
            </a:r>
            <a:br>
              <a:rPr lang="en-GB" sz="1300"/>
            </a:br>
            <a:r>
              <a:rPr lang="en-GB" sz="1300">
                <a:solidFill>
                  <a:schemeClr val="dk1"/>
                </a:solidFill>
              </a:rPr>
              <a:t>To make these machines reliable, efficient and swift, we need to make sure its circuits are properly set up. You can look at circuits as organs in your body that work together to ensure your body functions properly. Coming up with a structure for these circuits takes too much time. We are interested in one particular organ, which is the heart. In the machine’s analogy, this is what we call power electronic circuits providing power to the rest of the machine. </a:t>
            </a:r>
            <a:endParaRPr sz="1300"/>
          </a:p>
          <a:p>
            <a:pPr indent="0" lvl="0" marL="0" rtl="0" algn="l">
              <a:lnSpc>
                <a:spcPct val="100000"/>
              </a:lnSpc>
              <a:spcBef>
                <a:spcPts val="0"/>
              </a:spcBef>
              <a:spcAft>
                <a:spcPts val="0"/>
              </a:spcAft>
              <a:buSzPts val="1100"/>
              <a:buNone/>
            </a:pPr>
            <a:r>
              <a:t/>
            </a:r>
            <a:endParaRPr b="1" sz="1300"/>
          </a:p>
          <a:p>
            <a:pPr indent="0" lvl="0" marL="0" rtl="0" algn="l">
              <a:lnSpc>
                <a:spcPct val="100000"/>
              </a:lnSpc>
              <a:spcBef>
                <a:spcPts val="0"/>
              </a:spcBef>
              <a:spcAft>
                <a:spcPts val="0"/>
              </a:spcAft>
              <a:buSzPts val="1100"/>
              <a:buNone/>
            </a:pPr>
            <a:r>
              <a:rPr b="1" lang="en-GB" sz="1300"/>
              <a:t>Middle</a:t>
            </a:r>
            <a:endParaRPr b="1" sz="1300"/>
          </a:p>
          <a:p>
            <a:pPr indent="0" lvl="0" marL="0" rtl="0" algn="l">
              <a:lnSpc>
                <a:spcPct val="100000"/>
              </a:lnSpc>
              <a:spcBef>
                <a:spcPts val="0"/>
              </a:spcBef>
              <a:spcAft>
                <a:spcPts val="0"/>
              </a:spcAft>
              <a:buSzPts val="1100"/>
              <a:buNone/>
            </a:pPr>
            <a:r>
              <a:rPr lang="en-GB" sz="1300"/>
              <a:t>But there is a problem, </a:t>
            </a:r>
            <a:r>
              <a:rPr lang="en-GB" sz="1300">
                <a:solidFill>
                  <a:schemeClr val="dk1"/>
                </a:solidFill>
              </a:rPr>
              <a:t>The designing of the power electronics for different systems is difficult and time consuming. This makes the development of new machines slower.</a:t>
            </a:r>
            <a:r>
              <a:rPr lang="en-GB" sz="1300"/>
              <a:t> Bad and slow machines means missed opportunities and rivals may take over. </a:t>
            </a:r>
            <a:endParaRPr sz="1300"/>
          </a:p>
          <a:p>
            <a:pPr indent="0" lvl="0" marL="0" rtl="0" algn="l">
              <a:lnSpc>
                <a:spcPct val="100000"/>
              </a:lnSpc>
              <a:spcBef>
                <a:spcPts val="0"/>
              </a:spcBef>
              <a:spcAft>
                <a:spcPts val="0"/>
              </a:spcAft>
              <a:buSzPts val="1100"/>
              <a:buNone/>
            </a:pPr>
            <a:r>
              <a:t/>
            </a:r>
            <a:endParaRPr b="1" sz="1300"/>
          </a:p>
          <a:p>
            <a:pPr indent="0" lvl="0" marL="0" rtl="0" algn="l">
              <a:lnSpc>
                <a:spcPct val="100000"/>
              </a:lnSpc>
              <a:spcBef>
                <a:spcPts val="0"/>
              </a:spcBef>
              <a:spcAft>
                <a:spcPts val="0"/>
              </a:spcAft>
              <a:buSzPts val="1100"/>
              <a:buNone/>
            </a:pPr>
            <a:r>
              <a:rPr b="1" lang="en-GB" sz="1300"/>
              <a:t>End</a:t>
            </a:r>
            <a:br>
              <a:rPr lang="en-GB" sz="1300"/>
            </a:br>
            <a:r>
              <a:rPr lang="en-GB" sz="1300"/>
              <a:t>But a solution is in sight! ASML has been interested in integrating AI in their business to solve problems like this one. H</a:t>
            </a:r>
            <a:r>
              <a:rPr lang="en-GB" sz="1300">
                <a:solidFill>
                  <a:schemeClr val="dk1"/>
                </a:solidFill>
              </a:rPr>
              <a:t>ence, we aim to develop an AI-powered model that is able to process what the company specifically needs and provides structures for these hearts. We need good circuits, because they power the world consequently ensuring better chips which would improve mankind. Allowing cancer research, stopping climate change and so on, all these goals will be sped up or even made possible with new better chips.</a:t>
            </a:r>
            <a:endParaRPr sz="1300">
              <a:solidFill>
                <a:schemeClr val="dk1"/>
              </a:solidFill>
            </a:endParaRPr>
          </a:p>
          <a:p>
            <a:pPr indent="0" lvl="0" marL="0" rtl="0" algn="l">
              <a:lnSpc>
                <a:spcPct val="100000"/>
              </a:lnSpc>
              <a:spcBef>
                <a:spcPts val="0"/>
              </a:spcBef>
              <a:spcAft>
                <a:spcPts val="0"/>
              </a:spcAft>
              <a:buSzPts val="1100"/>
              <a:buNone/>
            </a:pPr>
            <a:r>
              <a:t/>
            </a:r>
            <a:endParaRPr i="1" sz="1300">
              <a:solidFill>
                <a:schemeClr val="dk1"/>
              </a:solidFill>
            </a:endParaRPr>
          </a:p>
          <a:p>
            <a:pPr indent="0" lvl="0" marL="0" rtl="0" algn="l">
              <a:lnSpc>
                <a:spcPct val="100000"/>
              </a:lnSpc>
              <a:spcBef>
                <a:spcPts val="0"/>
              </a:spcBef>
              <a:spcAft>
                <a:spcPts val="0"/>
              </a:spcAft>
              <a:buSzPts val="1100"/>
              <a:buNone/>
            </a:pPr>
            <a:r>
              <a:rPr i="1" lang="en-GB" sz="1300">
                <a:solidFill>
                  <a:schemeClr val="dk1"/>
                </a:solidFill>
              </a:rPr>
              <a:t>Circuits: They power the world, having better chips would improve mankind. Allowing cancer research, stopping climate change, all these goals will be sped up or even made possible with new better chips</a:t>
            </a:r>
            <a:endParaRPr i="1" sz="1300">
              <a:solidFill>
                <a:schemeClr val="dk1"/>
              </a:solidFill>
            </a:endParaRPr>
          </a:p>
          <a:p>
            <a:pPr indent="0" lvl="0" marL="0" rtl="0" algn="l">
              <a:lnSpc>
                <a:spcPct val="100000"/>
              </a:lnSpc>
              <a:spcBef>
                <a:spcPts val="0"/>
              </a:spcBef>
              <a:spcAft>
                <a:spcPts val="0"/>
              </a:spcAft>
              <a:buSzPts val="1100"/>
              <a:buNone/>
            </a:pPr>
            <a:r>
              <a:rPr i="1" lang="en-GB" sz="1300">
                <a:solidFill>
                  <a:schemeClr val="dk1"/>
                </a:solidFill>
              </a:rPr>
              <a:t>Why: Power converter designs are time time consuming, causing the design process to take longer. This makes the development of new machines slower. </a:t>
            </a:r>
            <a:endParaRPr i="1" sz="1300">
              <a:solidFill>
                <a:schemeClr val="dk1"/>
              </a:solidFill>
            </a:endParaRPr>
          </a:p>
          <a:p>
            <a:pPr indent="0" lvl="0" marL="0" rtl="0" algn="l">
              <a:lnSpc>
                <a:spcPct val="100000"/>
              </a:lnSpc>
              <a:spcBef>
                <a:spcPts val="0"/>
              </a:spcBef>
              <a:spcAft>
                <a:spcPts val="0"/>
              </a:spcAft>
              <a:buSzPts val="1100"/>
              <a:buNone/>
            </a:pPr>
            <a:r>
              <a:rPr i="1" lang="en-GB" sz="1300">
                <a:solidFill>
                  <a:schemeClr val="dk1"/>
                </a:solidFill>
              </a:rPr>
              <a:t>Goal: Create an AI model that could give power converter circuits given some constraints. </a:t>
            </a:r>
            <a:endParaRPr i="1" sz="1300">
              <a:solidFill>
                <a:schemeClr val="dk1"/>
              </a:solidFill>
            </a:endParaRPr>
          </a:p>
          <a:p>
            <a:pPr indent="0" lvl="0" marL="0" rtl="0" algn="l">
              <a:lnSpc>
                <a:spcPct val="100000"/>
              </a:lnSpc>
              <a:spcBef>
                <a:spcPts val="0"/>
              </a:spcBef>
              <a:spcAft>
                <a:spcPts val="0"/>
              </a:spcAft>
              <a:buSzPts val="1100"/>
              <a:buNone/>
            </a:pPr>
            <a:r>
              <a:t/>
            </a:r>
            <a:endParaRPr>
              <a:solidFill>
                <a:schemeClr val="dk1"/>
              </a:solidFill>
            </a:endParaRPr>
          </a:p>
          <a:p>
            <a:pPr indent="0" lvl="0" marL="0" rtl="0" algn="l">
              <a:lnSpc>
                <a:spcPct val="100000"/>
              </a:lnSpc>
              <a:spcBef>
                <a:spcPts val="0"/>
              </a:spcBef>
              <a:spcAft>
                <a:spcPts val="0"/>
              </a:spcAft>
              <a:buSzPts val="1100"/>
              <a:buNone/>
            </a:pPr>
            <a:r>
              <a:t/>
            </a:r>
            <a:endParaRPr>
              <a:solidFill>
                <a:schemeClr val="dk1"/>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6" name="Google Shape;456;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top">
  <p:cSld name="Title slide - Title at the top">
    <p:bg>
      <p:bgPr>
        <a:solidFill>
          <a:srgbClr val="EEE8E8"/>
        </a:solidFill>
      </p:bgPr>
    </p:bg>
    <p:spTree>
      <p:nvGrpSpPr>
        <p:cNvPr id="11" name="Shape 11"/>
        <p:cNvGrpSpPr/>
        <p:nvPr/>
      </p:nvGrpSpPr>
      <p:grpSpPr>
        <a:xfrm>
          <a:off x="0" y="0"/>
          <a:ext cx="0" cy="0"/>
          <a:chOff x="0" y="0"/>
          <a:chExt cx="0" cy="0"/>
        </a:xfrm>
      </p:grpSpPr>
      <p:sp>
        <p:nvSpPr>
          <p:cNvPr id="12" name="Google Shape;12;p30"/>
          <p:cNvSpPr/>
          <p:nvPr/>
        </p:nvSpPr>
        <p:spPr>
          <a:xfrm>
            <a:off x="0" y="75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chemeClr val="lt1"/>
              </a:solidFill>
              <a:latin typeface="Calibri"/>
              <a:ea typeface="Calibri"/>
              <a:cs typeface="Calibri"/>
              <a:sym typeface="Calibri"/>
            </a:endParaRPr>
          </a:p>
        </p:txBody>
      </p:sp>
      <p:sp>
        <p:nvSpPr>
          <p:cNvPr id="13" name="Google Shape;13;p30"/>
          <p:cNvSpPr txBox="1"/>
          <p:nvPr>
            <p:ph type="ctrTitle"/>
          </p:nvPr>
        </p:nvSpPr>
        <p:spPr>
          <a:xfrm>
            <a:off x="-1" y="756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0"/>
          <p:cNvSpPr txBox="1"/>
          <p:nvPr>
            <p:ph idx="1" type="subTitle"/>
          </p:nvPr>
        </p:nvSpPr>
        <p:spPr>
          <a:xfrm>
            <a:off x="-1" y="1548000"/>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15" name="Google Shape;15;p30"/>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16" name="Google Shape;16;p30"/>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7" name="Google Shape;17;p30"/>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type="obj">
  <p:cSld name="OBJECT">
    <p:spTree>
      <p:nvGrpSpPr>
        <p:cNvPr id="18" name="Shape 18"/>
        <p:cNvGrpSpPr/>
        <p:nvPr/>
      </p:nvGrpSpPr>
      <p:grpSpPr>
        <a:xfrm>
          <a:off x="0" y="0"/>
          <a:ext cx="0" cy="0"/>
          <a:chOff x="0" y="0"/>
          <a:chExt cx="0" cy="0"/>
        </a:xfrm>
      </p:grpSpPr>
      <p:sp>
        <p:nvSpPr>
          <p:cNvPr id="19" name="Google Shape;19;p31"/>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1"/>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21" name="Google Shape;21;p31"/>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22" name="Google Shape;22;p31"/>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1"/>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carlet background">
  <p:cSld name="Scarlet background">
    <p:bg>
      <p:bgPr>
        <a:solidFill>
          <a:schemeClr val="dk2"/>
        </a:solidFill>
      </p:bgPr>
    </p:bg>
    <p:spTree>
      <p:nvGrpSpPr>
        <p:cNvPr id="24" name="Shape 24"/>
        <p:cNvGrpSpPr/>
        <p:nvPr/>
      </p:nvGrpSpPr>
      <p:grpSpPr>
        <a:xfrm>
          <a:off x="0" y="0"/>
          <a:ext cx="0" cy="0"/>
          <a:chOff x="0" y="0"/>
          <a:chExt cx="0" cy="0"/>
        </a:xfrm>
      </p:grpSpPr>
      <p:sp>
        <p:nvSpPr>
          <p:cNvPr id="25" name="Google Shape;25;p32"/>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32"/>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lt1"/>
              </a:buClr>
              <a:buSzPts val="1950"/>
              <a:buNone/>
              <a:defRPr>
                <a:solidFill>
                  <a:schemeClr val="lt1"/>
                </a:solidFill>
              </a:defRPr>
            </a:lvl1pPr>
            <a:lvl2pPr indent="-228600" lvl="1" marL="914400" algn="l">
              <a:lnSpc>
                <a:spcPct val="100000"/>
              </a:lnSpc>
              <a:spcBef>
                <a:spcPts val="0"/>
              </a:spcBef>
              <a:spcAft>
                <a:spcPts val="0"/>
              </a:spcAft>
              <a:buClr>
                <a:schemeClr val="lt1"/>
              </a:buClr>
              <a:buSzPts val="1650"/>
              <a:buNone/>
              <a:defRPr>
                <a:solidFill>
                  <a:schemeClr val="lt1"/>
                </a:solidFill>
              </a:defRPr>
            </a:lvl2pPr>
            <a:lvl3pPr indent="-333375" lvl="2" marL="1371600" algn="l">
              <a:lnSpc>
                <a:spcPct val="100000"/>
              </a:lnSpc>
              <a:spcBef>
                <a:spcPts val="0"/>
              </a:spcBef>
              <a:spcAft>
                <a:spcPts val="0"/>
              </a:spcAft>
              <a:buClr>
                <a:schemeClr val="lt1"/>
              </a:buClr>
              <a:buSzPts val="1650"/>
              <a:buChar char="•"/>
              <a:defRPr>
                <a:solidFill>
                  <a:schemeClr val="lt1"/>
                </a:solidFill>
              </a:defRPr>
            </a:lvl3pPr>
            <a:lvl4pPr indent="-333375" lvl="3" marL="1828800" algn="l">
              <a:lnSpc>
                <a:spcPct val="100000"/>
              </a:lnSpc>
              <a:spcBef>
                <a:spcPts val="0"/>
              </a:spcBef>
              <a:spcAft>
                <a:spcPts val="0"/>
              </a:spcAft>
              <a:buClr>
                <a:schemeClr val="lt1"/>
              </a:buClr>
              <a:buSzPts val="1650"/>
              <a:buChar char="•"/>
              <a:defRPr>
                <a:solidFill>
                  <a:schemeClr val="lt1"/>
                </a:solidFill>
              </a:defRPr>
            </a:lvl4pPr>
            <a:lvl5pPr indent="-333375" lvl="4" marL="2286000" algn="l">
              <a:lnSpc>
                <a:spcPct val="100000"/>
              </a:lnSpc>
              <a:spcBef>
                <a:spcPts val="0"/>
              </a:spcBef>
              <a:spcAft>
                <a:spcPts val="0"/>
              </a:spcAft>
              <a:buClr>
                <a:schemeClr val="lt1"/>
              </a:buClr>
              <a:buSzPts val="1650"/>
              <a:buChar char="•"/>
              <a:defRPr>
                <a:solidFill>
                  <a:schemeClr val="lt1"/>
                </a:solidFill>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27" name="Google Shape;27;p32"/>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28" name="Google Shape;28;p32"/>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32"/>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3 images">
  <p:cSld name="Text + 3 images">
    <p:spTree>
      <p:nvGrpSpPr>
        <p:cNvPr id="30" name="Shape 30"/>
        <p:cNvGrpSpPr/>
        <p:nvPr/>
      </p:nvGrpSpPr>
      <p:grpSpPr>
        <a:xfrm>
          <a:off x="0" y="0"/>
          <a:ext cx="0" cy="0"/>
          <a:chOff x="0" y="0"/>
          <a:chExt cx="0" cy="0"/>
        </a:xfrm>
      </p:grpSpPr>
      <p:sp>
        <p:nvSpPr>
          <p:cNvPr id="31" name="Google Shape;31;p33"/>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33"/>
          <p:cNvSpPr txBox="1"/>
          <p:nvPr>
            <p:ph idx="1" type="body"/>
          </p:nvPr>
        </p:nvSpPr>
        <p:spPr>
          <a:xfrm>
            <a:off x="758824" y="1306642"/>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3" name="Google Shape;33;p33"/>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34" name="Google Shape;34;p3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3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36" name="Google Shape;36;p33"/>
          <p:cNvSpPr txBox="1"/>
          <p:nvPr>
            <p:ph idx="2" type="body"/>
          </p:nvPr>
        </p:nvSpPr>
        <p:spPr>
          <a:xfrm>
            <a:off x="3490913"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7" name="Google Shape;37;p33"/>
          <p:cNvSpPr txBox="1"/>
          <p:nvPr>
            <p:ph idx="3" type="body"/>
          </p:nvPr>
        </p:nvSpPr>
        <p:spPr>
          <a:xfrm>
            <a:off x="6235414" y="1302661"/>
            <a:ext cx="2084389" cy="63645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650"/>
              <a:buNone/>
              <a:defRPr sz="165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8" name="Google Shape;38;p33"/>
          <p:cNvSpPr/>
          <p:nvPr>
            <p:ph idx="4" type="pic"/>
          </p:nvPr>
        </p:nvSpPr>
        <p:spPr>
          <a:xfrm>
            <a:off x="755650" y="1943101"/>
            <a:ext cx="2087563" cy="2625298"/>
          </a:xfrm>
          <a:prstGeom prst="rect">
            <a:avLst/>
          </a:prstGeom>
          <a:noFill/>
          <a:ln>
            <a:noFill/>
          </a:ln>
        </p:spPr>
      </p:sp>
      <p:sp>
        <p:nvSpPr>
          <p:cNvPr id="39" name="Google Shape;39;p33"/>
          <p:cNvSpPr/>
          <p:nvPr>
            <p:ph idx="5" type="pic"/>
          </p:nvPr>
        </p:nvSpPr>
        <p:spPr>
          <a:xfrm>
            <a:off x="3487739" y="1943101"/>
            <a:ext cx="2087563" cy="2625298"/>
          </a:xfrm>
          <a:prstGeom prst="rect">
            <a:avLst/>
          </a:prstGeom>
          <a:noFill/>
          <a:ln>
            <a:noFill/>
          </a:ln>
        </p:spPr>
      </p:sp>
      <p:sp>
        <p:nvSpPr>
          <p:cNvPr id="40" name="Google Shape;40;p33"/>
          <p:cNvSpPr/>
          <p:nvPr>
            <p:ph idx="6" type="pic"/>
          </p:nvPr>
        </p:nvSpPr>
        <p:spPr>
          <a:xfrm>
            <a:off x="6235414" y="1943101"/>
            <a:ext cx="2087563" cy="2625298"/>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slide - 2 columns">
  <p:cSld name="Text slide - 2 columns">
    <p:spTree>
      <p:nvGrpSpPr>
        <p:cNvPr id="41" name="Shape 41"/>
        <p:cNvGrpSpPr/>
        <p:nvPr/>
      </p:nvGrpSpPr>
      <p:grpSpPr>
        <a:xfrm>
          <a:off x="0" y="0"/>
          <a:ext cx="0" cy="0"/>
          <a:chOff x="0" y="0"/>
          <a:chExt cx="0" cy="0"/>
        </a:xfrm>
      </p:grpSpPr>
      <p:sp>
        <p:nvSpPr>
          <p:cNvPr id="42" name="Google Shape;42;p34"/>
          <p:cNvSpPr txBox="1"/>
          <p:nvPr>
            <p:ph type="title"/>
          </p:nvPr>
        </p:nvSpPr>
        <p:spPr>
          <a:xfrm>
            <a:off x="758825" y="585793"/>
            <a:ext cx="359568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34"/>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4" name="Google Shape;44;p34"/>
          <p:cNvSpPr txBox="1"/>
          <p:nvPr>
            <p:ph idx="2" type="body"/>
          </p:nvPr>
        </p:nvSpPr>
        <p:spPr>
          <a:xfrm>
            <a:off x="4723606" y="1296000"/>
            <a:ext cx="3595688" cy="2933101"/>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5" name="Google Shape;45;p34"/>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46" name="Google Shape;46;p34"/>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34"/>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48" name="Google Shape;48;p34"/>
          <p:cNvSpPr txBox="1"/>
          <p:nvPr>
            <p:ph idx="3" type="body"/>
          </p:nvPr>
        </p:nvSpPr>
        <p:spPr>
          <a:xfrm>
            <a:off x="4714875" y="586800"/>
            <a:ext cx="3604419" cy="732238"/>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b="0" sz="1950">
                <a:solidFill>
                  <a:schemeClr val="dk1"/>
                </a:solidFill>
                <a:latin typeface="Calibri"/>
                <a:ea typeface="Calibri"/>
                <a:cs typeface="Calibri"/>
                <a:sym typeface="Calibri"/>
              </a:defRPr>
            </a:lvl1pPr>
            <a:lvl2pPr indent="-228600" lvl="1" marL="914400" algn="l">
              <a:lnSpc>
                <a:spcPct val="100000"/>
              </a:lnSpc>
              <a:spcBef>
                <a:spcPts val="0"/>
              </a:spcBef>
              <a:spcAft>
                <a:spcPts val="0"/>
              </a:spcAft>
              <a:buClr>
                <a:schemeClr val="dk1"/>
              </a:buClr>
              <a:buSzPts val="1500"/>
              <a:buNone/>
              <a:defRPr b="1" sz="1500"/>
            </a:lvl2pPr>
            <a:lvl3pPr indent="-228600" lvl="2" marL="1371600" algn="l">
              <a:lnSpc>
                <a:spcPct val="100000"/>
              </a:lnSpc>
              <a:spcBef>
                <a:spcPts val="0"/>
              </a:spcBef>
              <a:spcAft>
                <a:spcPts val="0"/>
              </a:spcAft>
              <a:buClr>
                <a:schemeClr val="dk1"/>
              </a:buClr>
              <a:buSzPts val="1350"/>
              <a:buNone/>
              <a:defRPr b="1" sz="1350"/>
            </a:lvl3pPr>
            <a:lvl4pPr indent="-228600" lvl="3" marL="1828800" algn="l">
              <a:lnSpc>
                <a:spcPct val="100000"/>
              </a:lnSpc>
              <a:spcBef>
                <a:spcPts val="0"/>
              </a:spcBef>
              <a:spcAft>
                <a:spcPts val="0"/>
              </a:spcAft>
              <a:buClr>
                <a:schemeClr val="dk1"/>
              </a:buClr>
              <a:buSzPts val="1200"/>
              <a:buNone/>
              <a:defRPr b="1" sz="1200"/>
            </a:lvl4pPr>
            <a:lvl5pPr indent="-228600" lvl="4" marL="2286000" algn="l">
              <a:lnSpc>
                <a:spcPct val="100000"/>
              </a:lnSpc>
              <a:spcBef>
                <a:spcPts val="0"/>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light image">
  <p:cSld name="Heading + full screen light image">
    <p:bg>
      <p:bgPr>
        <a:solidFill>
          <a:srgbClr val="F2F2F2"/>
        </a:solidFill>
      </p:bgPr>
    </p:bg>
    <p:spTree>
      <p:nvGrpSpPr>
        <p:cNvPr id="49" name="Shape 49"/>
        <p:cNvGrpSpPr/>
        <p:nvPr/>
      </p:nvGrpSpPr>
      <p:grpSpPr>
        <a:xfrm>
          <a:off x="0" y="0"/>
          <a:ext cx="0" cy="0"/>
          <a:chOff x="0" y="0"/>
          <a:chExt cx="0" cy="0"/>
        </a:xfrm>
      </p:grpSpPr>
      <p:sp>
        <p:nvSpPr>
          <p:cNvPr id="50" name="Google Shape;50;p35"/>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35"/>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52" name="Google Shape;52;p35"/>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35"/>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in the middle">
  <p:cSld name="Title slide - Title in the middle">
    <p:spTree>
      <p:nvGrpSpPr>
        <p:cNvPr id="54" name="Shape 54"/>
        <p:cNvGrpSpPr/>
        <p:nvPr/>
      </p:nvGrpSpPr>
      <p:grpSpPr>
        <a:xfrm>
          <a:off x="0" y="0"/>
          <a:ext cx="0" cy="0"/>
          <a:chOff x="0" y="0"/>
          <a:chExt cx="0" cy="0"/>
        </a:xfrm>
      </p:grpSpPr>
      <p:sp>
        <p:nvSpPr>
          <p:cNvPr id="55" name="Google Shape;55;p36"/>
          <p:cNvSpPr/>
          <p:nvPr/>
        </p:nvSpPr>
        <p:spPr>
          <a:xfrm>
            <a:off x="0" y="183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chemeClr val="lt1"/>
              </a:solidFill>
              <a:latin typeface="Calibri"/>
              <a:ea typeface="Calibri"/>
              <a:cs typeface="Calibri"/>
              <a:sym typeface="Calibri"/>
            </a:endParaRPr>
          </a:p>
        </p:txBody>
      </p:sp>
      <p:sp>
        <p:nvSpPr>
          <p:cNvPr id="56" name="Google Shape;56;p36"/>
          <p:cNvSpPr txBox="1"/>
          <p:nvPr>
            <p:ph type="ctrTitle"/>
          </p:nvPr>
        </p:nvSpPr>
        <p:spPr>
          <a:xfrm>
            <a:off x="-1" y="18355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36"/>
          <p:cNvSpPr txBox="1"/>
          <p:nvPr>
            <p:ph idx="1" type="subTitle"/>
          </p:nvPr>
        </p:nvSpPr>
        <p:spPr>
          <a:xfrm>
            <a:off x="-1" y="2628097"/>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58" name="Google Shape;58;p36"/>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59" name="Google Shape;59;p36"/>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0" name="Google Shape;60;p36"/>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Title at the bottom">
  <p:cSld name="Title slide - Title at the bottom">
    <p:spTree>
      <p:nvGrpSpPr>
        <p:cNvPr id="61" name="Shape 61"/>
        <p:cNvGrpSpPr/>
        <p:nvPr/>
      </p:nvGrpSpPr>
      <p:grpSpPr>
        <a:xfrm>
          <a:off x="0" y="0"/>
          <a:ext cx="0" cy="0"/>
          <a:chOff x="0" y="0"/>
          <a:chExt cx="0" cy="0"/>
        </a:xfrm>
      </p:grpSpPr>
      <p:sp>
        <p:nvSpPr>
          <p:cNvPr id="62" name="Google Shape;62;p37"/>
          <p:cNvSpPr/>
          <p:nvPr/>
        </p:nvSpPr>
        <p:spPr>
          <a:xfrm>
            <a:off x="0" y="2916000"/>
            <a:ext cx="9144000" cy="1080000"/>
          </a:xfrm>
          <a:prstGeom prst="rect">
            <a:avLst/>
          </a:prstGeom>
          <a:solidFill>
            <a:schemeClr val="dk1">
              <a:alpha val="25098"/>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350"/>
              <a:buFont typeface="Arial"/>
              <a:buNone/>
            </a:pPr>
            <a:r>
              <a:t/>
            </a:r>
            <a:endParaRPr b="0" i="0" sz="1350" u="none" cap="none" strike="noStrike">
              <a:solidFill>
                <a:schemeClr val="lt1"/>
              </a:solidFill>
              <a:latin typeface="Calibri"/>
              <a:ea typeface="Calibri"/>
              <a:cs typeface="Calibri"/>
              <a:sym typeface="Calibri"/>
            </a:endParaRPr>
          </a:p>
        </p:txBody>
      </p:sp>
      <p:sp>
        <p:nvSpPr>
          <p:cNvPr id="63" name="Google Shape;63;p37"/>
          <p:cNvSpPr txBox="1"/>
          <p:nvPr>
            <p:ph type="ctrTitle"/>
          </p:nvPr>
        </p:nvSpPr>
        <p:spPr>
          <a:xfrm>
            <a:off x="-1" y="2915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lvl1pPr lvl="0" algn="l">
              <a:lnSpc>
                <a:spcPct val="104545"/>
              </a:lnSpc>
              <a:spcBef>
                <a:spcPts val="0"/>
              </a:spcBef>
              <a:spcAft>
                <a:spcPts val="0"/>
              </a:spcAft>
              <a:buClr>
                <a:schemeClr val="lt1"/>
              </a:buClr>
              <a:buSzPts val="2200"/>
              <a:buFont typeface="Calibri"/>
              <a:buNone/>
              <a:defRPr sz="2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37"/>
          <p:cNvSpPr txBox="1"/>
          <p:nvPr>
            <p:ph idx="1" type="subTitle"/>
          </p:nvPr>
        </p:nvSpPr>
        <p:spPr>
          <a:xfrm>
            <a:off x="-1" y="3708591"/>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lvl1pPr lvl="0" algn="l">
              <a:lnSpc>
                <a:spcPct val="100000"/>
              </a:lnSpc>
              <a:spcBef>
                <a:spcPts val="0"/>
              </a:spcBef>
              <a:spcAft>
                <a:spcPts val="0"/>
              </a:spcAft>
              <a:buClr>
                <a:schemeClr val="lt1"/>
              </a:buClr>
              <a:buSzPts val="1000"/>
              <a:buNone/>
              <a:defRPr b="1" sz="1000" cap="none">
                <a:solidFill>
                  <a:schemeClr val="lt1"/>
                </a:solidFill>
              </a:defRPr>
            </a:lvl1pPr>
            <a:lvl2pPr lvl="1" algn="ctr">
              <a:lnSpc>
                <a:spcPct val="100000"/>
              </a:lnSpc>
              <a:spcBef>
                <a:spcPts val="0"/>
              </a:spcBef>
              <a:spcAft>
                <a:spcPts val="0"/>
              </a:spcAft>
              <a:buClr>
                <a:schemeClr val="dk1"/>
              </a:buClr>
              <a:buSzPts val="1500"/>
              <a:buNone/>
              <a:defRPr sz="1500"/>
            </a:lvl2pPr>
            <a:lvl3pPr lvl="2" algn="ctr">
              <a:lnSpc>
                <a:spcPct val="100000"/>
              </a:lnSpc>
              <a:spcBef>
                <a:spcPts val="0"/>
              </a:spcBef>
              <a:spcAft>
                <a:spcPts val="0"/>
              </a:spcAft>
              <a:buClr>
                <a:schemeClr val="dk1"/>
              </a:buClr>
              <a:buSzPts val="1350"/>
              <a:buNone/>
              <a:defRPr sz="1350"/>
            </a:lvl3pPr>
            <a:lvl4pPr lvl="3" algn="ctr">
              <a:lnSpc>
                <a:spcPct val="100000"/>
              </a:lnSpc>
              <a:spcBef>
                <a:spcPts val="0"/>
              </a:spcBef>
              <a:spcAft>
                <a:spcPts val="0"/>
              </a:spcAft>
              <a:buClr>
                <a:schemeClr val="dk1"/>
              </a:buClr>
              <a:buSzPts val="1200"/>
              <a:buNone/>
              <a:defRPr sz="1200"/>
            </a:lvl4pPr>
            <a:lvl5pPr lvl="4" algn="ctr">
              <a:lnSpc>
                <a:spcPct val="100000"/>
              </a:lnSpc>
              <a:spcBef>
                <a:spcPts val="0"/>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pic>
        <p:nvPicPr>
          <p:cNvPr id="65" name="Google Shape;65;p37"/>
          <p:cNvPicPr preferRelativeResize="0"/>
          <p:nvPr/>
        </p:nvPicPr>
        <p:blipFill rotWithShape="1">
          <a:blip r:embed="rId2">
            <a:alphaModFix/>
          </a:blip>
          <a:srcRect b="0" l="0" r="0" t="0"/>
          <a:stretch/>
        </p:blipFill>
        <p:spPr>
          <a:xfrm>
            <a:off x="7340600" y="4568825"/>
            <a:ext cx="1803400" cy="574675"/>
          </a:xfrm>
          <a:prstGeom prst="rect">
            <a:avLst/>
          </a:prstGeom>
          <a:noFill/>
          <a:ln>
            <a:noFill/>
          </a:ln>
        </p:spPr>
      </p:pic>
      <p:sp>
        <p:nvSpPr>
          <p:cNvPr id="66" name="Google Shape;66;p37"/>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lt1"/>
              </a:buClr>
              <a:buSzPts val="1100"/>
              <a:buNone/>
              <a:defRPr b="1" sz="1100">
                <a:solidFill>
                  <a:schemeClr val="lt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67" name="Google Shape;67;p37"/>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lvl1pPr indent="-228600" lvl="0" marL="457200" algn="l">
              <a:lnSpc>
                <a:spcPct val="100000"/>
              </a:lnSpc>
              <a:spcBef>
                <a:spcPts val="0"/>
              </a:spcBef>
              <a:spcAft>
                <a:spcPts val="0"/>
              </a:spcAft>
              <a:buClr>
                <a:schemeClr val="dk1"/>
              </a:buClr>
              <a:buSzPts val="1100"/>
              <a:buNone/>
              <a:defRPr b="0" sz="1100">
                <a:solidFill>
                  <a:schemeClr val="dk1"/>
                </a:solidFill>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text - 1/2 image">
  <p:cSld name="1/2 text - 1/2 image">
    <p:spTree>
      <p:nvGrpSpPr>
        <p:cNvPr id="68" name="Shape 68"/>
        <p:cNvGrpSpPr/>
        <p:nvPr/>
      </p:nvGrpSpPr>
      <p:grpSpPr>
        <a:xfrm>
          <a:off x="0" y="0"/>
          <a:ext cx="0" cy="0"/>
          <a:chOff x="0" y="0"/>
          <a:chExt cx="0" cy="0"/>
        </a:xfrm>
      </p:grpSpPr>
      <p:sp>
        <p:nvSpPr>
          <p:cNvPr id="69" name="Google Shape;69;p38"/>
          <p:cNvSpPr txBox="1"/>
          <p:nvPr>
            <p:ph type="title"/>
          </p:nvPr>
        </p:nvSpPr>
        <p:spPr>
          <a:xfrm>
            <a:off x="756000"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8"/>
          <p:cNvSpPr txBox="1"/>
          <p:nvPr>
            <p:ph idx="1" type="body"/>
          </p:nvPr>
        </p:nvSpPr>
        <p:spPr>
          <a:xfrm>
            <a:off x="755650"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1" name="Google Shape;71;p38"/>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72" name="Google Shape;72;p38"/>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8"/>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74" name="Google Shape;74;p38"/>
          <p:cNvSpPr/>
          <p:nvPr>
            <p:ph idx="2" type="pic"/>
          </p:nvPr>
        </p:nvSpPr>
        <p:spPr>
          <a:xfrm>
            <a:off x="4714875" y="0"/>
            <a:ext cx="4429125" cy="4567238"/>
          </a:xfrm>
          <a:prstGeom prst="rect">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3 text - 1/3 image">
  <p:cSld name="2/3 text - 1/3 image">
    <p:spTree>
      <p:nvGrpSpPr>
        <p:cNvPr id="75" name="Shape 75"/>
        <p:cNvGrpSpPr/>
        <p:nvPr/>
      </p:nvGrpSpPr>
      <p:grpSpPr>
        <a:xfrm>
          <a:off x="0" y="0"/>
          <a:ext cx="0" cy="0"/>
          <a:chOff x="0" y="0"/>
          <a:chExt cx="0" cy="0"/>
        </a:xfrm>
      </p:grpSpPr>
      <p:sp>
        <p:nvSpPr>
          <p:cNvPr id="76" name="Google Shape;76;p39"/>
          <p:cNvSpPr txBox="1"/>
          <p:nvPr>
            <p:ph type="title"/>
          </p:nvPr>
        </p:nvSpPr>
        <p:spPr>
          <a:xfrm>
            <a:off x="756000" y="586800"/>
            <a:ext cx="4910138"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39"/>
          <p:cNvSpPr txBox="1"/>
          <p:nvPr>
            <p:ph idx="1" type="body"/>
          </p:nvPr>
        </p:nvSpPr>
        <p:spPr>
          <a:xfrm>
            <a:off x="755650" y="1295401"/>
            <a:ext cx="491331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8" name="Google Shape;78;p39"/>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79" name="Google Shape;79;p3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3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81" name="Google Shape;81;p39"/>
          <p:cNvSpPr/>
          <p:nvPr>
            <p:ph idx="2" type="pic"/>
          </p:nvPr>
        </p:nvSpPr>
        <p:spPr>
          <a:xfrm>
            <a:off x="6046788" y="0"/>
            <a:ext cx="3097212" cy="4567238"/>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image - 1/2 text">
  <p:cSld name="1/2 image - 1/2 text">
    <p:spTree>
      <p:nvGrpSpPr>
        <p:cNvPr id="82" name="Shape 82"/>
        <p:cNvGrpSpPr/>
        <p:nvPr/>
      </p:nvGrpSpPr>
      <p:grpSpPr>
        <a:xfrm>
          <a:off x="0" y="0"/>
          <a:ext cx="0" cy="0"/>
          <a:chOff x="0" y="0"/>
          <a:chExt cx="0" cy="0"/>
        </a:xfrm>
      </p:grpSpPr>
      <p:sp>
        <p:nvSpPr>
          <p:cNvPr id="83" name="Google Shape;83;p40"/>
          <p:cNvSpPr txBox="1"/>
          <p:nvPr>
            <p:ph type="title"/>
          </p:nvPr>
        </p:nvSpPr>
        <p:spPr>
          <a:xfrm>
            <a:off x="4723518" y="586800"/>
            <a:ext cx="360000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40"/>
          <p:cNvSpPr txBox="1"/>
          <p:nvPr>
            <p:ph idx="1" type="body"/>
          </p:nvPr>
        </p:nvSpPr>
        <p:spPr>
          <a:xfrm>
            <a:off x="4720343" y="1295401"/>
            <a:ext cx="3598863"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5" name="Google Shape;85;p40"/>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86" name="Google Shape;86;p40"/>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40"/>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88" name="Google Shape;88;p40"/>
          <p:cNvSpPr/>
          <p:nvPr>
            <p:ph idx="2" type="pic"/>
          </p:nvPr>
        </p:nvSpPr>
        <p:spPr>
          <a:xfrm>
            <a:off x="0" y="0"/>
            <a:ext cx="4354513" cy="4567238"/>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 2/3 text">
  <p:cSld name="1/3 image - 2/3 text">
    <p:spTree>
      <p:nvGrpSpPr>
        <p:cNvPr id="89" name="Shape 89"/>
        <p:cNvGrpSpPr/>
        <p:nvPr/>
      </p:nvGrpSpPr>
      <p:grpSpPr>
        <a:xfrm>
          <a:off x="0" y="0"/>
          <a:ext cx="0" cy="0"/>
          <a:chOff x="0" y="0"/>
          <a:chExt cx="0" cy="0"/>
        </a:xfrm>
      </p:grpSpPr>
      <p:sp>
        <p:nvSpPr>
          <p:cNvPr id="90" name="Google Shape;90;p41"/>
          <p:cNvSpPr txBox="1"/>
          <p:nvPr>
            <p:ph type="title"/>
          </p:nvPr>
        </p:nvSpPr>
        <p:spPr>
          <a:xfrm>
            <a:off x="3494405" y="586800"/>
            <a:ext cx="4820920" cy="732238"/>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41"/>
          <p:cNvSpPr txBox="1"/>
          <p:nvPr>
            <p:ph idx="1" type="body"/>
          </p:nvPr>
        </p:nvSpPr>
        <p:spPr>
          <a:xfrm>
            <a:off x="3491230" y="1295401"/>
            <a:ext cx="4824095" cy="29337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92" name="Google Shape;92;p41"/>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93" name="Google Shape;93;p41"/>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41"/>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95" name="Google Shape;95;p41"/>
          <p:cNvSpPr/>
          <p:nvPr>
            <p:ph idx="2" type="pic"/>
          </p:nvPr>
        </p:nvSpPr>
        <p:spPr>
          <a:xfrm>
            <a:off x="0" y="0"/>
            <a:ext cx="3022600" cy="4567238"/>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 image/movie 16:9">
  <p:cSld name="Headline + image/movie 16:9">
    <p:spTree>
      <p:nvGrpSpPr>
        <p:cNvPr id="96" name="Shape 96"/>
        <p:cNvGrpSpPr/>
        <p:nvPr/>
      </p:nvGrpSpPr>
      <p:grpSpPr>
        <a:xfrm>
          <a:off x="0" y="0"/>
          <a:ext cx="0" cy="0"/>
          <a:chOff x="0" y="0"/>
          <a:chExt cx="0" cy="0"/>
        </a:xfrm>
      </p:grpSpPr>
      <p:sp>
        <p:nvSpPr>
          <p:cNvPr id="97" name="Google Shape;97;p42"/>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algn="l">
              <a:lnSpc>
                <a:spcPct val="15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8" name="Google Shape;98;p42"/>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99" name="Google Shape;99;p42"/>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42"/>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101" name="Google Shape;101;p42"/>
          <p:cNvSpPr txBox="1"/>
          <p:nvPr>
            <p:ph idx="1" type="body"/>
          </p:nvPr>
        </p:nvSpPr>
        <p:spPr>
          <a:xfrm>
            <a:off x="1889125" y="1079501"/>
            <a:ext cx="5292725" cy="2977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02" name="Google Shape;102;p42"/>
          <p:cNvSpPr txBox="1"/>
          <p:nvPr>
            <p:ph idx="2" type="body"/>
          </p:nvPr>
        </p:nvSpPr>
        <p:spPr>
          <a:xfrm>
            <a:off x="1889125" y="4106268"/>
            <a:ext cx="5292725" cy="165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None/>
              <a:defRPr i="1" sz="1100"/>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ing + full screen dark image">
  <p:cSld name="Heading + full screen dark image">
    <p:bg>
      <p:bgPr>
        <a:solidFill>
          <a:srgbClr val="A5A5A5"/>
        </a:solidFill>
      </p:bgPr>
    </p:bg>
    <p:spTree>
      <p:nvGrpSpPr>
        <p:cNvPr id="103" name="Shape 103"/>
        <p:cNvGrpSpPr/>
        <p:nvPr/>
      </p:nvGrpSpPr>
      <p:grpSpPr>
        <a:xfrm>
          <a:off x="0" y="0"/>
          <a:ext cx="0" cy="0"/>
          <a:chOff x="0" y="0"/>
          <a:chExt cx="0" cy="0"/>
        </a:xfrm>
      </p:grpSpPr>
      <p:sp>
        <p:nvSpPr>
          <p:cNvPr id="104" name="Google Shape;104;p43"/>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2700"/>
              <a:buFont typeface="Calibri"/>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43"/>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106" name="Google Shape;106;p43"/>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43"/>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background">
  <p:cSld name="White background">
    <p:bg>
      <p:bgPr>
        <a:solidFill>
          <a:schemeClr val="lt1"/>
        </a:solidFill>
      </p:bgPr>
    </p:bg>
    <p:spTree>
      <p:nvGrpSpPr>
        <p:cNvPr id="108" name="Shape 108"/>
        <p:cNvGrpSpPr/>
        <p:nvPr/>
      </p:nvGrpSpPr>
      <p:grpSpPr>
        <a:xfrm>
          <a:off x="0" y="0"/>
          <a:ext cx="0" cy="0"/>
          <a:chOff x="0" y="0"/>
          <a:chExt cx="0" cy="0"/>
        </a:xfrm>
      </p:grpSpPr>
      <p:sp>
        <p:nvSpPr>
          <p:cNvPr id="109" name="Google Shape;109;p44"/>
          <p:cNvSpPr txBox="1"/>
          <p:nvPr>
            <p:ph type="title"/>
          </p:nvPr>
        </p:nvSpPr>
        <p:spPr>
          <a:xfrm>
            <a:off x="758825" y="518400"/>
            <a:ext cx="7556500" cy="733827"/>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2700"/>
              <a:buFont typeface="Calibri"/>
              <a:buNone/>
              <a:defRPr>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0" name="Google Shape;110;p44"/>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111" name="Google Shape;111;p44"/>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2" name="Google Shape;112;p44"/>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cxnSp>
        <p:nvCxnSpPr>
          <p:cNvPr id="113" name="Google Shape;113;p44"/>
          <p:cNvCxnSpPr/>
          <p:nvPr/>
        </p:nvCxnSpPr>
        <p:spPr>
          <a:xfrm>
            <a:off x="0" y="4563782"/>
            <a:ext cx="9144000" cy="0"/>
          </a:xfrm>
          <a:prstGeom prst="straightConnector1">
            <a:avLst/>
          </a:prstGeom>
          <a:noFill/>
          <a:ln cap="flat" cmpd="sng" w="9525">
            <a:solidFill>
              <a:schemeClr val="dk1"/>
            </a:solidFill>
            <a:prstDash val="solid"/>
            <a:miter lim="800000"/>
            <a:headEnd len="sm" w="sm" type="none"/>
            <a:tailEnd len="sm" w="sm" type="none"/>
          </a:ln>
        </p:spPr>
      </p:cxnSp>
      <p:sp>
        <p:nvSpPr>
          <p:cNvPr id="114" name="Google Shape;114;p44"/>
          <p:cNvSpPr/>
          <p:nvPr>
            <p:ph idx="2" type="pic"/>
          </p:nvPr>
        </p:nvSpPr>
        <p:spPr>
          <a:xfrm>
            <a:off x="1890000" y="1299075"/>
            <a:ext cx="5292725" cy="2977200"/>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 text">
  <p:cSld name="Table + text">
    <p:spTree>
      <p:nvGrpSpPr>
        <p:cNvPr id="115" name="Shape 115"/>
        <p:cNvGrpSpPr/>
        <p:nvPr/>
      </p:nvGrpSpPr>
      <p:grpSpPr>
        <a:xfrm>
          <a:off x="0" y="0"/>
          <a:ext cx="0" cy="0"/>
          <a:chOff x="0" y="0"/>
          <a:chExt cx="0" cy="0"/>
        </a:xfrm>
      </p:grpSpPr>
      <p:sp>
        <p:nvSpPr>
          <p:cNvPr id="116" name="Google Shape;116;p45"/>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45"/>
          <p:cNvSpPr txBox="1"/>
          <p:nvPr>
            <p:ph idx="1" type="body"/>
          </p:nvPr>
        </p:nvSpPr>
        <p:spPr>
          <a:xfrm>
            <a:off x="755651" y="2638425"/>
            <a:ext cx="7563556" cy="15906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50"/>
              <a:buNone/>
              <a:defRPr/>
            </a:lvl1pPr>
            <a:lvl2pPr indent="-228600" lvl="1" marL="914400" algn="l">
              <a:lnSpc>
                <a:spcPct val="100000"/>
              </a:lnSpc>
              <a:spcBef>
                <a:spcPts val="0"/>
              </a:spcBef>
              <a:spcAft>
                <a:spcPts val="0"/>
              </a:spcAft>
              <a:buClr>
                <a:schemeClr val="dk1"/>
              </a:buClr>
              <a:buSzPts val="1800"/>
              <a:buNone/>
              <a:defRPr/>
            </a:lvl2pPr>
            <a:lvl3pPr indent="-342900" lvl="2" marL="1371600" algn="l">
              <a:lnSpc>
                <a:spcPct val="100000"/>
              </a:lnSpc>
              <a:spcBef>
                <a:spcPts val="0"/>
              </a:spcBef>
              <a:spcAft>
                <a:spcPts val="0"/>
              </a:spcAft>
              <a:buClr>
                <a:schemeClr val="dk1"/>
              </a:buClr>
              <a:buSzPts val="1800"/>
              <a:buChar char="•"/>
              <a:defRPr/>
            </a:lvl3pPr>
            <a:lvl4pPr indent="-342900" lvl="3" marL="1828800" algn="l">
              <a:lnSpc>
                <a:spcPct val="100000"/>
              </a:lnSpc>
              <a:spcBef>
                <a:spcPts val="0"/>
              </a:spcBef>
              <a:spcAft>
                <a:spcPts val="0"/>
              </a:spcAft>
              <a:buClr>
                <a:schemeClr val="dk1"/>
              </a:buClr>
              <a:buSzPts val="1800"/>
              <a:buChar char="•"/>
              <a:defRPr/>
            </a:lvl4pPr>
            <a:lvl5pPr indent="-342900" lvl="4" marL="2286000" algn="l">
              <a:lnSpc>
                <a:spcPct val="100000"/>
              </a:lnSpc>
              <a:spcBef>
                <a:spcPts val="0"/>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118" name="Google Shape;118;p45"/>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119" name="Google Shape;119;p45"/>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45"/>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rt">
  <p:cSld name="Chart">
    <p:spTree>
      <p:nvGrpSpPr>
        <p:cNvPr id="121" name="Shape 121"/>
        <p:cNvGrpSpPr/>
        <p:nvPr/>
      </p:nvGrpSpPr>
      <p:grpSpPr>
        <a:xfrm>
          <a:off x="0" y="0"/>
          <a:ext cx="0" cy="0"/>
          <a:chOff x="0" y="0"/>
          <a:chExt cx="0" cy="0"/>
        </a:xfrm>
      </p:grpSpPr>
      <p:sp>
        <p:nvSpPr>
          <p:cNvPr id="122" name="Google Shape;122;p46"/>
          <p:cNvSpPr txBox="1"/>
          <p:nvPr>
            <p:ph type="title"/>
          </p:nvPr>
        </p:nvSpPr>
        <p:spPr>
          <a:xfrm>
            <a:off x="755650" y="586800"/>
            <a:ext cx="7563556" cy="516339"/>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950"/>
              <a:buFont typeface="Calibri"/>
              <a:buNone/>
              <a:defRPr b="0" sz="195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46"/>
          <p:cNvSpPr txBox="1"/>
          <p:nvPr>
            <p:ph idx="10" type="dt"/>
          </p:nvPr>
        </p:nvSpPr>
        <p:spPr>
          <a:xfrm>
            <a:off x="628650" y="4767263"/>
            <a:ext cx="2057400"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sp>
        <p:nvSpPr>
          <p:cNvPr id="124" name="Google Shape;124;p46"/>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p46"/>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126" name="Google Shape;126;p46"/>
          <p:cNvSpPr/>
          <p:nvPr>
            <p:ph idx="2" type="chart"/>
          </p:nvPr>
        </p:nvSpPr>
        <p:spPr>
          <a:xfrm>
            <a:off x="755650" y="1079500"/>
            <a:ext cx="7559675" cy="31496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lvl="5"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lvl="6"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lvl="7"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lvl="8"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19" Type="http://schemas.openxmlformats.org/officeDocument/2006/relationships/theme" Target="../theme/theme2.xml"/><Relationship Id="rId6" Type="http://schemas.openxmlformats.org/officeDocument/2006/relationships/slideLayout" Target="../slideLayouts/slideLayout5.xml"/><Relationship Id="rId18" Type="http://schemas.openxmlformats.org/officeDocument/2006/relationships/slideLayout" Target="../slideLayouts/slideLayout17.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E8E8"/>
        </a:solidFill>
      </p:bgPr>
    </p:bg>
    <p:spTree>
      <p:nvGrpSpPr>
        <p:cNvPr id="5" name="Shape 5"/>
        <p:cNvGrpSpPr/>
        <p:nvPr/>
      </p:nvGrpSpPr>
      <p:grpSpPr>
        <a:xfrm>
          <a:off x="0" y="0"/>
          <a:ext cx="0" cy="0"/>
          <a:chOff x="0" y="0"/>
          <a:chExt cx="0" cy="0"/>
        </a:xfrm>
      </p:grpSpPr>
      <p:sp>
        <p:nvSpPr>
          <p:cNvPr id="6" name="Google Shape;6;p29"/>
          <p:cNvSpPr txBox="1"/>
          <p:nvPr>
            <p:ph idx="12" type="sldNum"/>
          </p:nvPr>
        </p:nvSpPr>
        <p:spPr>
          <a:xfrm>
            <a:off x="2" y="4568400"/>
            <a:ext cx="1114424" cy="572286"/>
          </a:xfrm>
          <a:prstGeom prst="rect">
            <a:avLst/>
          </a:prstGeom>
          <a:solidFill>
            <a:schemeClr val="lt1"/>
          </a:solidFill>
          <a:ln>
            <a:noFill/>
          </a:ln>
        </p:spPr>
        <p:txBody>
          <a:bodyPr anchorCtr="0" anchor="ctr" bIns="0" lIns="756000" spcFirstLastPara="1" rIns="0" wrap="square" tIns="0">
            <a:noAutofit/>
          </a:bodyPr>
          <a:lstStyle>
            <a:lvl1pPr indent="0" lvl="0"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1pPr>
            <a:lvl2pPr indent="0" lvl="1"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2pPr>
            <a:lvl3pPr indent="0" lvl="2"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3pPr>
            <a:lvl4pPr indent="0" lvl="3"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4pPr>
            <a:lvl5pPr indent="0" lvl="4"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5pPr>
            <a:lvl6pPr indent="0" lvl="5"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6pPr>
            <a:lvl7pPr indent="0" lvl="6"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7pPr>
            <a:lvl8pPr indent="0" lvl="7"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8pPr>
            <a:lvl9pPr indent="0" lvl="8" marL="0" marR="0" rtl="0" algn="l">
              <a:lnSpc>
                <a:spcPct val="100000"/>
              </a:lnSpc>
              <a:spcBef>
                <a:spcPts val="0"/>
              </a:spcBef>
              <a:spcAft>
                <a:spcPts val="0"/>
              </a:spcAft>
              <a:buClr>
                <a:srgbClr val="000000"/>
              </a:buClr>
              <a:buSzPts val="1100"/>
              <a:buFont typeface="Arial"/>
              <a:buNone/>
              <a:defRPr b="0" i="0" sz="11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
        <p:nvSpPr>
          <p:cNvPr id="7" name="Google Shape;7;p29"/>
          <p:cNvSpPr txBox="1"/>
          <p:nvPr>
            <p:ph type="title"/>
          </p:nvPr>
        </p:nvSpPr>
        <p:spPr>
          <a:xfrm>
            <a:off x="758825" y="518711"/>
            <a:ext cx="7556500" cy="539038"/>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dk1"/>
              </a:buClr>
              <a:buSzPts val="2700"/>
              <a:buFont typeface="Calibri"/>
              <a:buNone/>
              <a:defRPr b="1" i="0" sz="27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p29"/>
          <p:cNvSpPr txBox="1"/>
          <p:nvPr>
            <p:ph idx="1" type="body"/>
          </p:nvPr>
        </p:nvSpPr>
        <p:spPr>
          <a:xfrm>
            <a:off x="758824" y="1306642"/>
            <a:ext cx="7556501" cy="2922458"/>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950"/>
              <a:buFont typeface="Arial"/>
              <a:buNone/>
              <a:defRPr b="0" i="0" sz="195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chemeClr val="dk1"/>
              </a:buClr>
              <a:buSzPts val="1650"/>
              <a:buFont typeface="Arial"/>
              <a:buNone/>
              <a:defRPr b="0" i="0" sz="1650" u="none" cap="none" strike="noStrike">
                <a:solidFill>
                  <a:schemeClr val="dk1"/>
                </a:solidFill>
                <a:latin typeface="Calibri"/>
                <a:ea typeface="Calibri"/>
                <a:cs typeface="Calibri"/>
                <a:sym typeface="Calibri"/>
              </a:defRPr>
            </a:lvl2pPr>
            <a:lvl3pPr indent="-333375" lvl="2" marL="13716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3pPr>
            <a:lvl4pPr indent="-333375" lvl="3" marL="18288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4pPr>
            <a:lvl5pPr indent="-333375" lvl="4" marL="2286000" marR="0" rtl="0" algn="l">
              <a:lnSpc>
                <a:spcPct val="100000"/>
              </a:lnSpc>
              <a:spcBef>
                <a:spcPts val="0"/>
              </a:spcBef>
              <a:spcAft>
                <a:spcPts val="0"/>
              </a:spcAft>
              <a:buClr>
                <a:schemeClr val="dk1"/>
              </a:buClr>
              <a:buSzPts val="1650"/>
              <a:buFont typeface="Arial"/>
              <a:buChar char="•"/>
              <a:defRPr b="0" i="0" sz="1650" u="none" cap="none" strike="noStrike">
                <a:solidFill>
                  <a:schemeClr val="dk1"/>
                </a:solidFill>
                <a:latin typeface="Calibri"/>
                <a:ea typeface="Calibri"/>
                <a:cs typeface="Calibri"/>
                <a:sym typeface="Calibri"/>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Calibri"/>
                <a:ea typeface="Calibri"/>
                <a:cs typeface="Calibri"/>
                <a:sym typeface="Calibri"/>
              </a:defRPr>
            </a:lvl9pPr>
          </a:lstStyle>
          <a:p/>
        </p:txBody>
      </p:sp>
      <p:sp>
        <p:nvSpPr>
          <p:cNvPr id="9" name="Google Shape;9;p29"/>
          <p:cNvSpPr txBox="1"/>
          <p:nvPr>
            <p:ph idx="11" type="ftr"/>
          </p:nvPr>
        </p:nvSpPr>
        <p:spPr>
          <a:xfrm>
            <a:off x="1114426" y="4568400"/>
            <a:ext cx="7042149" cy="576000"/>
          </a:xfrm>
          <a:prstGeom prst="rect">
            <a:avLst/>
          </a:prstGeom>
          <a:solidFill>
            <a:schemeClr val="lt1"/>
          </a:solid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1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350" u="none" cap="none" strike="noStrike">
                <a:solidFill>
                  <a:schemeClr val="dk1"/>
                </a:solidFill>
                <a:latin typeface="Calibri"/>
                <a:ea typeface="Calibri"/>
                <a:cs typeface="Calibri"/>
                <a:sym typeface="Calibri"/>
              </a:defRPr>
            </a:lvl9pPr>
          </a:lstStyle>
          <a:p/>
        </p:txBody>
      </p:sp>
      <p:pic>
        <p:nvPicPr>
          <p:cNvPr id="10" name="Google Shape;10;p29"/>
          <p:cNvPicPr preferRelativeResize="0"/>
          <p:nvPr/>
        </p:nvPicPr>
        <p:blipFill rotWithShape="1">
          <a:blip r:embed="rId1">
            <a:alphaModFix/>
          </a:blip>
          <a:srcRect b="0" l="0" r="0" t="0"/>
          <a:stretch/>
        </p:blipFill>
        <p:spPr>
          <a:xfrm>
            <a:off x="8156575" y="4568825"/>
            <a:ext cx="987425" cy="5746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18.jpg"/><Relationship Id="rId5" Type="http://schemas.openxmlformats.org/officeDocument/2006/relationships/image" Target="../media/image22.png"/><Relationship Id="rId6"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jpg"/><Relationship Id="rId4" Type="http://schemas.openxmlformats.org/officeDocument/2006/relationships/image" Target="../media/image8.jpg"/><Relationship Id="rId5" Type="http://schemas.openxmlformats.org/officeDocument/2006/relationships/image" Target="../media/image7.jpg"/><Relationship Id="rId6"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12.png"/><Relationship Id="rId9" Type="http://schemas.openxmlformats.org/officeDocument/2006/relationships/hyperlink" Target="https://techcrunch.com/2025/07/01/googles-data-center-energy-use-doubled-in-four-years/" TargetMode="External"/><Relationship Id="rId5" Type="http://schemas.openxmlformats.org/officeDocument/2006/relationships/image" Target="../media/image15.png"/><Relationship Id="rId6" Type="http://schemas.openxmlformats.org/officeDocument/2006/relationships/hyperlink" Target="https://www.marketsandmarkets.com/Market-Reports/power-electronics-market-204729766.html" TargetMode="External"/><Relationship Id="rId7" Type="http://schemas.openxmlformats.org/officeDocument/2006/relationships/hyperlink" Target="https://sustainability.google/reports/google-2025-environmental-report/" TargetMode="External"/><Relationship Id="rId8" Type="http://schemas.openxmlformats.org/officeDocument/2006/relationships/hyperlink" Target="https://www.globalelectricity.org/data-centers-energy-consump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hyperlink" Target="https://deepmind.google/blog/how-alphachip-transformed-computer-chip-design/" TargetMode="External"/><Relationship Id="rId5"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ieeexplore.ieee.org/stamp/stamp.jsp?tp=&amp;arnumber=11153923" TargetMode="External"/><Relationship Id="rId4" Type="http://schemas.openxmlformats.org/officeDocument/2006/relationships/hyperlink" Target="https://ieeexplore.ieee.org/stamp/stamp.jsp?tp=&amp;arnumber=9576505" TargetMode="External"/><Relationship Id="rId9" Type="http://schemas.openxmlformats.org/officeDocument/2006/relationships/hyperlink" Target="https://webthesis.biblio.polito.it/28628/1/tesi.pdf" TargetMode="External"/><Relationship Id="rId5" Type="http://schemas.openxmlformats.org/officeDocument/2006/relationships/hyperlink" Target="https://shunzh.github.io/pdfs/fan-iccad-2021.pdf" TargetMode="External"/><Relationship Id="rId6" Type="http://schemas.openxmlformats.org/officeDocument/2006/relationships/hyperlink" Target="https://www.sciencedirect.com/science/article/pii/S136403212501264X" TargetMode="External"/><Relationship Id="rId7" Type="http://schemas.openxmlformats.org/officeDocument/2006/relationships/hyperlink" Target="https://researchwith.njit.edu/en/publications/from-specification-to-topology-automatic-power-converter-design-v/" TargetMode="External"/><Relationship Id="rId8" Type="http://schemas.openxmlformats.org/officeDocument/2006/relationships/hyperlink" Target="https://www.sciencedirect.com/science/article/pii/S00457906250019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0.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1" name="Shape 131"/>
        <p:cNvGrpSpPr/>
        <p:nvPr/>
      </p:nvGrpSpPr>
      <p:grpSpPr>
        <a:xfrm>
          <a:off x="0" y="0"/>
          <a:ext cx="0" cy="0"/>
          <a:chOff x="0" y="0"/>
          <a:chExt cx="0" cy="0"/>
        </a:xfrm>
      </p:grpSpPr>
      <p:sp>
        <p:nvSpPr>
          <p:cNvPr id="132" name="Google Shape;132;p1"/>
          <p:cNvSpPr txBox="1"/>
          <p:nvPr>
            <p:ph type="ctrTitle"/>
          </p:nvPr>
        </p:nvSpPr>
        <p:spPr>
          <a:xfrm>
            <a:off x="-1" y="756049"/>
            <a:ext cx="9143999" cy="792000"/>
          </a:xfrm>
          <a:prstGeom prst="rect">
            <a:avLst/>
          </a:prstGeom>
          <a:solidFill>
            <a:schemeClr val="dk2">
              <a:alpha val="50196"/>
            </a:schemeClr>
          </a:solidFill>
          <a:ln>
            <a:noFill/>
          </a:ln>
        </p:spPr>
        <p:txBody>
          <a:bodyPr anchorCtr="0" anchor="ctr" bIns="0" lIns="756000" spcFirstLastPara="1" rIns="1962000" wrap="square" tIns="0">
            <a:noAutofit/>
          </a:bodyPr>
          <a:lstStyle/>
          <a:p>
            <a:pPr indent="0" lvl="0" marL="0" rtl="0" algn="l">
              <a:lnSpc>
                <a:spcPct val="104545"/>
              </a:lnSpc>
              <a:spcBef>
                <a:spcPts val="0"/>
              </a:spcBef>
              <a:spcAft>
                <a:spcPts val="0"/>
              </a:spcAft>
              <a:buClr>
                <a:schemeClr val="lt1"/>
              </a:buClr>
              <a:buSzPts val="2200"/>
              <a:buFont typeface="Calibri"/>
              <a:buNone/>
            </a:pPr>
            <a:r>
              <a:rPr lang="en-GB"/>
              <a:t>AI-driven power electronics design for next-gen lithography</a:t>
            </a:r>
            <a:endParaRPr/>
          </a:p>
        </p:txBody>
      </p:sp>
      <p:sp>
        <p:nvSpPr>
          <p:cNvPr id="133" name="Google Shape;133;p1"/>
          <p:cNvSpPr txBox="1"/>
          <p:nvPr>
            <p:ph idx="1" type="subTitle"/>
          </p:nvPr>
        </p:nvSpPr>
        <p:spPr>
          <a:xfrm>
            <a:off x="-1" y="1548000"/>
            <a:ext cx="9143999" cy="288000"/>
          </a:xfrm>
          <a:prstGeom prst="rect">
            <a:avLst/>
          </a:prstGeom>
          <a:solidFill>
            <a:schemeClr val="dk2">
              <a:alpha val="50196"/>
            </a:schemeClr>
          </a:solidFill>
          <a:ln>
            <a:noFill/>
          </a:ln>
        </p:spPr>
        <p:txBody>
          <a:bodyPr anchorCtr="0" anchor="t" bIns="0" lIns="756000" spcFirstLastPara="1" rIns="1962000" wrap="square" tIns="18000">
            <a:noAutofit/>
          </a:bodyPr>
          <a:lstStyle/>
          <a:p>
            <a:pPr indent="0" lvl="0" marL="0" rtl="0" algn="l">
              <a:lnSpc>
                <a:spcPct val="100000"/>
              </a:lnSpc>
              <a:spcBef>
                <a:spcPts val="0"/>
              </a:spcBef>
              <a:spcAft>
                <a:spcPts val="0"/>
              </a:spcAft>
              <a:buClr>
                <a:schemeClr val="lt1"/>
              </a:buClr>
              <a:buSzPts val="1000"/>
              <a:buNone/>
            </a:pPr>
            <a:r>
              <a:rPr lang="en-GB"/>
              <a:t>March 31st, 2026</a:t>
            </a:r>
            <a:endParaRPr/>
          </a:p>
        </p:txBody>
      </p:sp>
      <p:sp>
        <p:nvSpPr>
          <p:cNvPr id="134" name="Google Shape;134;p1"/>
          <p:cNvSpPr txBox="1"/>
          <p:nvPr>
            <p:ph idx="2" type="body"/>
          </p:nvPr>
        </p:nvSpPr>
        <p:spPr>
          <a:xfrm>
            <a:off x="0" y="3990975"/>
            <a:ext cx="9143999" cy="576263"/>
          </a:xfrm>
          <a:prstGeom prst="rect">
            <a:avLst/>
          </a:prstGeom>
          <a:solidFill>
            <a:srgbClr val="000000">
              <a:alpha val="25098"/>
            </a:srgbClr>
          </a:solidFill>
          <a:ln>
            <a:noFill/>
          </a:ln>
        </p:spPr>
        <p:txBody>
          <a:bodyPr anchorCtr="0" anchor="ctr" bIns="0" lIns="756000" spcFirstLastPara="1" rIns="0" wrap="square" tIns="0">
            <a:noAutofit/>
          </a:bodyPr>
          <a:lstStyle/>
          <a:p>
            <a:pPr indent="0" lvl="0" marL="0" rtl="0" algn="l">
              <a:lnSpc>
                <a:spcPct val="100000"/>
              </a:lnSpc>
              <a:spcBef>
                <a:spcPts val="0"/>
              </a:spcBef>
              <a:spcAft>
                <a:spcPts val="0"/>
              </a:spcAft>
              <a:buClr>
                <a:schemeClr val="lt1"/>
              </a:buClr>
              <a:buSzPts val="1100"/>
              <a:buNone/>
            </a:pPr>
            <a:r>
              <a:rPr lang="en-GB"/>
              <a:t>5ARIP10 Team Internship</a:t>
            </a:r>
            <a:endParaRPr/>
          </a:p>
        </p:txBody>
      </p:sp>
      <p:sp>
        <p:nvSpPr>
          <p:cNvPr id="135" name="Google Shape;135;p1"/>
          <p:cNvSpPr txBox="1"/>
          <p:nvPr>
            <p:ph idx="3" type="body"/>
          </p:nvPr>
        </p:nvSpPr>
        <p:spPr>
          <a:xfrm>
            <a:off x="-6667" y="4567237"/>
            <a:ext cx="7347267" cy="576263"/>
          </a:xfrm>
          <a:prstGeom prst="rect">
            <a:avLst/>
          </a:prstGeom>
          <a:solidFill>
            <a:srgbClr val="FFFFFF"/>
          </a:solidFill>
          <a:ln>
            <a:noFill/>
          </a:ln>
        </p:spPr>
        <p:txBody>
          <a:bodyPr anchorCtr="0" anchor="ctr" bIns="0" lIns="756000" spcFirstLastPara="1" rIns="0" wrap="square" tIns="0">
            <a:noAutofit/>
          </a:bodyPr>
          <a:lstStyle/>
          <a:p>
            <a:pPr indent="0" lvl="0" marL="0" rtl="0" algn="l">
              <a:lnSpc>
                <a:spcPct val="100000"/>
              </a:lnSpc>
              <a:spcBef>
                <a:spcPts val="0"/>
              </a:spcBef>
              <a:spcAft>
                <a:spcPts val="0"/>
              </a:spcAft>
              <a:buClr>
                <a:schemeClr val="dk1"/>
              </a:buClr>
              <a:buSzPts val="1100"/>
              <a:buNone/>
            </a:pPr>
            <a:r>
              <a:rPr lang="en-GB"/>
              <a:t>EE department, Power electronics group</a:t>
            </a:r>
            <a:endParaRPr/>
          </a:p>
        </p:txBody>
      </p:sp>
      <p:pic>
        <p:nvPicPr>
          <p:cNvPr id="136" name="Google Shape;136;p1"/>
          <p:cNvPicPr preferRelativeResize="0"/>
          <p:nvPr/>
        </p:nvPicPr>
        <p:blipFill rotWithShape="1">
          <a:blip r:embed="rId4">
            <a:alphaModFix/>
          </a:blip>
          <a:srcRect b="0" l="0" r="0" t="0"/>
          <a:stretch/>
        </p:blipFill>
        <p:spPr>
          <a:xfrm>
            <a:off x="5560250" y="4605000"/>
            <a:ext cx="1780349" cy="5007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0" name="Shape 140"/>
        <p:cNvGrpSpPr/>
        <p:nvPr/>
      </p:nvGrpSpPr>
      <p:grpSpPr>
        <a:xfrm>
          <a:off x="0" y="0"/>
          <a:ext cx="0" cy="0"/>
          <a:chOff x="0" y="0"/>
          <a:chExt cx="0" cy="0"/>
        </a:xfrm>
      </p:grpSpPr>
      <p:sp>
        <p:nvSpPr>
          <p:cNvPr id="141" name="Google Shape;141;p2"/>
          <p:cNvSpPr txBox="1"/>
          <p:nvPr>
            <p:ph type="title"/>
          </p:nvPr>
        </p:nvSpPr>
        <p:spPr>
          <a:xfrm>
            <a:off x="758825" y="518711"/>
            <a:ext cx="7556400" cy="53910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SzPts val="1800"/>
              <a:buNone/>
            </a:pPr>
            <a:r>
              <a:rPr lang="en-GB"/>
              <a:t>What will be covered in this meeting?</a:t>
            </a:r>
            <a:endParaRPr/>
          </a:p>
        </p:txBody>
      </p:sp>
      <p:sp>
        <p:nvSpPr>
          <p:cNvPr id="142" name="Google Shape;142;p2"/>
          <p:cNvSpPr txBox="1"/>
          <p:nvPr>
            <p:ph idx="1" type="body"/>
          </p:nvPr>
        </p:nvSpPr>
        <p:spPr>
          <a:xfrm>
            <a:off x="758824" y="1306642"/>
            <a:ext cx="7556400" cy="2922600"/>
          </a:xfrm>
          <a:prstGeom prst="rect">
            <a:avLst/>
          </a:prstGeom>
          <a:noFill/>
          <a:ln>
            <a:noFill/>
          </a:ln>
        </p:spPr>
        <p:txBody>
          <a:bodyPr anchorCtr="0" anchor="t" bIns="0" lIns="0" spcFirstLastPara="1" rIns="0" wrap="square" tIns="0">
            <a:noAutofit/>
          </a:bodyPr>
          <a:lstStyle/>
          <a:p>
            <a:pPr indent="-352425" lvl="0" marL="457200" rtl="0" algn="l">
              <a:lnSpc>
                <a:spcPct val="100000"/>
              </a:lnSpc>
              <a:spcBef>
                <a:spcPts val="0"/>
              </a:spcBef>
              <a:spcAft>
                <a:spcPts val="0"/>
              </a:spcAft>
              <a:buSzPts val="1950"/>
              <a:buChar char="-"/>
            </a:pPr>
            <a:r>
              <a:rPr lang="en-GB"/>
              <a:t>Brief introduction to the project and team</a:t>
            </a:r>
            <a:endParaRPr/>
          </a:p>
          <a:p>
            <a:pPr indent="-352425" lvl="0" marL="457200" rtl="0" algn="l">
              <a:lnSpc>
                <a:spcPct val="100000"/>
              </a:lnSpc>
              <a:spcBef>
                <a:spcPts val="0"/>
              </a:spcBef>
              <a:spcAft>
                <a:spcPts val="0"/>
              </a:spcAft>
              <a:buSzPts val="1950"/>
              <a:buChar char="-"/>
            </a:pPr>
            <a:r>
              <a:rPr lang="en-GB"/>
              <a:t>The progress made so far on this project</a:t>
            </a:r>
            <a:endParaRPr/>
          </a:p>
          <a:p>
            <a:pPr indent="-342900" lvl="1" marL="914400" rtl="0" algn="l">
              <a:lnSpc>
                <a:spcPct val="100000"/>
              </a:lnSpc>
              <a:spcBef>
                <a:spcPts val="0"/>
              </a:spcBef>
              <a:spcAft>
                <a:spcPts val="0"/>
              </a:spcAft>
              <a:buSzPts val="1800"/>
              <a:buChar char="-"/>
            </a:pPr>
            <a:r>
              <a:rPr lang="en-GB"/>
              <a:t>Milestones</a:t>
            </a:r>
            <a:endParaRPr/>
          </a:p>
          <a:p>
            <a:pPr indent="-342900" lvl="1" marL="914400" rtl="0" algn="l">
              <a:lnSpc>
                <a:spcPct val="100000"/>
              </a:lnSpc>
              <a:spcBef>
                <a:spcPts val="0"/>
              </a:spcBef>
              <a:spcAft>
                <a:spcPts val="0"/>
              </a:spcAft>
              <a:buSzPts val="1800"/>
              <a:buChar char="-"/>
            </a:pPr>
            <a:r>
              <a:rPr lang="en-GB"/>
              <a:t>Pipeline</a:t>
            </a:r>
            <a:endParaRPr/>
          </a:p>
          <a:p>
            <a:pPr indent="-352425" lvl="0" marL="457200" rtl="0" algn="l">
              <a:lnSpc>
                <a:spcPct val="100000"/>
              </a:lnSpc>
              <a:spcBef>
                <a:spcPts val="0"/>
              </a:spcBef>
              <a:spcAft>
                <a:spcPts val="0"/>
              </a:spcAft>
              <a:buSzPts val="1950"/>
              <a:buChar char="-"/>
            </a:pPr>
            <a:r>
              <a:rPr lang="en-GB"/>
              <a:t>Next steps to be taken</a:t>
            </a:r>
            <a:endParaRPr/>
          </a:p>
          <a:p>
            <a:pPr indent="-352425" lvl="0" marL="457200" rtl="0" algn="l">
              <a:lnSpc>
                <a:spcPct val="100000"/>
              </a:lnSpc>
              <a:spcBef>
                <a:spcPts val="0"/>
              </a:spcBef>
              <a:spcAft>
                <a:spcPts val="0"/>
              </a:spcAft>
              <a:buSzPts val="1950"/>
              <a:buChar char="-"/>
            </a:pPr>
            <a:r>
              <a:rPr lang="en-GB"/>
              <a:t>Questions</a:t>
            </a:r>
            <a:endParaRPr/>
          </a:p>
          <a:p>
            <a:pPr indent="0" lvl="0" marL="0" rtl="0" algn="l">
              <a:lnSpc>
                <a:spcPct val="100000"/>
              </a:lnSpc>
              <a:spcBef>
                <a:spcPts val="0"/>
              </a:spcBef>
              <a:spcAft>
                <a:spcPts val="0"/>
              </a:spcAft>
              <a:buSzPts val="1950"/>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6" name="Shape 146"/>
        <p:cNvGrpSpPr/>
        <p:nvPr/>
      </p:nvGrpSpPr>
      <p:grpSpPr>
        <a:xfrm>
          <a:off x="0" y="0"/>
          <a:ext cx="0" cy="0"/>
          <a:chOff x="0" y="0"/>
          <a:chExt cx="0" cy="0"/>
        </a:xfrm>
      </p:grpSpPr>
      <p:sp>
        <p:nvSpPr>
          <p:cNvPr id="147" name="Google Shape;147;p3"/>
          <p:cNvSpPr txBox="1"/>
          <p:nvPr>
            <p:ph type="title"/>
          </p:nvPr>
        </p:nvSpPr>
        <p:spPr>
          <a:xfrm>
            <a:off x="675375" y="2031098"/>
            <a:ext cx="7556400" cy="5820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sz="2400"/>
              <a:t>Brief introduction to the project and team</a:t>
            </a:r>
            <a:endParaRPr sz="24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51" name="Shape 151"/>
        <p:cNvGrpSpPr/>
        <p:nvPr/>
      </p:nvGrpSpPr>
      <p:grpSpPr>
        <a:xfrm>
          <a:off x="0" y="0"/>
          <a:ext cx="0" cy="0"/>
          <a:chOff x="0" y="0"/>
          <a:chExt cx="0" cy="0"/>
        </a:xfrm>
      </p:grpSpPr>
      <p:sp>
        <p:nvSpPr>
          <p:cNvPr id="152" name="Google Shape;152;p4"/>
          <p:cNvSpPr txBox="1"/>
          <p:nvPr>
            <p:ph type="title"/>
          </p:nvPr>
        </p:nvSpPr>
        <p:spPr>
          <a:xfrm>
            <a:off x="758825" y="518711"/>
            <a:ext cx="7556400" cy="53910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SzPts val="1800"/>
              <a:buNone/>
            </a:pPr>
            <a:r>
              <a:rPr lang="en-GB"/>
              <a:t>Who are we?</a:t>
            </a:r>
            <a:endParaRPr/>
          </a:p>
        </p:txBody>
      </p:sp>
      <p:sp>
        <p:nvSpPr>
          <p:cNvPr id="153" name="Google Shape;153;p4"/>
          <p:cNvSpPr txBox="1"/>
          <p:nvPr>
            <p:ph idx="3" type="body"/>
          </p:nvPr>
        </p:nvSpPr>
        <p:spPr>
          <a:xfrm>
            <a:off x="621573" y="1159150"/>
            <a:ext cx="1759500" cy="6366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650"/>
              <a:buNone/>
            </a:pPr>
            <a:r>
              <a:rPr lang="en-GB"/>
              <a:t>Dong, </a:t>
            </a:r>
            <a:r>
              <a:rPr b="1" lang="en-GB"/>
              <a:t>Zijian</a:t>
            </a:r>
            <a:r>
              <a:rPr lang="en-GB"/>
              <a:t>,</a:t>
            </a:r>
            <a:endParaRPr/>
          </a:p>
          <a:p>
            <a:pPr indent="0" lvl="0" marL="0" rtl="0" algn="l">
              <a:lnSpc>
                <a:spcPct val="100000"/>
              </a:lnSpc>
              <a:spcBef>
                <a:spcPts val="0"/>
              </a:spcBef>
              <a:spcAft>
                <a:spcPts val="0"/>
              </a:spcAft>
              <a:buSzPts val="1650"/>
              <a:buNone/>
            </a:pPr>
            <a:r>
              <a:rPr lang="en-GB"/>
              <a:t>AI Major</a:t>
            </a:r>
            <a:endParaRPr/>
          </a:p>
        </p:txBody>
      </p:sp>
      <p:pic>
        <p:nvPicPr>
          <p:cNvPr id="154" name="Google Shape;154;p4" title="Screenshot 2026-03-24 at 21.52.36.png"/>
          <p:cNvPicPr preferRelativeResize="0"/>
          <p:nvPr>
            <p:ph idx="6" type="pic"/>
          </p:nvPr>
        </p:nvPicPr>
        <p:blipFill rotWithShape="1">
          <a:blip r:embed="rId3">
            <a:alphaModFix/>
          </a:blip>
          <a:srcRect b="0" l="9016" r="9024" t="0"/>
          <a:stretch/>
        </p:blipFill>
        <p:spPr>
          <a:xfrm>
            <a:off x="621573" y="1799592"/>
            <a:ext cx="1762201" cy="2625300"/>
          </a:xfrm>
          <a:prstGeom prst="rect">
            <a:avLst/>
          </a:prstGeom>
          <a:noFill/>
          <a:ln>
            <a:noFill/>
          </a:ln>
        </p:spPr>
      </p:pic>
      <p:sp>
        <p:nvSpPr>
          <p:cNvPr id="155" name="Google Shape;155;p4"/>
          <p:cNvSpPr txBox="1"/>
          <p:nvPr>
            <p:ph idx="3" type="body"/>
          </p:nvPr>
        </p:nvSpPr>
        <p:spPr>
          <a:xfrm>
            <a:off x="2693298" y="1159150"/>
            <a:ext cx="1759500" cy="6366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650"/>
              <a:buNone/>
            </a:pPr>
            <a:r>
              <a:rPr lang="en-GB"/>
              <a:t>Hogendoorn, </a:t>
            </a:r>
            <a:r>
              <a:rPr b="1" lang="en-GB"/>
              <a:t>Chris</a:t>
            </a:r>
            <a:r>
              <a:rPr lang="en-GB"/>
              <a:t>,</a:t>
            </a:r>
            <a:endParaRPr/>
          </a:p>
          <a:p>
            <a:pPr indent="0" lvl="0" marL="0" rtl="0" algn="l">
              <a:lnSpc>
                <a:spcPct val="100000"/>
              </a:lnSpc>
              <a:spcBef>
                <a:spcPts val="0"/>
              </a:spcBef>
              <a:spcAft>
                <a:spcPts val="0"/>
              </a:spcAft>
              <a:buSzPts val="1650"/>
              <a:buNone/>
            </a:pPr>
            <a:r>
              <a:rPr lang="en-GB"/>
              <a:t>ME Major	</a:t>
            </a:r>
            <a:endParaRPr/>
          </a:p>
        </p:txBody>
      </p:sp>
      <p:pic>
        <p:nvPicPr>
          <p:cNvPr id="156" name="Google Shape;156;p4" title="P1050892.JPG"/>
          <p:cNvPicPr preferRelativeResize="0"/>
          <p:nvPr>
            <p:ph idx="6" type="pic"/>
          </p:nvPr>
        </p:nvPicPr>
        <p:blipFill rotWithShape="1">
          <a:blip r:embed="rId4">
            <a:alphaModFix/>
          </a:blip>
          <a:srcRect b="348" l="0" r="0" t="357"/>
          <a:stretch/>
        </p:blipFill>
        <p:spPr>
          <a:xfrm>
            <a:off x="2693298" y="1799592"/>
            <a:ext cx="1762201" cy="2625300"/>
          </a:xfrm>
          <a:prstGeom prst="rect">
            <a:avLst/>
          </a:prstGeom>
          <a:noFill/>
          <a:ln>
            <a:noFill/>
          </a:ln>
        </p:spPr>
      </p:pic>
      <p:sp>
        <p:nvSpPr>
          <p:cNvPr id="157" name="Google Shape;157;p4"/>
          <p:cNvSpPr txBox="1"/>
          <p:nvPr>
            <p:ph idx="3" type="body"/>
          </p:nvPr>
        </p:nvSpPr>
        <p:spPr>
          <a:xfrm>
            <a:off x="4863648" y="1159150"/>
            <a:ext cx="1759500" cy="6366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650"/>
              <a:buNone/>
            </a:pPr>
            <a:r>
              <a:rPr lang="en-GB"/>
              <a:t>Kumas, </a:t>
            </a:r>
            <a:r>
              <a:rPr b="1" lang="en-GB"/>
              <a:t>Atakan</a:t>
            </a:r>
            <a:r>
              <a:rPr lang="en-GB"/>
              <a:t>,</a:t>
            </a:r>
            <a:endParaRPr/>
          </a:p>
          <a:p>
            <a:pPr indent="0" lvl="0" marL="0" rtl="0" algn="l">
              <a:lnSpc>
                <a:spcPct val="100000"/>
              </a:lnSpc>
              <a:spcBef>
                <a:spcPts val="0"/>
              </a:spcBef>
              <a:spcAft>
                <a:spcPts val="0"/>
              </a:spcAft>
              <a:buSzPts val="1650"/>
              <a:buNone/>
            </a:pPr>
            <a:r>
              <a:rPr lang="en-GB"/>
              <a:t>CS Major</a:t>
            </a:r>
            <a:endParaRPr/>
          </a:p>
        </p:txBody>
      </p:sp>
      <p:pic>
        <p:nvPicPr>
          <p:cNvPr id="158" name="Google Shape;158;p4" title="Magnet.me profielfoto.png"/>
          <p:cNvPicPr preferRelativeResize="0"/>
          <p:nvPr>
            <p:ph idx="6" type="pic"/>
          </p:nvPr>
        </p:nvPicPr>
        <p:blipFill rotWithShape="1">
          <a:blip r:embed="rId5">
            <a:alphaModFix/>
          </a:blip>
          <a:srcRect b="318" l="0" r="0" t="318"/>
          <a:stretch/>
        </p:blipFill>
        <p:spPr>
          <a:xfrm>
            <a:off x="4863648" y="1799592"/>
            <a:ext cx="1762201" cy="2625300"/>
          </a:xfrm>
          <a:prstGeom prst="rect">
            <a:avLst/>
          </a:prstGeom>
          <a:noFill/>
          <a:ln>
            <a:noFill/>
          </a:ln>
        </p:spPr>
      </p:pic>
      <p:sp>
        <p:nvSpPr>
          <p:cNvPr id="159" name="Google Shape;159;p4"/>
          <p:cNvSpPr txBox="1"/>
          <p:nvPr>
            <p:ph idx="3" type="body"/>
          </p:nvPr>
        </p:nvSpPr>
        <p:spPr>
          <a:xfrm>
            <a:off x="7033998" y="1159150"/>
            <a:ext cx="1759500" cy="6366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650"/>
              <a:buNone/>
            </a:pPr>
            <a:r>
              <a:rPr lang="en-GB"/>
              <a:t>Shan, </a:t>
            </a:r>
            <a:r>
              <a:rPr b="1" lang="en-GB"/>
              <a:t>Yuhao</a:t>
            </a:r>
            <a:r>
              <a:rPr lang="en-GB"/>
              <a:t>,</a:t>
            </a:r>
            <a:endParaRPr/>
          </a:p>
          <a:p>
            <a:pPr indent="0" lvl="0" marL="0" rtl="0" algn="l">
              <a:lnSpc>
                <a:spcPct val="100000"/>
              </a:lnSpc>
              <a:spcBef>
                <a:spcPts val="0"/>
              </a:spcBef>
              <a:spcAft>
                <a:spcPts val="0"/>
              </a:spcAft>
              <a:buSzPts val="1650"/>
              <a:buNone/>
            </a:pPr>
            <a:r>
              <a:rPr lang="en-GB"/>
              <a:t>ME Major</a:t>
            </a:r>
            <a:endParaRPr/>
          </a:p>
        </p:txBody>
      </p:sp>
      <p:pic>
        <p:nvPicPr>
          <p:cNvPr id="160" name="Google Shape;160;p4" title="f7bbf3d03abfa7d30db83c4c55b1a668.JPG"/>
          <p:cNvPicPr preferRelativeResize="0"/>
          <p:nvPr>
            <p:ph idx="6" type="pic"/>
          </p:nvPr>
        </p:nvPicPr>
        <p:blipFill rotWithShape="1">
          <a:blip r:embed="rId6">
            <a:alphaModFix/>
          </a:blip>
          <a:srcRect b="0" l="6830" r="6830" t="0"/>
          <a:stretch/>
        </p:blipFill>
        <p:spPr>
          <a:xfrm>
            <a:off x="7033998" y="1799592"/>
            <a:ext cx="1762200" cy="26253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5"/>
          <p:cNvSpPr txBox="1"/>
          <p:nvPr/>
        </p:nvSpPr>
        <p:spPr>
          <a:xfrm>
            <a:off x="402143" y="1070952"/>
            <a:ext cx="4677323"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rgbClr val="000000"/>
                </a:solidFill>
                <a:latin typeface="Arial"/>
                <a:ea typeface="Arial"/>
                <a:cs typeface="Arial"/>
                <a:sym typeface="Arial"/>
              </a:rPr>
              <a:t>What do data centers, electric vehicles, and smartphones have in common?</a:t>
            </a:r>
            <a:endParaRPr b="0" i="0" sz="1400" u="none" cap="none" strike="noStrike">
              <a:solidFill>
                <a:srgbClr val="000000"/>
              </a:solidFill>
              <a:latin typeface="Arial"/>
              <a:ea typeface="Arial"/>
              <a:cs typeface="Arial"/>
              <a:sym typeface="Arial"/>
            </a:endParaRPr>
          </a:p>
        </p:txBody>
      </p:sp>
      <p:sp>
        <p:nvSpPr>
          <p:cNvPr id="166" name="Google Shape;166;p5"/>
          <p:cNvSpPr txBox="1"/>
          <p:nvPr/>
        </p:nvSpPr>
        <p:spPr>
          <a:xfrm>
            <a:off x="402143" y="2580486"/>
            <a:ext cx="457200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400" u="none" cap="none" strike="noStrike">
                <a:solidFill>
                  <a:srgbClr val="000000"/>
                </a:solidFill>
                <a:latin typeface="Arial"/>
                <a:ea typeface="Arial"/>
                <a:cs typeface="Arial"/>
                <a:sym typeface="Arial"/>
              </a:rPr>
              <a:t>How long does it take to design a power electronics system?</a:t>
            </a:r>
            <a:endParaRPr/>
          </a:p>
        </p:txBody>
      </p:sp>
      <p:pic>
        <p:nvPicPr>
          <p:cNvPr descr="6 Types of Electrical Plugs and Their Uses | Family Handyman" id="167" name="Google Shape;167;p5"/>
          <p:cNvPicPr preferRelativeResize="0"/>
          <p:nvPr/>
        </p:nvPicPr>
        <p:blipFill rotWithShape="1">
          <a:blip r:embed="rId3">
            <a:alphaModFix/>
          </a:blip>
          <a:srcRect b="0" l="0" r="0" t="0"/>
          <a:stretch/>
        </p:blipFill>
        <p:spPr>
          <a:xfrm>
            <a:off x="4572000" y="337165"/>
            <a:ext cx="1719587" cy="1719587"/>
          </a:xfrm>
          <a:prstGeom prst="rect">
            <a:avLst/>
          </a:prstGeom>
          <a:noFill/>
          <a:ln>
            <a:noFill/>
          </a:ln>
        </p:spPr>
      </p:pic>
      <p:pic>
        <p:nvPicPr>
          <p:cNvPr descr="7 Funny Electronics ideas | funny, short funny quotes, math quotes" id="168" name="Google Shape;168;p5"/>
          <p:cNvPicPr preferRelativeResize="0"/>
          <p:nvPr/>
        </p:nvPicPr>
        <p:blipFill rotWithShape="1">
          <a:blip r:embed="rId4">
            <a:alphaModFix/>
          </a:blip>
          <a:srcRect b="5916" l="0" r="0" t="3126"/>
          <a:stretch/>
        </p:blipFill>
        <p:spPr>
          <a:xfrm>
            <a:off x="6738012" y="53110"/>
            <a:ext cx="2264459" cy="1900611"/>
          </a:xfrm>
          <a:prstGeom prst="rect">
            <a:avLst/>
          </a:prstGeom>
          <a:noFill/>
          <a:ln>
            <a:noFill/>
          </a:ln>
        </p:spPr>
      </p:pic>
      <p:sp>
        <p:nvSpPr>
          <p:cNvPr id="169" name="Google Shape;169;p5"/>
          <p:cNvSpPr txBox="1"/>
          <p:nvPr/>
        </p:nvSpPr>
        <p:spPr>
          <a:xfrm>
            <a:off x="402143" y="1645944"/>
            <a:ext cx="4572000"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GB" sz="1400" u="none" cap="none" strike="noStrike">
                <a:solidFill>
                  <a:srgbClr val="000000"/>
                </a:solidFill>
                <a:latin typeface="Arial"/>
                <a:ea typeface="Arial"/>
                <a:cs typeface="Arial"/>
                <a:sym typeface="Arial"/>
              </a:rPr>
              <a:t>Answer</a:t>
            </a:r>
            <a:r>
              <a:rPr b="0" i="0" lang="en-GB" sz="1400" u="none" cap="none" strike="noStrike">
                <a:solidFill>
                  <a:srgbClr val="000000"/>
                </a:solidFill>
                <a:latin typeface="Arial"/>
                <a:ea typeface="Arial"/>
                <a:cs typeface="Arial"/>
                <a:sym typeface="Arial"/>
              </a:rPr>
              <a:t>: They all need </a:t>
            </a:r>
            <a:r>
              <a:rPr b="1" i="0" lang="en-GB" sz="1400" u="none" cap="none" strike="noStrike">
                <a:solidFill>
                  <a:srgbClr val="000000"/>
                </a:solidFill>
                <a:latin typeface="Arial"/>
                <a:ea typeface="Arial"/>
                <a:cs typeface="Arial"/>
                <a:sym typeface="Arial"/>
              </a:rPr>
              <a:t>power</a:t>
            </a:r>
            <a:r>
              <a:rPr b="0" i="0" lang="en-GB" sz="1400" u="none" cap="none" strike="noStrike">
                <a:solidFill>
                  <a:srgbClr val="000000"/>
                </a:solidFill>
                <a:latin typeface="Arial"/>
                <a:ea typeface="Arial"/>
                <a:cs typeface="Arial"/>
                <a:sym typeface="Arial"/>
              </a:rPr>
              <a:t>!</a:t>
            </a:r>
            <a:endParaRPr/>
          </a:p>
        </p:txBody>
      </p:sp>
      <p:sp>
        <p:nvSpPr>
          <p:cNvPr id="170" name="Google Shape;170;p5"/>
          <p:cNvSpPr txBox="1"/>
          <p:nvPr/>
        </p:nvSpPr>
        <p:spPr>
          <a:xfrm>
            <a:off x="402143" y="3315414"/>
            <a:ext cx="4572000"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GB" sz="1400" u="none" cap="none" strike="noStrike">
                <a:solidFill>
                  <a:srgbClr val="000000"/>
                </a:solidFill>
                <a:latin typeface="Arial"/>
                <a:ea typeface="Arial"/>
                <a:cs typeface="Arial"/>
                <a:sym typeface="Arial"/>
              </a:rPr>
              <a:t>Answer</a:t>
            </a:r>
            <a:r>
              <a:rPr b="0" i="0" lang="en-GB" sz="1400" u="none" cap="none" strike="noStrike">
                <a:solidFill>
                  <a:srgbClr val="000000"/>
                </a:solidFill>
                <a:latin typeface="Arial"/>
                <a:ea typeface="Arial"/>
                <a:cs typeface="Arial"/>
                <a:sym typeface="Arial"/>
              </a:rPr>
              <a:t>: Weeks to </a:t>
            </a:r>
            <a:r>
              <a:rPr b="1" i="0" lang="en-GB" sz="1400" u="none" cap="none" strike="noStrike">
                <a:solidFill>
                  <a:srgbClr val="FF0000"/>
                </a:solidFill>
                <a:latin typeface="Arial"/>
                <a:ea typeface="Arial"/>
                <a:cs typeface="Arial"/>
                <a:sym typeface="Arial"/>
              </a:rPr>
              <a:t>months</a:t>
            </a:r>
            <a:r>
              <a:rPr b="0" i="0" lang="en-GB" sz="1400" u="none" cap="none" strike="noStrike">
                <a:solidFill>
                  <a:srgbClr val="000000"/>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pic>
        <p:nvPicPr>
          <p:cNvPr descr="Angry Crazy Designer Yelling And Crumpling Paper On His Workplace Stock  Photo - Download Image Now - iStock" id="171" name="Google Shape;171;p5"/>
          <p:cNvPicPr preferRelativeResize="0"/>
          <p:nvPr/>
        </p:nvPicPr>
        <p:blipFill rotWithShape="1">
          <a:blip r:embed="rId5">
            <a:alphaModFix/>
          </a:blip>
          <a:srcRect b="0" l="0" r="0" t="0"/>
          <a:stretch/>
        </p:blipFill>
        <p:spPr>
          <a:xfrm>
            <a:off x="4838300" y="2896106"/>
            <a:ext cx="1719588" cy="1146392"/>
          </a:xfrm>
          <a:prstGeom prst="rect">
            <a:avLst/>
          </a:prstGeom>
          <a:noFill/>
          <a:ln>
            <a:noFill/>
          </a:ln>
        </p:spPr>
      </p:pic>
      <p:pic>
        <p:nvPicPr>
          <p:cNvPr descr="A tired and depressed designer in the messy workroom" id="172" name="Google Shape;172;p5"/>
          <p:cNvPicPr preferRelativeResize="0"/>
          <p:nvPr/>
        </p:nvPicPr>
        <p:blipFill rotWithShape="1">
          <a:blip r:embed="rId6">
            <a:alphaModFix/>
          </a:blip>
          <a:srcRect b="0" l="0" r="0" t="0"/>
          <a:stretch/>
        </p:blipFill>
        <p:spPr>
          <a:xfrm>
            <a:off x="6681462" y="2681337"/>
            <a:ext cx="1863359" cy="1883708"/>
          </a:xfrm>
          <a:prstGeom prst="rect">
            <a:avLst/>
          </a:prstGeom>
          <a:noFill/>
          <a:ln>
            <a:noFill/>
          </a:ln>
        </p:spPr>
      </p:pic>
      <p:sp>
        <p:nvSpPr>
          <p:cNvPr id="173" name="Google Shape;173;p5"/>
          <p:cNvSpPr txBox="1"/>
          <p:nvPr/>
        </p:nvSpPr>
        <p:spPr>
          <a:xfrm>
            <a:off x="194283" y="295904"/>
            <a:ext cx="2736486" cy="461665"/>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GB" sz="2400" u="none" cap="none" strike="noStrike">
                <a:solidFill>
                  <a:srgbClr val="000000"/>
                </a:solidFill>
                <a:latin typeface="Arial"/>
                <a:ea typeface="Arial"/>
                <a:cs typeface="Arial"/>
                <a:sym typeface="Arial"/>
              </a:rPr>
              <a:t>What’s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
                                        </p:tgtEl>
                                        <p:attrNameLst>
                                          <p:attrName>style.visibility</p:attrName>
                                        </p:attrNameLst>
                                      </p:cBhvr>
                                      <p:to>
                                        <p:strVal val="visible"/>
                                      </p:to>
                                    </p:set>
                                    <p:animEffect filter="fade" transition="in">
                                      <p:cBhvr>
                                        <p:cTn dur="500"/>
                                        <p:tgtEl>
                                          <p:spTgt spid="169"/>
                                        </p:tgtEl>
                                      </p:cBhvr>
                                    </p:animEffect>
                                  </p:childTnLst>
                                </p:cTn>
                              </p:par>
                              <p:par>
                                <p:cTn fill="hold" nodeType="withEffect" presetClass="entr" presetID="10" presetSubtype="0">
                                  <p:stCondLst>
                                    <p:cond delay="0"/>
                                  </p:stCondLst>
                                  <p:childTnLst>
                                    <p:set>
                                      <p:cBhvr>
                                        <p:cTn dur="1" fill="hold">
                                          <p:stCondLst>
                                            <p:cond delay="0"/>
                                          </p:stCondLst>
                                        </p:cTn>
                                        <p:tgtEl>
                                          <p:spTgt spid="167"/>
                                        </p:tgtEl>
                                        <p:attrNameLst>
                                          <p:attrName>style.visibility</p:attrName>
                                        </p:attrNameLst>
                                      </p:cBhvr>
                                      <p:to>
                                        <p:strVal val="visible"/>
                                      </p:to>
                                    </p:set>
                                    <p:animEffect filter="fade" transition="in">
                                      <p:cBhvr>
                                        <p:cTn dur="500"/>
                                        <p:tgtEl>
                                          <p:spTgt spid="167"/>
                                        </p:tgtEl>
                                      </p:cBhvr>
                                    </p:animEffect>
                                  </p:childTnLst>
                                </p:cTn>
                              </p:par>
                              <p:par>
                                <p:cTn fill="hold" nodeType="withEffect" presetClass="entr" presetID="10" presetSubtype="0">
                                  <p:stCondLst>
                                    <p:cond delay="0"/>
                                  </p:stCondLst>
                                  <p:childTnLst>
                                    <p:set>
                                      <p:cBhvr>
                                        <p:cTn dur="1" fill="hold">
                                          <p:stCondLst>
                                            <p:cond delay="0"/>
                                          </p:stCondLst>
                                        </p:cTn>
                                        <p:tgtEl>
                                          <p:spTgt spid="168"/>
                                        </p:tgtEl>
                                        <p:attrNameLst>
                                          <p:attrName>style.visibility</p:attrName>
                                        </p:attrNameLst>
                                      </p:cBhvr>
                                      <p:to>
                                        <p:strVal val="visible"/>
                                      </p:to>
                                    </p:set>
                                    <p:animEffect filter="fade" transition="in">
                                      <p:cBhvr>
                                        <p:cTn dur="500"/>
                                        <p:tgtEl>
                                          <p:spTgt spid="1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6"/>
                                        </p:tgtEl>
                                        <p:attrNameLst>
                                          <p:attrName>style.visibility</p:attrName>
                                        </p:attrNameLst>
                                      </p:cBhvr>
                                      <p:to>
                                        <p:strVal val="visible"/>
                                      </p:to>
                                    </p:set>
                                    <p:animEffect filter="fade" transition="in">
                                      <p:cBhvr>
                                        <p:cTn dur="500"/>
                                        <p:tgtEl>
                                          <p:spTgt spid="1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0"/>
                                        </p:tgtEl>
                                        <p:attrNameLst>
                                          <p:attrName>style.visibility</p:attrName>
                                        </p:attrNameLst>
                                      </p:cBhvr>
                                      <p:to>
                                        <p:strVal val="visible"/>
                                      </p:to>
                                    </p:set>
                                    <p:animEffect filter="fade" transition="in">
                                      <p:cBhvr>
                                        <p:cTn dur="500"/>
                                        <p:tgtEl>
                                          <p:spTgt spid="170"/>
                                        </p:tgtEl>
                                      </p:cBhvr>
                                    </p:animEffect>
                                  </p:childTnLst>
                                </p:cTn>
                              </p:par>
                              <p:par>
                                <p:cTn fill="hold" nodeType="withEffect" presetClass="entr" presetID="10" presetSubtype="0">
                                  <p:stCondLst>
                                    <p:cond delay="0"/>
                                  </p:stCondLst>
                                  <p:childTnLst>
                                    <p:set>
                                      <p:cBhvr>
                                        <p:cTn dur="1" fill="hold">
                                          <p:stCondLst>
                                            <p:cond delay="0"/>
                                          </p:stCondLst>
                                        </p:cTn>
                                        <p:tgtEl>
                                          <p:spTgt spid="171"/>
                                        </p:tgtEl>
                                        <p:attrNameLst>
                                          <p:attrName>style.visibility</p:attrName>
                                        </p:attrNameLst>
                                      </p:cBhvr>
                                      <p:to>
                                        <p:strVal val="visible"/>
                                      </p:to>
                                    </p:set>
                                    <p:animEffect filter="fade" transition="in">
                                      <p:cBhvr>
                                        <p:cTn dur="500"/>
                                        <p:tgtEl>
                                          <p:spTgt spid="171"/>
                                        </p:tgtEl>
                                      </p:cBhvr>
                                    </p:animEffect>
                                  </p:childTnLst>
                                </p:cTn>
                              </p:par>
                              <p:par>
                                <p:cTn fill="hold" nodeType="withEffect" presetClass="entr" presetID="10" presetSubtype="0">
                                  <p:stCondLst>
                                    <p:cond delay="0"/>
                                  </p:stCondLst>
                                  <p:childTnLst>
                                    <p:set>
                                      <p:cBhvr>
                                        <p:cTn dur="1" fill="hold">
                                          <p:stCondLst>
                                            <p:cond delay="0"/>
                                          </p:stCondLst>
                                        </p:cTn>
                                        <p:tgtEl>
                                          <p:spTgt spid="172"/>
                                        </p:tgtEl>
                                        <p:attrNameLst>
                                          <p:attrName>style.visibility</p:attrName>
                                        </p:attrNameLst>
                                      </p:cBhvr>
                                      <p:to>
                                        <p:strVal val="visible"/>
                                      </p:to>
                                    </p:set>
                                    <p:animEffect filter="fade" transition="in">
                                      <p:cBhvr>
                                        <p:cTn dur="500"/>
                                        <p:tgtEl>
                                          <p:spTgt spid="1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6"/>
          <p:cNvSpPr txBox="1"/>
          <p:nvPr>
            <p:ph idx="1" type="body"/>
          </p:nvPr>
        </p:nvSpPr>
        <p:spPr>
          <a:xfrm>
            <a:off x="223236" y="334651"/>
            <a:ext cx="4943010" cy="407260"/>
          </a:xfrm>
          <a:prstGeom prst="rect">
            <a:avLst/>
          </a:prstGeom>
          <a:noFill/>
          <a:ln>
            <a:noFill/>
          </a:ln>
        </p:spPr>
        <p:txBody>
          <a:bodyPr anchorCtr="0" anchor="t" bIns="0" lIns="0" spcFirstLastPara="1" rIns="0" wrap="square" tIns="0">
            <a:noAutofit/>
          </a:bodyPr>
          <a:lstStyle/>
          <a:p>
            <a:pPr indent="-228600" lvl="0" marL="457200" rtl="0" algn="l">
              <a:lnSpc>
                <a:spcPct val="100000"/>
              </a:lnSpc>
              <a:spcBef>
                <a:spcPts val="0"/>
              </a:spcBef>
              <a:spcAft>
                <a:spcPts val="0"/>
              </a:spcAft>
              <a:buClr>
                <a:schemeClr val="dk1"/>
              </a:buClr>
              <a:buSzPts val="1950"/>
              <a:buNone/>
            </a:pPr>
            <a:r>
              <a:rPr b="1" lang="en-GB" sz="2400"/>
              <a:t>How does this impact companies?</a:t>
            </a:r>
            <a:endParaRPr/>
          </a:p>
        </p:txBody>
      </p:sp>
      <p:sp>
        <p:nvSpPr>
          <p:cNvPr id="179" name="Google Shape;179;p6"/>
          <p:cNvSpPr txBox="1"/>
          <p:nvPr/>
        </p:nvSpPr>
        <p:spPr>
          <a:xfrm>
            <a:off x="408741" y="1251216"/>
            <a:ext cx="4572000" cy="73866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GB" sz="1400" u="none" cap="none" strike="noStrike">
                <a:solidFill>
                  <a:srgbClr val="000000"/>
                </a:solidFill>
                <a:latin typeface="Arial"/>
                <a:ea typeface="Arial"/>
                <a:cs typeface="Arial"/>
                <a:sym typeface="Arial"/>
              </a:rPr>
              <a:t>Answer</a:t>
            </a:r>
            <a:r>
              <a:rPr b="0" i="0" lang="en-GB" sz="1400" u="none" cap="none" strike="noStrike">
                <a:solidFill>
                  <a:srgbClr val="000000"/>
                </a:solidFill>
                <a:latin typeface="Arial"/>
                <a:ea typeface="Arial"/>
                <a:cs typeface="Arial"/>
                <a:sym typeface="Arial"/>
              </a:rPr>
              <a:t>:</a:t>
            </a:r>
            <a:endParaRPr/>
          </a:p>
          <a:p>
            <a:pPr indent="-342900" lvl="0" marL="342900" marR="0" rtl="0" algn="l">
              <a:lnSpc>
                <a:spcPct val="100000"/>
              </a:lnSpc>
              <a:spcBef>
                <a:spcPts val="0"/>
              </a:spcBef>
              <a:spcAft>
                <a:spcPts val="0"/>
              </a:spcAft>
              <a:buClr>
                <a:srgbClr val="000000"/>
              </a:buClr>
              <a:buSzPts val="1400"/>
              <a:buFont typeface="Arial"/>
              <a:buAutoNum type="arabicPeriod"/>
            </a:pPr>
            <a:r>
              <a:rPr b="0" i="0" lang="en-GB" sz="1400" u="none" cap="none" strike="noStrike">
                <a:solidFill>
                  <a:srgbClr val="000000"/>
                </a:solidFill>
                <a:latin typeface="Arial"/>
                <a:ea typeface="Arial"/>
                <a:cs typeface="Arial"/>
                <a:sym typeface="Arial"/>
              </a:rPr>
              <a:t>Deployment delay</a:t>
            </a:r>
            <a:endParaRPr/>
          </a:p>
          <a:p>
            <a:pPr indent="-342900" lvl="0" marL="342900" marR="0" rtl="0" algn="l">
              <a:lnSpc>
                <a:spcPct val="100000"/>
              </a:lnSpc>
              <a:spcBef>
                <a:spcPts val="0"/>
              </a:spcBef>
              <a:spcAft>
                <a:spcPts val="0"/>
              </a:spcAft>
              <a:buClr>
                <a:srgbClr val="000000"/>
              </a:buClr>
              <a:buSzPts val="1400"/>
              <a:buFont typeface="Arial"/>
              <a:buAutoNum type="arabicPeriod"/>
            </a:pPr>
            <a:r>
              <a:rPr b="0" i="0" lang="en-GB" sz="1400" u="none" cap="none" strike="noStrike">
                <a:solidFill>
                  <a:srgbClr val="000000"/>
                </a:solidFill>
                <a:latin typeface="Arial"/>
                <a:ea typeface="Arial"/>
                <a:cs typeface="Arial"/>
                <a:sym typeface="Arial"/>
              </a:rPr>
              <a:t>Excess energy consumption</a:t>
            </a:r>
            <a:endParaRPr b="0" i="0" sz="1400" u="none" cap="none" strike="noStrike">
              <a:solidFill>
                <a:srgbClr val="000000"/>
              </a:solidFill>
              <a:latin typeface="Arial"/>
              <a:ea typeface="Arial"/>
              <a:cs typeface="Arial"/>
              <a:sym typeface="Arial"/>
            </a:endParaRPr>
          </a:p>
        </p:txBody>
      </p:sp>
      <p:pic>
        <p:nvPicPr>
          <p:cNvPr id="180" name="Google Shape;180;p6"/>
          <p:cNvPicPr preferRelativeResize="0"/>
          <p:nvPr/>
        </p:nvPicPr>
        <p:blipFill rotWithShape="1">
          <a:blip r:embed="rId3">
            <a:alphaModFix/>
          </a:blip>
          <a:srcRect b="0" l="0" r="0" t="0"/>
          <a:stretch/>
        </p:blipFill>
        <p:spPr>
          <a:xfrm>
            <a:off x="3802971" y="783108"/>
            <a:ext cx="5221175" cy="902277"/>
          </a:xfrm>
          <a:prstGeom prst="rect">
            <a:avLst/>
          </a:prstGeom>
          <a:noFill/>
          <a:ln>
            <a:noFill/>
          </a:ln>
        </p:spPr>
      </p:pic>
      <p:pic>
        <p:nvPicPr>
          <p:cNvPr id="181" name="Google Shape;181;p6"/>
          <p:cNvPicPr preferRelativeResize="0"/>
          <p:nvPr/>
        </p:nvPicPr>
        <p:blipFill rotWithShape="1">
          <a:blip r:embed="rId4">
            <a:alphaModFix/>
          </a:blip>
          <a:srcRect b="0" l="0" r="0" t="0"/>
          <a:stretch/>
        </p:blipFill>
        <p:spPr>
          <a:xfrm>
            <a:off x="3350269" y="1740870"/>
            <a:ext cx="5539062" cy="812797"/>
          </a:xfrm>
          <a:prstGeom prst="rect">
            <a:avLst/>
          </a:prstGeom>
          <a:noFill/>
          <a:ln>
            <a:noFill/>
          </a:ln>
        </p:spPr>
      </p:pic>
      <p:pic>
        <p:nvPicPr>
          <p:cNvPr id="182" name="Google Shape;182;p6"/>
          <p:cNvPicPr preferRelativeResize="0"/>
          <p:nvPr/>
        </p:nvPicPr>
        <p:blipFill rotWithShape="1">
          <a:blip r:embed="rId5">
            <a:alphaModFix/>
          </a:blip>
          <a:srcRect b="0" l="0" r="0" t="0"/>
          <a:stretch/>
        </p:blipFill>
        <p:spPr>
          <a:xfrm>
            <a:off x="672006" y="2729475"/>
            <a:ext cx="4887971" cy="1727557"/>
          </a:xfrm>
          <a:prstGeom prst="rect">
            <a:avLst/>
          </a:prstGeom>
          <a:noFill/>
          <a:ln>
            <a:noFill/>
          </a:ln>
        </p:spPr>
      </p:pic>
      <p:sp>
        <p:nvSpPr>
          <p:cNvPr id="183" name="Google Shape;183;p6"/>
          <p:cNvSpPr txBox="1"/>
          <p:nvPr/>
        </p:nvSpPr>
        <p:spPr>
          <a:xfrm>
            <a:off x="129261" y="4512517"/>
            <a:ext cx="4572000" cy="95410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GB" sz="800" u="sng" cap="none" strike="noStrike">
                <a:solidFill>
                  <a:srgbClr val="000000"/>
                </a:solidFill>
                <a:latin typeface="Arial"/>
                <a:ea typeface="Arial"/>
                <a:cs typeface="Arial"/>
                <a:sym typeface="Arial"/>
                <a:hlinkClick r:id="rId6">
                  <a:extLst>
                    <a:ext uri="{A12FA001-AC4F-418D-AE19-62706E023703}">
                      <ahyp:hlinkClr val="tx"/>
                    </a:ext>
                  </a:extLst>
                </a:hlinkClick>
              </a:rPr>
              <a:t>https://www.marketsandmarkets.com/Market-Reports/power-electronics-market-204729766.html</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800" u="sng" cap="none" strike="noStrike">
                <a:solidFill>
                  <a:srgbClr val="000000"/>
                </a:solidFill>
                <a:latin typeface="Arial"/>
                <a:ea typeface="Arial"/>
                <a:cs typeface="Arial"/>
                <a:sym typeface="Arial"/>
                <a:hlinkClick r:id="rId7">
                  <a:extLst>
                    <a:ext uri="{A12FA001-AC4F-418D-AE19-62706E023703}">
                      <ahyp:hlinkClr val="tx"/>
                    </a:ext>
                  </a:extLst>
                </a:hlinkClick>
              </a:rPr>
              <a:t>https://sustainability.google/reports/google-2025-environmental-report/</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800" u="sng" cap="none" strike="noStrike">
                <a:solidFill>
                  <a:srgbClr val="000000"/>
                </a:solidFill>
                <a:latin typeface="Arial"/>
                <a:ea typeface="Arial"/>
                <a:cs typeface="Arial"/>
                <a:sym typeface="Arial"/>
                <a:hlinkClick r:id="rId8">
                  <a:extLst>
                    <a:ext uri="{A12FA001-AC4F-418D-AE19-62706E023703}">
                      <ahyp:hlinkClr val="tx"/>
                    </a:ext>
                  </a:extLst>
                </a:hlinkClick>
              </a:rPr>
              <a:t>https://www.globalelectricity.org/data-centers-energy-consumption/</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GB" sz="800" u="sng" cap="none" strike="noStrike">
                <a:solidFill>
                  <a:srgbClr val="000000"/>
                </a:solidFill>
                <a:latin typeface="Arial"/>
                <a:ea typeface="Arial"/>
                <a:cs typeface="Arial"/>
                <a:sym typeface="Arial"/>
                <a:hlinkClick r:id="rId9">
                  <a:extLst>
                    <a:ext uri="{A12FA001-AC4F-418D-AE19-62706E023703}">
                      <ahyp:hlinkClr val="tx"/>
                    </a:ext>
                  </a:extLst>
                </a:hlinkClick>
              </a:rPr>
              <a:t>https://techcrunch.com/2025/07/01/googles-data-center-energy-use-doubled-in-four-years/</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8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9"/>
                                        </p:tgtEl>
                                        <p:attrNameLst>
                                          <p:attrName>style.visibility</p:attrName>
                                        </p:attrNameLst>
                                      </p:cBhvr>
                                      <p:to>
                                        <p:strVal val="visible"/>
                                      </p:to>
                                    </p:set>
                                    <p:animEffect filter="fade" transition="in">
                                      <p:cBhvr>
                                        <p:cTn dur="500"/>
                                        <p:tgtEl>
                                          <p:spTgt spid="179"/>
                                        </p:tgtEl>
                                      </p:cBhvr>
                                    </p:animEffect>
                                  </p:childTnLst>
                                </p:cTn>
                              </p:par>
                              <p:par>
                                <p:cTn fill="hold" nodeType="withEffect" presetClass="entr" presetID="10" presetSubtype="0">
                                  <p:stCondLst>
                                    <p:cond delay="0"/>
                                  </p:stCondLst>
                                  <p:childTnLst>
                                    <p:set>
                                      <p:cBhvr>
                                        <p:cTn dur="1" fill="hold">
                                          <p:stCondLst>
                                            <p:cond delay="0"/>
                                          </p:stCondLst>
                                        </p:cTn>
                                        <p:tgtEl>
                                          <p:spTgt spid="180"/>
                                        </p:tgtEl>
                                        <p:attrNameLst>
                                          <p:attrName>style.visibility</p:attrName>
                                        </p:attrNameLst>
                                      </p:cBhvr>
                                      <p:to>
                                        <p:strVal val="visible"/>
                                      </p:to>
                                    </p:set>
                                    <p:animEffect filter="fade" transition="in">
                                      <p:cBhvr>
                                        <p:cTn dur="500"/>
                                        <p:tgtEl>
                                          <p:spTgt spid="180"/>
                                        </p:tgtEl>
                                      </p:cBhvr>
                                    </p:animEffect>
                                  </p:childTnLst>
                                </p:cTn>
                              </p:par>
                              <p:par>
                                <p:cTn fill="hold" nodeType="withEffect" presetClass="entr" presetID="10" presetSubtype="0">
                                  <p:stCondLst>
                                    <p:cond delay="0"/>
                                  </p:stCondLst>
                                  <p:childTnLst>
                                    <p:set>
                                      <p:cBhvr>
                                        <p:cTn dur="1" fill="hold">
                                          <p:stCondLst>
                                            <p:cond delay="0"/>
                                          </p:stCondLst>
                                        </p:cTn>
                                        <p:tgtEl>
                                          <p:spTgt spid="181"/>
                                        </p:tgtEl>
                                        <p:attrNameLst>
                                          <p:attrName>style.visibility</p:attrName>
                                        </p:attrNameLst>
                                      </p:cBhvr>
                                      <p:to>
                                        <p:strVal val="visible"/>
                                      </p:to>
                                    </p:set>
                                    <p:animEffect filter="fade" transition="in">
                                      <p:cBhvr>
                                        <p:cTn dur="500"/>
                                        <p:tgtEl>
                                          <p:spTgt spid="181"/>
                                        </p:tgtEl>
                                      </p:cBhvr>
                                    </p:animEffect>
                                  </p:childTnLst>
                                </p:cTn>
                              </p:par>
                              <p:par>
                                <p:cTn fill="hold" nodeType="withEffect" presetClass="entr" presetID="10" presetSubtype="0">
                                  <p:stCondLst>
                                    <p:cond delay="0"/>
                                  </p:stCondLst>
                                  <p:childTnLst>
                                    <p:set>
                                      <p:cBhvr>
                                        <p:cTn dur="1" fill="hold">
                                          <p:stCondLst>
                                            <p:cond delay="0"/>
                                          </p:stCondLst>
                                        </p:cTn>
                                        <p:tgtEl>
                                          <p:spTgt spid="182"/>
                                        </p:tgtEl>
                                        <p:attrNameLst>
                                          <p:attrName>style.visibility</p:attrName>
                                        </p:attrNameLst>
                                      </p:cBhvr>
                                      <p:to>
                                        <p:strVal val="visible"/>
                                      </p:to>
                                    </p:set>
                                    <p:animEffect filter="fade" transition="in">
                                      <p:cBhvr>
                                        <p:cTn dur="500"/>
                                        <p:tgtEl>
                                          <p:spTgt spid="182"/>
                                        </p:tgtEl>
                                      </p:cBhvr>
                                    </p:animEffect>
                                  </p:childTnLst>
                                </p:cTn>
                              </p:par>
                              <p:par>
                                <p:cTn fill="hold" nodeType="withEffect" presetClass="entr" presetID="10" presetSubtype="0">
                                  <p:stCondLst>
                                    <p:cond delay="0"/>
                                  </p:stCondLst>
                                  <p:childTnLst>
                                    <p:set>
                                      <p:cBhvr>
                                        <p:cTn dur="1" fill="hold">
                                          <p:stCondLst>
                                            <p:cond delay="0"/>
                                          </p:stCondLst>
                                        </p:cTn>
                                        <p:tgtEl>
                                          <p:spTgt spid="183"/>
                                        </p:tgtEl>
                                        <p:attrNameLst>
                                          <p:attrName>style.visibility</p:attrName>
                                        </p:attrNameLst>
                                      </p:cBhvr>
                                      <p:to>
                                        <p:strVal val="visible"/>
                                      </p:to>
                                    </p:set>
                                    <p:animEffect filter="fade" transition="in">
                                      <p:cBhvr>
                                        <p:cTn dur="500"/>
                                        <p:tgtEl>
                                          <p:spTgt spid="1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7"/>
          <p:cNvSpPr txBox="1"/>
          <p:nvPr>
            <p:ph idx="2" type="body"/>
          </p:nvPr>
        </p:nvSpPr>
        <p:spPr>
          <a:xfrm>
            <a:off x="4125729" y="997903"/>
            <a:ext cx="5018271" cy="523220"/>
          </a:xfrm>
          <a:prstGeom prst="rect">
            <a:avLst/>
          </a:prstGeom>
          <a:noFill/>
          <a:ln>
            <a:noFill/>
          </a:ln>
        </p:spPr>
        <p:txBody>
          <a:bodyPr anchorCtr="0" anchor="t" bIns="0" lIns="0" spcFirstLastPara="1" rIns="0" wrap="square" tIns="0">
            <a:noAutofit/>
          </a:bodyPr>
          <a:lstStyle/>
          <a:p>
            <a:pPr indent="0" lvl="0" marL="104775" rtl="0" algn="l">
              <a:lnSpc>
                <a:spcPct val="100000"/>
              </a:lnSpc>
              <a:spcBef>
                <a:spcPts val="0"/>
              </a:spcBef>
              <a:spcAft>
                <a:spcPts val="0"/>
              </a:spcAft>
              <a:buSzPts val="1950"/>
              <a:buNone/>
            </a:pPr>
            <a:r>
              <a:rPr lang="en-GB" sz="1800"/>
              <a:t>A: Develop an AI-driven system that is able to explore PE topologies </a:t>
            </a:r>
            <a:endParaRPr/>
          </a:p>
          <a:p>
            <a:pPr indent="-285750" lvl="0" marL="390525" rtl="0" algn="l">
              <a:lnSpc>
                <a:spcPct val="100000"/>
              </a:lnSpc>
              <a:spcBef>
                <a:spcPts val="0"/>
              </a:spcBef>
              <a:spcAft>
                <a:spcPts val="0"/>
              </a:spcAft>
              <a:buSzPts val="1950"/>
              <a:buFont typeface="Noto Sans Symbols"/>
              <a:buChar char="🡺"/>
            </a:pPr>
            <a:r>
              <a:rPr lang="en-GB" sz="1800"/>
              <a:t>accelerates circuit design process</a:t>
            </a:r>
            <a:endParaRPr/>
          </a:p>
          <a:p>
            <a:pPr indent="-285750" lvl="0" marL="390525" rtl="0" algn="l">
              <a:lnSpc>
                <a:spcPct val="100000"/>
              </a:lnSpc>
              <a:spcBef>
                <a:spcPts val="0"/>
              </a:spcBef>
              <a:spcAft>
                <a:spcPts val="0"/>
              </a:spcAft>
              <a:buSzPts val="1950"/>
              <a:buFont typeface="Noto Sans Symbols"/>
              <a:buChar char="🡺"/>
            </a:pPr>
            <a:r>
              <a:rPr lang="en-GB" sz="1800"/>
              <a:t>swift response to demand</a:t>
            </a:r>
            <a:endParaRPr/>
          </a:p>
        </p:txBody>
      </p:sp>
      <p:sp>
        <p:nvSpPr>
          <p:cNvPr id="189" name="Google Shape;189;p7"/>
          <p:cNvSpPr txBox="1"/>
          <p:nvPr/>
        </p:nvSpPr>
        <p:spPr>
          <a:xfrm>
            <a:off x="99954" y="271296"/>
            <a:ext cx="3832594" cy="461665"/>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GB" sz="2400" u="none" cap="none" strike="noStrike">
                <a:solidFill>
                  <a:srgbClr val="000000"/>
                </a:solidFill>
                <a:latin typeface="Arial"/>
                <a:ea typeface="Arial"/>
                <a:cs typeface="Arial"/>
                <a:sym typeface="Arial"/>
              </a:rPr>
              <a:t>How do we solve this?</a:t>
            </a:r>
            <a:endParaRPr/>
          </a:p>
        </p:txBody>
      </p:sp>
      <p:sp>
        <p:nvSpPr>
          <p:cNvPr id="190" name="Google Shape;190;p7"/>
          <p:cNvSpPr txBox="1"/>
          <p:nvPr/>
        </p:nvSpPr>
        <p:spPr>
          <a:xfrm>
            <a:off x="293929" y="936348"/>
            <a:ext cx="3445733" cy="64633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1800" u="none" cap="none" strike="noStrike">
                <a:solidFill>
                  <a:srgbClr val="000000"/>
                </a:solidFill>
                <a:latin typeface="Arial"/>
                <a:ea typeface="Arial"/>
                <a:cs typeface="Arial"/>
                <a:sym typeface="Arial"/>
              </a:rPr>
              <a:t>Q: What if it the design process could be done in hours?</a:t>
            </a:r>
            <a:endParaRPr/>
          </a:p>
        </p:txBody>
      </p:sp>
      <p:pic>
        <p:nvPicPr>
          <p:cNvPr id="191" name="Google Shape;191;p7"/>
          <p:cNvPicPr preferRelativeResize="0"/>
          <p:nvPr/>
        </p:nvPicPr>
        <p:blipFill rotWithShape="1">
          <a:blip r:embed="rId3">
            <a:alphaModFix/>
          </a:blip>
          <a:srcRect b="0" l="0" r="0" t="0"/>
          <a:stretch/>
        </p:blipFill>
        <p:spPr>
          <a:xfrm>
            <a:off x="373889" y="1873145"/>
            <a:ext cx="3285812" cy="1195786"/>
          </a:xfrm>
          <a:prstGeom prst="rect">
            <a:avLst/>
          </a:prstGeom>
          <a:noFill/>
          <a:ln>
            <a:noFill/>
          </a:ln>
        </p:spPr>
      </p:pic>
      <p:sp>
        <p:nvSpPr>
          <p:cNvPr id="192" name="Google Shape;192;p7"/>
          <p:cNvSpPr txBox="1"/>
          <p:nvPr/>
        </p:nvSpPr>
        <p:spPr>
          <a:xfrm>
            <a:off x="99954" y="4793870"/>
            <a:ext cx="4572000" cy="2154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GB" sz="800" u="sng" cap="none" strike="noStrike">
                <a:solidFill>
                  <a:srgbClr val="000000"/>
                </a:solidFill>
                <a:latin typeface="Arial"/>
                <a:ea typeface="Arial"/>
                <a:cs typeface="Arial"/>
                <a:sym typeface="Arial"/>
                <a:hlinkClick r:id="rId4">
                  <a:extLst>
                    <a:ext uri="{A12FA001-AC4F-418D-AE19-62706E023703}">
                      <ahyp:hlinkClr val="tx"/>
                    </a:ext>
                  </a:extLst>
                </a:hlinkClick>
              </a:rPr>
              <a:t>https://deepmind.google/blog/how-alphachip-transformed-computer-chip-design/</a:t>
            </a:r>
            <a:endParaRPr b="0" i="0" sz="800" u="none" cap="none" strike="noStrike">
              <a:solidFill>
                <a:srgbClr val="000000"/>
              </a:solidFill>
              <a:latin typeface="Arial"/>
              <a:ea typeface="Arial"/>
              <a:cs typeface="Arial"/>
              <a:sym typeface="Arial"/>
            </a:endParaRPr>
          </a:p>
        </p:txBody>
      </p:sp>
      <p:pic>
        <p:nvPicPr>
          <p:cNvPr descr="Close-up photograph of Google's Tensor Processing Unit (TPU) Trillium." id="193" name="Google Shape;193;p7"/>
          <p:cNvPicPr preferRelativeResize="0"/>
          <p:nvPr/>
        </p:nvPicPr>
        <p:blipFill rotWithShape="1">
          <a:blip r:embed="rId5">
            <a:alphaModFix/>
          </a:blip>
          <a:srcRect b="0" l="0" r="0" t="0"/>
          <a:stretch/>
        </p:blipFill>
        <p:spPr>
          <a:xfrm>
            <a:off x="427891" y="3296148"/>
            <a:ext cx="2391508" cy="1345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0"/>
                                        </p:tgtEl>
                                        <p:attrNameLst>
                                          <p:attrName>style.visibility</p:attrName>
                                        </p:attrNameLst>
                                      </p:cBhvr>
                                      <p:to>
                                        <p:strVal val="visible"/>
                                      </p:to>
                                    </p:set>
                                    <p:animEffect filter="fade" transition="in">
                                      <p:cBhvr>
                                        <p:cTn dur="500"/>
                                        <p:tgtEl>
                                          <p:spTgt spid="190"/>
                                        </p:tgtEl>
                                      </p:cBhvr>
                                    </p:animEffect>
                                  </p:childTnLst>
                                </p:cTn>
                              </p:par>
                              <p:par>
                                <p:cTn fill="hold" nodeType="withEffect" presetClass="entr" presetID="10" presetSubtype="0">
                                  <p:stCondLst>
                                    <p:cond delay="0"/>
                                  </p:stCondLst>
                                  <p:childTnLst>
                                    <p:set>
                                      <p:cBhvr>
                                        <p:cTn dur="1" fill="hold">
                                          <p:stCondLst>
                                            <p:cond delay="0"/>
                                          </p:stCondLst>
                                        </p:cTn>
                                        <p:tgtEl>
                                          <p:spTgt spid="191"/>
                                        </p:tgtEl>
                                        <p:attrNameLst>
                                          <p:attrName>style.visibility</p:attrName>
                                        </p:attrNameLst>
                                      </p:cBhvr>
                                      <p:to>
                                        <p:strVal val="visible"/>
                                      </p:to>
                                    </p:set>
                                    <p:animEffect filter="fade" transition="in">
                                      <p:cBhvr>
                                        <p:cTn dur="500"/>
                                        <p:tgtEl>
                                          <p:spTgt spid="191"/>
                                        </p:tgtEl>
                                      </p:cBhvr>
                                    </p:animEffect>
                                  </p:childTnLst>
                                </p:cTn>
                              </p:par>
                              <p:par>
                                <p:cTn fill="hold" nodeType="withEffect" presetClass="entr" presetID="10" presetSubtype="0">
                                  <p:stCondLst>
                                    <p:cond delay="0"/>
                                  </p:stCondLst>
                                  <p:childTnLst>
                                    <p:set>
                                      <p:cBhvr>
                                        <p:cTn dur="1" fill="hold">
                                          <p:stCondLst>
                                            <p:cond delay="0"/>
                                          </p:stCondLst>
                                        </p:cTn>
                                        <p:tgtEl>
                                          <p:spTgt spid="193"/>
                                        </p:tgtEl>
                                        <p:attrNameLst>
                                          <p:attrName>style.visibility</p:attrName>
                                        </p:attrNameLst>
                                      </p:cBhvr>
                                      <p:to>
                                        <p:strVal val="visible"/>
                                      </p:to>
                                    </p:set>
                                    <p:animEffect filter="fade" transition="in">
                                      <p:cBhvr>
                                        <p:cTn dur="500"/>
                                        <p:tgtEl>
                                          <p:spTgt spid="1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0" st="0"/>
                                            </p:txEl>
                                          </p:spTgt>
                                        </p:tgtEl>
                                        <p:attrNameLst>
                                          <p:attrName>style.visibility</p:attrName>
                                        </p:attrNameLst>
                                      </p:cBhvr>
                                      <p:to>
                                        <p:strVal val="visible"/>
                                      </p:to>
                                    </p:set>
                                    <p:animEffect filter="fade" transition="in">
                                      <p:cBhvr>
                                        <p:cTn dur="500"/>
                                        <p:tgtEl>
                                          <p:spTgt spid="18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1" st="1"/>
                                            </p:txEl>
                                          </p:spTgt>
                                        </p:tgtEl>
                                        <p:attrNameLst>
                                          <p:attrName>style.visibility</p:attrName>
                                        </p:attrNameLst>
                                      </p:cBhvr>
                                      <p:to>
                                        <p:strVal val="visible"/>
                                      </p:to>
                                    </p:set>
                                    <p:animEffect filter="fade" transition="in">
                                      <p:cBhvr>
                                        <p:cTn dur="500"/>
                                        <p:tgtEl>
                                          <p:spTgt spid="18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2" st="2"/>
                                            </p:txEl>
                                          </p:spTgt>
                                        </p:tgtEl>
                                        <p:attrNameLst>
                                          <p:attrName>style.visibility</p:attrName>
                                        </p:attrNameLst>
                                      </p:cBhvr>
                                      <p:to>
                                        <p:strVal val="visible"/>
                                      </p:to>
                                    </p:set>
                                    <p:animEffect filter="fade" transition="in">
                                      <p:cBhvr>
                                        <p:cTn dur="500"/>
                                        <p:tgtEl>
                                          <p:spTgt spid="188">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8"/>
          <p:cNvSpPr txBox="1"/>
          <p:nvPr>
            <p:ph type="title"/>
          </p:nvPr>
        </p:nvSpPr>
        <p:spPr>
          <a:xfrm>
            <a:off x="758825" y="518711"/>
            <a:ext cx="7556400" cy="539100"/>
          </a:xfrm>
          <a:prstGeom prst="rect">
            <a:avLst/>
          </a:prstGeom>
          <a:noFill/>
          <a:ln>
            <a:noFill/>
          </a:ln>
        </p:spPr>
        <p:txBody>
          <a:bodyPr anchorCtr="0" anchor="t" bIns="0" lIns="0" spcFirstLastPara="1" rIns="0" wrap="square" tIns="0">
            <a:noAutofit/>
          </a:bodyPr>
          <a:lstStyle/>
          <a:p>
            <a:pPr indent="0" lvl="0" marL="0" rtl="0" algn="l">
              <a:lnSpc>
                <a:spcPct val="150000"/>
              </a:lnSpc>
              <a:spcBef>
                <a:spcPts val="0"/>
              </a:spcBef>
              <a:spcAft>
                <a:spcPts val="0"/>
              </a:spcAft>
              <a:buSzPts val="1800"/>
              <a:buNone/>
            </a:pPr>
            <a:r>
              <a:rPr lang="en-GB"/>
              <a:t>Approaches/Directions</a:t>
            </a:r>
            <a:endParaRPr/>
          </a:p>
        </p:txBody>
      </p:sp>
      <p:sp>
        <p:nvSpPr>
          <p:cNvPr id="199" name="Google Shape;199;p8"/>
          <p:cNvSpPr txBox="1"/>
          <p:nvPr>
            <p:ph idx="1" type="body"/>
          </p:nvPr>
        </p:nvSpPr>
        <p:spPr>
          <a:xfrm>
            <a:off x="758825" y="1183550"/>
            <a:ext cx="7556400" cy="29226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950"/>
              <a:buNone/>
            </a:pPr>
            <a:r>
              <a:t/>
            </a:r>
            <a:endParaRPr b="1"/>
          </a:p>
          <a:p>
            <a:pPr indent="-352425" lvl="0" marL="457200" rtl="0" algn="l">
              <a:lnSpc>
                <a:spcPct val="100000"/>
              </a:lnSpc>
              <a:spcBef>
                <a:spcPts val="0"/>
              </a:spcBef>
              <a:spcAft>
                <a:spcPts val="0"/>
              </a:spcAft>
              <a:buSzPts val="1950"/>
              <a:buChar char="●"/>
            </a:pPr>
            <a:r>
              <a:rPr b="1" lang="en-GB" sz="2150"/>
              <a:t>LLM-driven topology generation</a:t>
            </a:r>
            <a:br>
              <a:rPr b="1" lang="en-GB" sz="2150"/>
            </a:br>
            <a:r>
              <a:rPr b="1" lang="en-GB" sz="2150"/>
              <a:t>	</a:t>
            </a:r>
            <a:r>
              <a:rPr lang="en-GB" sz="2150"/>
              <a:t>initialized with SFT warm start</a:t>
            </a:r>
            <a:br>
              <a:rPr lang="en-GB"/>
            </a:br>
            <a:r>
              <a:rPr lang="en-GB"/>
              <a:t>	Generate candidate circuit designs from high-level specifications</a:t>
            </a:r>
            <a:endParaRPr/>
          </a:p>
          <a:p>
            <a:pPr indent="-352425" lvl="0" marL="457200" rtl="0" algn="l">
              <a:lnSpc>
                <a:spcPct val="100000"/>
              </a:lnSpc>
              <a:spcBef>
                <a:spcPts val="0"/>
              </a:spcBef>
              <a:spcAft>
                <a:spcPts val="0"/>
              </a:spcAft>
              <a:buSzPts val="1950"/>
              <a:buChar char="●"/>
            </a:pPr>
            <a:r>
              <a:rPr b="1" lang="en-GB" sz="2150"/>
              <a:t>Simulation-in-the-loop evaluation</a:t>
            </a:r>
            <a:br>
              <a:rPr lang="en-GB"/>
            </a:br>
            <a:r>
              <a:rPr lang="en-GB"/>
              <a:t>	Validate and evaluate each design using circuit simulation</a:t>
            </a:r>
            <a:endParaRPr/>
          </a:p>
          <a:p>
            <a:pPr indent="-365125" lvl="0" marL="457200" rtl="0" algn="l">
              <a:lnSpc>
                <a:spcPct val="100000"/>
              </a:lnSpc>
              <a:spcBef>
                <a:spcPts val="0"/>
              </a:spcBef>
              <a:spcAft>
                <a:spcPts val="0"/>
              </a:spcAft>
              <a:buSzPts val="2150"/>
              <a:buChar char="●"/>
            </a:pPr>
            <a:r>
              <a:rPr b="1" lang="en-GB" sz="2150"/>
              <a:t>RL-based optimization</a:t>
            </a:r>
            <a:endParaRPr b="1" sz="2150"/>
          </a:p>
          <a:p>
            <a:pPr indent="457200" lvl="0" marL="457200" rtl="0" algn="l">
              <a:lnSpc>
                <a:spcPct val="100000"/>
              </a:lnSpc>
              <a:spcBef>
                <a:spcPts val="0"/>
              </a:spcBef>
              <a:spcAft>
                <a:spcPts val="0"/>
              </a:spcAft>
              <a:buSzPts val="1950"/>
              <a:buNone/>
            </a:pPr>
            <a:r>
              <a:rPr lang="en-GB"/>
              <a:t>Learn a policy to iteratively improve topology generation</a:t>
            </a:r>
            <a:endParaRPr/>
          </a:p>
          <a:p>
            <a:pPr indent="0" lvl="0" marL="1371600" rtl="0" algn="l">
              <a:lnSpc>
                <a:spcPct val="100000"/>
              </a:lnSpc>
              <a:spcBef>
                <a:spcPts val="0"/>
              </a:spcBef>
              <a:spcAft>
                <a:spcPts val="0"/>
              </a:spcAft>
              <a:buSzPts val="1950"/>
              <a:buNone/>
            </a:pPr>
            <a:r>
              <a:t/>
            </a:r>
            <a:endParaRPr/>
          </a:p>
          <a:p>
            <a:pPr indent="0" lvl="0" marL="0" rtl="0" algn="l">
              <a:lnSpc>
                <a:spcPct val="100000"/>
              </a:lnSpc>
              <a:spcBef>
                <a:spcPts val="0"/>
              </a:spcBef>
              <a:spcAft>
                <a:spcPts val="0"/>
              </a:spcAft>
              <a:buSzPts val="1950"/>
              <a:buNone/>
            </a:pPr>
            <a:r>
              <a:rPr lang="en-GB"/>
              <a:t>	</a:t>
            </a:r>
            <a:endParaRPr/>
          </a:p>
          <a:p>
            <a:pPr indent="0" lvl="0" marL="457200" rtl="0" algn="l">
              <a:lnSpc>
                <a:spcPct val="100000"/>
              </a:lnSpc>
              <a:spcBef>
                <a:spcPts val="0"/>
              </a:spcBef>
              <a:spcAft>
                <a:spcPts val="0"/>
              </a:spcAft>
              <a:buSzPts val="1950"/>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3" name="Shape 203"/>
        <p:cNvGrpSpPr/>
        <p:nvPr/>
      </p:nvGrpSpPr>
      <p:grpSpPr>
        <a:xfrm>
          <a:off x="0" y="0"/>
          <a:ext cx="0" cy="0"/>
          <a:chOff x="0" y="0"/>
          <a:chExt cx="0" cy="0"/>
        </a:xfrm>
      </p:grpSpPr>
      <p:sp>
        <p:nvSpPr>
          <p:cNvPr id="204" name="Google Shape;204;p9"/>
          <p:cNvSpPr txBox="1"/>
          <p:nvPr>
            <p:ph type="title"/>
          </p:nvPr>
        </p:nvSpPr>
        <p:spPr>
          <a:xfrm>
            <a:off x="675375" y="2031098"/>
            <a:ext cx="7556400" cy="5820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sz="2400"/>
              <a:t>The progress made so far on this project</a:t>
            </a:r>
            <a:endParaRPr sz="24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10"/>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Milestones/Roadmap</a:t>
            </a:r>
            <a:endParaRPr/>
          </a:p>
        </p:txBody>
      </p:sp>
      <p:sp>
        <p:nvSpPr>
          <p:cNvPr id="210" name="Google Shape;210;p10"/>
          <p:cNvSpPr/>
          <p:nvPr/>
        </p:nvSpPr>
        <p:spPr>
          <a:xfrm>
            <a:off x="209575"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Literature Review and process research</a:t>
            </a:r>
            <a:endParaRPr b="0" i="0" sz="1800" u="none" cap="none" strike="noStrike">
              <a:solidFill>
                <a:schemeClr val="dk1"/>
              </a:solidFill>
              <a:latin typeface="Calibri"/>
              <a:ea typeface="Calibri"/>
              <a:cs typeface="Calibri"/>
              <a:sym typeface="Calibri"/>
            </a:endParaRPr>
          </a:p>
        </p:txBody>
      </p:sp>
      <p:sp>
        <p:nvSpPr>
          <p:cNvPr id="211" name="Google Shape;211;p10"/>
          <p:cNvSpPr/>
          <p:nvPr/>
        </p:nvSpPr>
        <p:spPr>
          <a:xfrm>
            <a:off x="3552291"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chemeClr val="dk1"/>
              </a:buClr>
              <a:buSzPts val="1100"/>
              <a:buFont typeface="Arial"/>
              <a:buNone/>
            </a:pPr>
            <a:r>
              <a:rPr b="0" i="0" lang="en-GB" sz="1800" u="none" cap="none" strike="noStrike">
                <a:solidFill>
                  <a:schemeClr val="dk1"/>
                </a:solidFill>
                <a:latin typeface="Calibri"/>
                <a:ea typeface="Calibri"/>
                <a:cs typeface="Calibri"/>
                <a:sym typeface="Calibri"/>
              </a:rPr>
              <a:t>Model training and tuning</a:t>
            </a:r>
            <a:endParaRPr b="0" i="0" sz="2226" u="none" cap="none" strike="noStrike">
              <a:solidFill>
                <a:schemeClr val="dk1"/>
              </a:solidFill>
              <a:latin typeface="Calibri"/>
              <a:ea typeface="Calibri"/>
              <a:cs typeface="Calibri"/>
              <a:sym typeface="Calibri"/>
            </a:endParaRPr>
          </a:p>
        </p:txBody>
      </p:sp>
      <p:sp>
        <p:nvSpPr>
          <p:cNvPr id="212" name="Google Shape;212;p10"/>
          <p:cNvSpPr/>
          <p:nvPr/>
        </p:nvSpPr>
        <p:spPr>
          <a:xfrm>
            <a:off x="7017577"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chemeClr val="dk1"/>
              </a:buClr>
              <a:buSzPts val="1100"/>
              <a:buFont typeface="Arial"/>
              <a:buNone/>
            </a:pPr>
            <a:r>
              <a:rPr b="0" i="0" lang="en-GB" sz="1800" u="none" cap="none" strike="noStrike">
                <a:solidFill>
                  <a:schemeClr val="dk1"/>
                </a:solidFill>
                <a:latin typeface="Calibri"/>
                <a:ea typeface="Calibri"/>
                <a:cs typeface="Calibri"/>
                <a:sym typeface="Calibri"/>
              </a:rPr>
              <a:t>Final report writing</a:t>
            </a:r>
            <a:endParaRPr b="0" i="0" sz="2226" u="none" cap="none" strike="noStrike">
              <a:solidFill>
                <a:schemeClr val="dk1"/>
              </a:solidFill>
              <a:latin typeface="Calibri"/>
              <a:ea typeface="Calibri"/>
              <a:cs typeface="Calibri"/>
              <a:sym typeface="Calibri"/>
            </a:endParaRPr>
          </a:p>
        </p:txBody>
      </p:sp>
      <p:sp>
        <p:nvSpPr>
          <p:cNvPr id="213" name="Google Shape;213;p10"/>
          <p:cNvSpPr/>
          <p:nvPr/>
        </p:nvSpPr>
        <p:spPr>
          <a:xfrm>
            <a:off x="1841525" y="3389700"/>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chemeClr val="dk1"/>
              </a:buClr>
              <a:buSzPts val="1100"/>
              <a:buFont typeface="Arial"/>
              <a:buNone/>
            </a:pPr>
            <a:r>
              <a:rPr b="0" i="0" lang="en-GB" sz="1800" u="none" cap="none" strike="noStrike">
                <a:solidFill>
                  <a:schemeClr val="dk1"/>
                </a:solidFill>
                <a:latin typeface="Calibri"/>
                <a:ea typeface="Calibri"/>
                <a:cs typeface="Calibri"/>
                <a:sym typeface="Calibri"/>
              </a:rPr>
              <a:t>Data generation and simulation processing</a:t>
            </a:r>
            <a:endParaRPr b="0" i="0" sz="2226" u="none" cap="none" strike="noStrike">
              <a:solidFill>
                <a:schemeClr val="dk1"/>
              </a:solidFill>
              <a:latin typeface="Calibri"/>
              <a:ea typeface="Calibri"/>
              <a:cs typeface="Calibri"/>
              <a:sym typeface="Calibri"/>
            </a:endParaRPr>
          </a:p>
        </p:txBody>
      </p:sp>
      <p:sp>
        <p:nvSpPr>
          <p:cNvPr id="214" name="Google Shape;214;p10"/>
          <p:cNvSpPr/>
          <p:nvPr/>
        </p:nvSpPr>
        <p:spPr>
          <a:xfrm>
            <a:off x="5591700" y="34586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chemeClr val="dk1"/>
              </a:buClr>
              <a:buSzPts val="1100"/>
              <a:buFont typeface="Arial"/>
              <a:buNone/>
            </a:pPr>
            <a:r>
              <a:rPr b="0" i="0" lang="en-GB" sz="1800" u="none" cap="none" strike="noStrike">
                <a:solidFill>
                  <a:schemeClr val="dk1"/>
                </a:solidFill>
                <a:latin typeface="Calibri"/>
                <a:ea typeface="Calibri"/>
                <a:cs typeface="Calibri"/>
                <a:sym typeface="Calibri"/>
              </a:rPr>
              <a:t>Interactive Implementation</a:t>
            </a:r>
            <a:endParaRPr b="0" i="0" sz="2226" u="none" cap="none" strike="noStrike">
              <a:solidFill>
                <a:schemeClr val="dk1"/>
              </a:solidFill>
              <a:latin typeface="Calibri"/>
              <a:ea typeface="Calibri"/>
              <a:cs typeface="Calibri"/>
              <a:sym typeface="Calibri"/>
            </a:endParaRPr>
          </a:p>
        </p:txBody>
      </p:sp>
      <p:sp>
        <p:nvSpPr>
          <p:cNvPr id="215" name="Google Shape;215;p10"/>
          <p:cNvSpPr/>
          <p:nvPr/>
        </p:nvSpPr>
        <p:spPr>
          <a:xfrm rot="3768942">
            <a:off x="1377900" y="2782055"/>
            <a:ext cx="1166893" cy="56285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16" name="Google Shape;216;p10"/>
          <p:cNvSpPr/>
          <p:nvPr/>
        </p:nvSpPr>
        <p:spPr>
          <a:xfrm rot="-4065614">
            <a:off x="3259169" y="2739489"/>
            <a:ext cx="1172310" cy="53348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17" name="Google Shape;217;p10"/>
          <p:cNvSpPr/>
          <p:nvPr/>
        </p:nvSpPr>
        <p:spPr>
          <a:xfrm rot="4249187">
            <a:off x="4957459" y="2724818"/>
            <a:ext cx="1166979" cy="562805"/>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18" name="Google Shape;218;p10"/>
          <p:cNvSpPr/>
          <p:nvPr/>
        </p:nvSpPr>
        <p:spPr>
          <a:xfrm rot="-4183497">
            <a:off x="6900270" y="2782058"/>
            <a:ext cx="1167008" cy="562858"/>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19" name="Google Shape;219;p10"/>
          <p:cNvSpPr/>
          <p:nvPr/>
        </p:nvSpPr>
        <p:spPr>
          <a:xfrm>
            <a:off x="120875" y="1287650"/>
            <a:ext cx="3808200" cy="347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20" name="Google Shape;220;p10"/>
          <p:cNvSpPr/>
          <p:nvPr/>
        </p:nvSpPr>
        <p:spPr>
          <a:xfrm>
            <a:off x="3482275" y="1196600"/>
            <a:ext cx="5661600" cy="3633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21" name="Google Shape;221;p10"/>
          <p:cNvSpPr txBox="1"/>
          <p:nvPr/>
        </p:nvSpPr>
        <p:spPr>
          <a:xfrm>
            <a:off x="1638150" y="901475"/>
            <a:ext cx="557400" cy="484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950"/>
              <a:buFont typeface="Arial"/>
              <a:buNone/>
            </a:pPr>
            <a:r>
              <a:rPr b="0" i="0" lang="en-GB" sz="1950" u="none" cap="none" strike="noStrike">
                <a:solidFill>
                  <a:schemeClr val="dk1"/>
                </a:solidFill>
                <a:latin typeface="Calibri"/>
                <a:ea typeface="Calibri"/>
                <a:cs typeface="Calibri"/>
                <a:sym typeface="Calibri"/>
              </a:rPr>
              <a:t>Q3</a:t>
            </a:r>
            <a:endParaRPr b="0" i="0" sz="1950" u="none" cap="none" strike="noStrike">
              <a:solidFill>
                <a:schemeClr val="dk1"/>
              </a:solidFill>
              <a:latin typeface="Calibri"/>
              <a:ea typeface="Calibri"/>
              <a:cs typeface="Calibri"/>
              <a:sym typeface="Calibri"/>
            </a:endParaRPr>
          </a:p>
        </p:txBody>
      </p:sp>
      <p:sp>
        <p:nvSpPr>
          <p:cNvPr id="222" name="Google Shape;222;p10"/>
          <p:cNvSpPr txBox="1"/>
          <p:nvPr/>
        </p:nvSpPr>
        <p:spPr>
          <a:xfrm>
            <a:off x="6034375" y="711800"/>
            <a:ext cx="557400" cy="484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950"/>
              <a:buFont typeface="Arial"/>
              <a:buNone/>
            </a:pPr>
            <a:r>
              <a:rPr b="0" i="0" lang="en-GB" sz="1950" u="none" cap="none" strike="noStrike">
                <a:solidFill>
                  <a:schemeClr val="dk1"/>
                </a:solidFill>
                <a:latin typeface="Calibri"/>
                <a:ea typeface="Calibri"/>
                <a:cs typeface="Calibri"/>
                <a:sym typeface="Calibri"/>
              </a:rPr>
              <a:t>Q4</a:t>
            </a:r>
            <a:endParaRPr b="0" i="0" sz="195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
                                        </p:tgtEl>
                                        <p:attrNameLst>
                                          <p:attrName>style.visibility</p:attrName>
                                        </p:attrNameLst>
                                      </p:cBhvr>
                                      <p:to>
                                        <p:strVal val="visible"/>
                                      </p:to>
                                    </p:set>
                                    <p:animEffect filter="fade" transition="in">
                                      <p:cBhvr>
                                        <p:cTn dur="1000"/>
                                        <p:tgtEl>
                                          <p:spTgt spid="219"/>
                                        </p:tgtEl>
                                      </p:cBhvr>
                                    </p:animEffect>
                                  </p:childTnLst>
                                </p:cTn>
                              </p:par>
                              <p:par>
                                <p:cTn fill="hold" nodeType="withEffect" presetClass="entr" presetID="10" presetSubtype="0">
                                  <p:stCondLst>
                                    <p:cond delay="0"/>
                                  </p:stCondLst>
                                  <p:childTnLst>
                                    <p:set>
                                      <p:cBhvr>
                                        <p:cTn dur="1" fill="hold">
                                          <p:stCondLst>
                                            <p:cond delay="0"/>
                                          </p:stCondLst>
                                        </p:cTn>
                                        <p:tgtEl>
                                          <p:spTgt spid="220"/>
                                        </p:tgtEl>
                                        <p:attrNameLst>
                                          <p:attrName>style.visibility</p:attrName>
                                        </p:attrNameLst>
                                      </p:cBhvr>
                                      <p:to>
                                        <p:strVal val="visible"/>
                                      </p:to>
                                    </p:set>
                                    <p:animEffect filter="fade" transition="in">
                                      <p:cBhvr>
                                        <p:cTn dur="1000"/>
                                        <p:tgtEl>
                                          <p:spTgt spid="220"/>
                                        </p:tgtEl>
                                      </p:cBhvr>
                                    </p:animEffect>
                                  </p:childTnLst>
                                </p:cTn>
                              </p:par>
                              <p:par>
                                <p:cTn fill="hold" nodeType="withEffect" presetClass="entr" presetID="10" presetSubtype="0">
                                  <p:stCondLst>
                                    <p:cond delay="0"/>
                                  </p:stCondLst>
                                  <p:childTnLst>
                                    <p:set>
                                      <p:cBhvr>
                                        <p:cTn dur="1" fill="hold">
                                          <p:stCondLst>
                                            <p:cond delay="0"/>
                                          </p:stCondLst>
                                        </p:cTn>
                                        <p:tgtEl>
                                          <p:spTgt spid="221"/>
                                        </p:tgtEl>
                                        <p:attrNameLst>
                                          <p:attrName>style.visibility</p:attrName>
                                        </p:attrNameLst>
                                      </p:cBhvr>
                                      <p:to>
                                        <p:strVal val="visible"/>
                                      </p:to>
                                    </p:set>
                                    <p:animEffect filter="fade" transition="in">
                                      <p:cBhvr>
                                        <p:cTn dur="1000"/>
                                        <p:tgtEl>
                                          <p:spTgt spid="221"/>
                                        </p:tgtEl>
                                      </p:cBhvr>
                                    </p:animEffect>
                                  </p:childTnLst>
                                </p:cTn>
                              </p:par>
                              <p:par>
                                <p:cTn fill="hold" nodeType="withEffect" presetClass="entr" presetID="10" presetSubtype="0">
                                  <p:stCondLst>
                                    <p:cond delay="0"/>
                                  </p:stCondLst>
                                  <p:childTnLst>
                                    <p:set>
                                      <p:cBhvr>
                                        <p:cTn dur="1" fill="hold">
                                          <p:stCondLst>
                                            <p:cond delay="0"/>
                                          </p:stCondLst>
                                        </p:cTn>
                                        <p:tgtEl>
                                          <p:spTgt spid="222"/>
                                        </p:tgtEl>
                                        <p:attrNameLst>
                                          <p:attrName>style.visibility</p:attrName>
                                        </p:attrNameLst>
                                      </p:cBhvr>
                                      <p:to>
                                        <p:strVal val="visible"/>
                                      </p:to>
                                    </p:set>
                                    <p:animEffect filter="fade" transition="in">
                                      <p:cBhvr>
                                        <p:cTn dur="1000"/>
                                        <p:tgtEl>
                                          <p:spTgt spid="2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6" name="Shape 226"/>
        <p:cNvGrpSpPr/>
        <p:nvPr/>
      </p:nvGrpSpPr>
      <p:grpSpPr>
        <a:xfrm>
          <a:off x="0" y="0"/>
          <a:ext cx="0" cy="0"/>
          <a:chOff x="0" y="0"/>
          <a:chExt cx="0" cy="0"/>
        </a:xfrm>
      </p:grpSpPr>
      <p:sp>
        <p:nvSpPr>
          <p:cNvPr id="227" name="Google Shape;227;p11"/>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Milestones/Roadmap</a:t>
            </a:r>
            <a:endParaRPr/>
          </a:p>
        </p:txBody>
      </p:sp>
      <p:sp>
        <p:nvSpPr>
          <p:cNvPr id="228" name="Google Shape;228;p11"/>
          <p:cNvSpPr/>
          <p:nvPr/>
        </p:nvSpPr>
        <p:spPr>
          <a:xfrm>
            <a:off x="209575" y="1386275"/>
            <a:ext cx="2039400" cy="1266900"/>
          </a:xfrm>
          <a:prstGeom prst="roundRect">
            <a:avLst>
              <a:gd fmla="val 16667" name="adj"/>
            </a:avLst>
          </a:prstGeom>
          <a:solidFill>
            <a:srgbClr val="93C47D"/>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Literature Review and process research</a:t>
            </a:r>
            <a:endParaRPr b="0" i="0" sz="1800" u="none" cap="none" strike="noStrike">
              <a:solidFill>
                <a:schemeClr val="dk1"/>
              </a:solidFill>
              <a:latin typeface="Calibri"/>
              <a:ea typeface="Calibri"/>
              <a:cs typeface="Calibri"/>
              <a:sym typeface="Calibri"/>
            </a:endParaRPr>
          </a:p>
        </p:txBody>
      </p:sp>
      <p:sp>
        <p:nvSpPr>
          <p:cNvPr id="229" name="Google Shape;229;p11"/>
          <p:cNvSpPr/>
          <p:nvPr/>
        </p:nvSpPr>
        <p:spPr>
          <a:xfrm>
            <a:off x="3552291"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Model training and tuning</a:t>
            </a:r>
            <a:endParaRPr b="0" i="0" sz="2226" u="none" cap="none" strike="noStrike">
              <a:solidFill>
                <a:schemeClr val="dk1"/>
              </a:solidFill>
              <a:latin typeface="Calibri"/>
              <a:ea typeface="Calibri"/>
              <a:cs typeface="Calibri"/>
              <a:sym typeface="Calibri"/>
            </a:endParaRPr>
          </a:p>
        </p:txBody>
      </p:sp>
      <p:sp>
        <p:nvSpPr>
          <p:cNvPr id="230" name="Google Shape;230;p11"/>
          <p:cNvSpPr/>
          <p:nvPr/>
        </p:nvSpPr>
        <p:spPr>
          <a:xfrm>
            <a:off x="7017577" y="13862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Final report writing</a:t>
            </a:r>
            <a:endParaRPr b="0" i="0" sz="2226" u="none" cap="none" strike="noStrike">
              <a:solidFill>
                <a:schemeClr val="dk1"/>
              </a:solidFill>
              <a:latin typeface="Calibri"/>
              <a:ea typeface="Calibri"/>
              <a:cs typeface="Calibri"/>
              <a:sym typeface="Calibri"/>
            </a:endParaRPr>
          </a:p>
        </p:txBody>
      </p:sp>
      <p:sp>
        <p:nvSpPr>
          <p:cNvPr id="231" name="Google Shape;231;p11"/>
          <p:cNvSpPr/>
          <p:nvPr/>
        </p:nvSpPr>
        <p:spPr>
          <a:xfrm>
            <a:off x="1841525" y="3389700"/>
            <a:ext cx="2039400" cy="1266900"/>
          </a:xfrm>
          <a:prstGeom prst="roundRect">
            <a:avLst>
              <a:gd fmla="val 16667" name="adj"/>
            </a:avLst>
          </a:prstGeom>
          <a:solidFill>
            <a:srgbClr val="93C47D"/>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Data generation and simulation processing</a:t>
            </a:r>
            <a:endParaRPr b="0" i="0" sz="2226" u="none" cap="none" strike="noStrike">
              <a:solidFill>
                <a:schemeClr val="dk1"/>
              </a:solidFill>
              <a:latin typeface="Calibri"/>
              <a:ea typeface="Calibri"/>
              <a:cs typeface="Calibri"/>
              <a:sym typeface="Calibri"/>
            </a:endParaRPr>
          </a:p>
        </p:txBody>
      </p:sp>
      <p:sp>
        <p:nvSpPr>
          <p:cNvPr id="232" name="Google Shape;232;p11"/>
          <p:cNvSpPr/>
          <p:nvPr/>
        </p:nvSpPr>
        <p:spPr>
          <a:xfrm>
            <a:off x="5591700" y="3458675"/>
            <a:ext cx="2039400" cy="1266900"/>
          </a:xfrm>
          <a:prstGeom prst="roundRect">
            <a:avLst>
              <a:gd fmla="val 16667" name="adj"/>
            </a:avLst>
          </a:prstGeom>
          <a:solidFill>
            <a:schemeClr val="lt1"/>
          </a:solidFill>
          <a:ln cap="flat" cmpd="sng" w="15150">
            <a:solidFill>
              <a:schemeClr val="dk1"/>
            </a:solidFill>
            <a:prstDash val="solid"/>
            <a:round/>
            <a:headEnd len="sm" w="sm" type="none"/>
            <a:tailEnd len="sm" w="sm" type="none"/>
          </a:ln>
        </p:spPr>
        <p:txBody>
          <a:bodyPr anchorCtr="0" anchor="ctr" bIns="145425" lIns="145425" spcFirstLastPara="1" rIns="145425" wrap="square" tIns="145425">
            <a:noAutofit/>
          </a:bodyPr>
          <a:lstStyle/>
          <a:p>
            <a:pPr indent="0" lvl="0" marL="0" marR="0" rtl="0" algn="ctr">
              <a:lnSpc>
                <a:spcPct val="100000"/>
              </a:lnSpc>
              <a:spcBef>
                <a:spcPts val="0"/>
              </a:spcBef>
              <a:spcAft>
                <a:spcPts val="0"/>
              </a:spcAft>
              <a:buClr>
                <a:srgbClr val="000000"/>
              </a:buClr>
              <a:buSzPts val="1800"/>
              <a:buFont typeface="Arial"/>
              <a:buNone/>
            </a:pPr>
            <a:r>
              <a:rPr b="0" i="0" lang="en-GB" sz="1800" u="none" cap="none" strike="noStrike">
                <a:solidFill>
                  <a:schemeClr val="dk1"/>
                </a:solidFill>
                <a:latin typeface="Calibri"/>
                <a:ea typeface="Calibri"/>
                <a:cs typeface="Calibri"/>
                <a:sym typeface="Calibri"/>
              </a:rPr>
              <a:t>Interactive Implementation</a:t>
            </a:r>
            <a:endParaRPr b="0" i="0" sz="2226" u="none" cap="none" strike="noStrike">
              <a:solidFill>
                <a:schemeClr val="dk1"/>
              </a:solidFill>
              <a:latin typeface="Calibri"/>
              <a:ea typeface="Calibri"/>
              <a:cs typeface="Calibri"/>
              <a:sym typeface="Calibri"/>
            </a:endParaRPr>
          </a:p>
        </p:txBody>
      </p:sp>
      <p:sp>
        <p:nvSpPr>
          <p:cNvPr id="233" name="Google Shape;233;p11"/>
          <p:cNvSpPr/>
          <p:nvPr/>
        </p:nvSpPr>
        <p:spPr>
          <a:xfrm rot="3768942">
            <a:off x="1377900" y="2782055"/>
            <a:ext cx="1166893" cy="56285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4" name="Google Shape;234;p11"/>
          <p:cNvSpPr/>
          <p:nvPr/>
        </p:nvSpPr>
        <p:spPr>
          <a:xfrm rot="-4065614">
            <a:off x="3259169" y="2739489"/>
            <a:ext cx="1172310" cy="533481"/>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5" name="Google Shape;235;p11"/>
          <p:cNvSpPr/>
          <p:nvPr/>
        </p:nvSpPr>
        <p:spPr>
          <a:xfrm rot="4249187">
            <a:off x="4957459" y="2724818"/>
            <a:ext cx="1166979" cy="562805"/>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6" name="Google Shape;236;p11"/>
          <p:cNvSpPr/>
          <p:nvPr/>
        </p:nvSpPr>
        <p:spPr>
          <a:xfrm rot="-4183497">
            <a:off x="6900270" y="2782058"/>
            <a:ext cx="1167008" cy="562858"/>
          </a:xfrm>
          <a:prstGeom prst="rightArrow">
            <a:avLst>
              <a:gd fmla="val 50000" name="adj1"/>
              <a:gd fmla="val 50000" name="adj2"/>
            </a:avLst>
          </a:prstGeom>
          <a:solidFill>
            <a:schemeClr val="lt2"/>
          </a:solidFill>
          <a:ln cap="flat" cmpd="sng" w="151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7" name="Google Shape;237;p11"/>
          <p:cNvSpPr/>
          <p:nvPr/>
        </p:nvSpPr>
        <p:spPr>
          <a:xfrm>
            <a:off x="120875" y="1287650"/>
            <a:ext cx="3808200" cy="347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38" name="Google Shape;238;p11"/>
          <p:cNvSpPr/>
          <p:nvPr/>
        </p:nvSpPr>
        <p:spPr>
          <a:xfrm>
            <a:off x="3482275" y="1196600"/>
            <a:ext cx="5661600" cy="3633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39" name="Google Shape;239;p11"/>
          <p:cNvSpPr txBox="1"/>
          <p:nvPr/>
        </p:nvSpPr>
        <p:spPr>
          <a:xfrm>
            <a:off x="1638150" y="901475"/>
            <a:ext cx="557400" cy="484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950"/>
              <a:buFont typeface="Arial"/>
              <a:buNone/>
            </a:pPr>
            <a:r>
              <a:rPr b="0" i="0" lang="en-GB" sz="1950" u="none" cap="none" strike="noStrike">
                <a:solidFill>
                  <a:schemeClr val="dk1"/>
                </a:solidFill>
                <a:latin typeface="Calibri"/>
                <a:ea typeface="Calibri"/>
                <a:cs typeface="Calibri"/>
                <a:sym typeface="Calibri"/>
              </a:rPr>
              <a:t>Q3</a:t>
            </a:r>
            <a:endParaRPr b="0" i="0" sz="1950" u="none" cap="none" strike="noStrike">
              <a:solidFill>
                <a:schemeClr val="dk1"/>
              </a:solidFill>
              <a:latin typeface="Calibri"/>
              <a:ea typeface="Calibri"/>
              <a:cs typeface="Calibri"/>
              <a:sym typeface="Calibri"/>
            </a:endParaRPr>
          </a:p>
        </p:txBody>
      </p:sp>
      <p:sp>
        <p:nvSpPr>
          <p:cNvPr id="240" name="Google Shape;240;p11"/>
          <p:cNvSpPr txBox="1"/>
          <p:nvPr/>
        </p:nvSpPr>
        <p:spPr>
          <a:xfrm>
            <a:off x="6034375" y="711800"/>
            <a:ext cx="557400" cy="484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950"/>
              <a:buFont typeface="Arial"/>
              <a:buNone/>
            </a:pPr>
            <a:r>
              <a:rPr b="0" i="0" lang="en-GB" sz="1950" u="none" cap="none" strike="noStrike">
                <a:solidFill>
                  <a:schemeClr val="dk1"/>
                </a:solidFill>
                <a:latin typeface="Calibri"/>
                <a:ea typeface="Calibri"/>
                <a:cs typeface="Calibri"/>
                <a:sym typeface="Calibri"/>
              </a:rPr>
              <a:t>Q4</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12"/>
          <p:cNvSpPr txBox="1"/>
          <p:nvPr>
            <p:ph type="title"/>
          </p:nvPr>
        </p:nvSpPr>
        <p:spPr>
          <a:xfrm>
            <a:off x="793800" y="82825"/>
            <a:ext cx="7556400" cy="7338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a:t>Training pipeline</a:t>
            </a:r>
            <a:endParaRPr/>
          </a:p>
        </p:txBody>
      </p:sp>
      <p:sp>
        <p:nvSpPr>
          <p:cNvPr id="246" name="Google Shape;246;p12"/>
          <p:cNvSpPr/>
          <p:nvPr/>
        </p:nvSpPr>
        <p:spPr>
          <a:xfrm>
            <a:off x="959138"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Constraint set dataset</a:t>
            </a:r>
            <a:endParaRPr b="0" i="0" sz="1495" u="none" cap="none" strike="noStrike">
              <a:solidFill>
                <a:schemeClr val="dk1"/>
              </a:solidFill>
              <a:latin typeface="Calibri"/>
              <a:ea typeface="Calibri"/>
              <a:cs typeface="Calibri"/>
              <a:sym typeface="Calibri"/>
            </a:endParaRPr>
          </a:p>
        </p:txBody>
      </p:sp>
      <p:sp>
        <p:nvSpPr>
          <p:cNvPr id="247" name="Google Shape;247;p12"/>
          <p:cNvSpPr/>
          <p:nvPr/>
        </p:nvSpPr>
        <p:spPr>
          <a:xfrm>
            <a:off x="2862426"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Topology generation</a:t>
            </a:r>
            <a:endParaRPr b="0" i="0" sz="1495" u="none" cap="none" strike="noStrike">
              <a:solidFill>
                <a:schemeClr val="dk1"/>
              </a:solidFill>
              <a:latin typeface="Calibri"/>
              <a:ea typeface="Calibri"/>
              <a:cs typeface="Calibri"/>
              <a:sym typeface="Calibri"/>
            </a:endParaRPr>
          </a:p>
        </p:txBody>
      </p:sp>
      <p:sp>
        <p:nvSpPr>
          <p:cNvPr id="248" name="Google Shape;248;p12"/>
          <p:cNvSpPr/>
          <p:nvPr/>
        </p:nvSpPr>
        <p:spPr>
          <a:xfrm>
            <a:off x="4723927"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Topology validation</a:t>
            </a:r>
            <a:endParaRPr b="0" i="0" sz="1495" u="none" cap="none" strike="noStrike">
              <a:solidFill>
                <a:schemeClr val="dk1"/>
              </a:solidFill>
              <a:latin typeface="Calibri"/>
              <a:ea typeface="Calibri"/>
              <a:cs typeface="Calibri"/>
              <a:sym typeface="Calibri"/>
            </a:endParaRPr>
          </a:p>
        </p:txBody>
      </p:sp>
      <p:sp>
        <p:nvSpPr>
          <p:cNvPr id="249" name="Google Shape;249;p12"/>
          <p:cNvSpPr/>
          <p:nvPr/>
        </p:nvSpPr>
        <p:spPr>
          <a:xfrm>
            <a:off x="6585428" y="232210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Topology simulation</a:t>
            </a:r>
            <a:endParaRPr b="0" i="0" sz="1495" u="none" cap="none" strike="noStrike">
              <a:solidFill>
                <a:schemeClr val="dk1"/>
              </a:solidFill>
              <a:latin typeface="Calibri"/>
              <a:ea typeface="Calibri"/>
              <a:cs typeface="Calibri"/>
              <a:sym typeface="Calibri"/>
            </a:endParaRPr>
          </a:p>
        </p:txBody>
      </p:sp>
      <p:sp>
        <p:nvSpPr>
          <p:cNvPr id="250" name="Google Shape;250;p12"/>
          <p:cNvSpPr/>
          <p:nvPr/>
        </p:nvSpPr>
        <p:spPr>
          <a:xfrm>
            <a:off x="6534305" y="3544461"/>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Reward function processing</a:t>
            </a:r>
            <a:endParaRPr b="0" i="0" sz="1495" u="none" cap="none" strike="noStrike">
              <a:solidFill>
                <a:schemeClr val="dk1"/>
              </a:solidFill>
              <a:latin typeface="Calibri"/>
              <a:ea typeface="Calibri"/>
              <a:cs typeface="Calibri"/>
              <a:sym typeface="Calibri"/>
            </a:endParaRPr>
          </a:p>
        </p:txBody>
      </p:sp>
      <p:sp>
        <p:nvSpPr>
          <p:cNvPr id="251" name="Google Shape;251;p12"/>
          <p:cNvSpPr/>
          <p:nvPr/>
        </p:nvSpPr>
        <p:spPr>
          <a:xfrm>
            <a:off x="2811303" y="3544461"/>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Reinforcement learning loop</a:t>
            </a:r>
            <a:endParaRPr b="0" i="0" sz="1495" u="none" cap="none" strike="noStrike">
              <a:solidFill>
                <a:schemeClr val="dk1"/>
              </a:solidFill>
              <a:latin typeface="Calibri"/>
              <a:ea typeface="Calibri"/>
              <a:cs typeface="Calibri"/>
              <a:sym typeface="Calibri"/>
            </a:endParaRPr>
          </a:p>
        </p:txBody>
      </p:sp>
      <p:sp>
        <p:nvSpPr>
          <p:cNvPr id="252" name="Google Shape;252;p12"/>
          <p:cNvSpPr/>
          <p:nvPr/>
        </p:nvSpPr>
        <p:spPr>
          <a:xfrm>
            <a:off x="2811303" y="923708"/>
            <a:ext cx="14895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Supervised fine-tuning</a:t>
            </a:r>
            <a:endParaRPr b="0" i="0" sz="1495" u="none" cap="none" strike="noStrike">
              <a:solidFill>
                <a:schemeClr val="dk1"/>
              </a:solidFill>
              <a:latin typeface="Calibri"/>
              <a:ea typeface="Calibri"/>
              <a:cs typeface="Calibri"/>
              <a:sym typeface="Calibri"/>
            </a:endParaRPr>
          </a:p>
        </p:txBody>
      </p:sp>
      <p:sp>
        <p:nvSpPr>
          <p:cNvPr id="253" name="Google Shape;253;p12"/>
          <p:cNvSpPr/>
          <p:nvPr/>
        </p:nvSpPr>
        <p:spPr>
          <a:xfrm>
            <a:off x="4208504" y="2570082"/>
            <a:ext cx="624900" cy="17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54" name="Google Shape;254;p12"/>
          <p:cNvSpPr/>
          <p:nvPr/>
        </p:nvSpPr>
        <p:spPr>
          <a:xfrm>
            <a:off x="5911294" y="2574035"/>
            <a:ext cx="814500" cy="2064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rPr b="0" i="0" lang="en-GB" sz="1495" u="none" cap="none" strike="noStrike">
                <a:solidFill>
                  <a:schemeClr val="lt1"/>
                </a:solidFill>
                <a:latin typeface="Calibri"/>
                <a:ea typeface="Calibri"/>
                <a:cs typeface="Calibri"/>
                <a:sym typeface="Calibri"/>
              </a:rPr>
              <a:t>valid</a:t>
            </a:r>
            <a:endParaRPr b="0" i="0" sz="1495" u="none" cap="none" strike="noStrike">
              <a:solidFill>
                <a:schemeClr val="lt1"/>
              </a:solidFill>
              <a:latin typeface="Calibri"/>
              <a:ea typeface="Calibri"/>
              <a:cs typeface="Calibri"/>
              <a:sym typeface="Calibri"/>
            </a:endParaRPr>
          </a:p>
        </p:txBody>
      </p:sp>
      <p:sp>
        <p:nvSpPr>
          <p:cNvPr id="255" name="Google Shape;255;p12"/>
          <p:cNvSpPr/>
          <p:nvPr/>
        </p:nvSpPr>
        <p:spPr>
          <a:xfrm rot="5400000">
            <a:off x="7003579" y="3190072"/>
            <a:ext cx="624900" cy="1992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56" name="Google Shape;256;p12"/>
          <p:cNvSpPr/>
          <p:nvPr/>
        </p:nvSpPr>
        <p:spPr>
          <a:xfrm flipH="1">
            <a:off x="4249848" y="3832447"/>
            <a:ext cx="2335500" cy="1341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57" name="Google Shape;257;p12"/>
          <p:cNvSpPr/>
          <p:nvPr/>
        </p:nvSpPr>
        <p:spPr>
          <a:xfrm flipH="1" rot="5400000">
            <a:off x="3134505" y="3182604"/>
            <a:ext cx="745500" cy="14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58" name="Google Shape;258;p12"/>
          <p:cNvSpPr/>
          <p:nvPr/>
        </p:nvSpPr>
        <p:spPr>
          <a:xfrm>
            <a:off x="6585428" y="888637"/>
            <a:ext cx="1387200" cy="710400"/>
          </a:xfrm>
          <a:prstGeom prst="rect">
            <a:avLst/>
          </a:prstGeom>
          <a:solidFill>
            <a:schemeClr val="lt1"/>
          </a:solidFill>
          <a:ln cap="flat" cmpd="sng" w="10175">
            <a:solidFill>
              <a:schemeClr val="dk1"/>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l">
              <a:lnSpc>
                <a:spcPct val="100000"/>
              </a:lnSpc>
              <a:spcBef>
                <a:spcPts val="0"/>
              </a:spcBef>
              <a:spcAft>
                <a:spcPts val="0"/>
              </a:spcAft>
              <a:buClr>
                <a:srgbClr val="000000"/>
              </a:buClr>
              <a:buSzPts val="1495"/>
              <a:buFont typeface="Arial"/>
              <a:buNone/>
            </a:pPr>
            <a:r>
              <a:rPr b="0" i="0" lang="en-GB" sz="1495" u="none" cap="none" strike="noStrike">
                <a:solidFill>
                  <a:schemeClr val="dk1"/>
                </a:solidFill>
                <a:latin typeface="Calibri"/>
                <a:ea typeface="Calibri"/>
                <a:cs typeface="Calibri"/>
                <a:sym typeface="Calibri"/>
              </a:rPr>
              <a:t>Dataset Expansion</a:t>
            </a:r>
            <a:endParaRPr b="0" i="0" sz="1495" u="none" cap="none" strike="noStrike">
              <a:solidFill>
                <a:schemeClr val="dk1"/>
              </a:solidFill>
              <a:latin typeface="Calibri"/>
              <a:ea typeface="Calibri"/>
              <a:cs typeface="Calibri"/>
              <a:sym typeface="Calibri"/>
            </a:endParaRPr>
          </a:p>
        </p:txBody>
      </p:sp>
      <p:sp>
        <p:nvSpPr>
          <p:cNvPr id="259" name="Google Shape;259;p12"/>
          <p:cNvSpPr/>
          <p:nvPr/>
        </p:nvSpPr>
        <p:spPr>
          <a:xfrm flipH="1" rot="5400000">
            <a:off x="6863185" y="1834034"/>
            <a:ext cx="905700" cy="194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60" name="Google Shape;260;p12"/>
          <p:cNvSpPr/>
          <p:nvPr/>
        </p:nvSpPr>
        <p:spPr>
          <a:xfrm flipH="1">
            <a:off x="4166244" y="1154668"/>
            <a:ext cx="2502600" cy="1341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61" name="Google Shape;261;p12"/>
          <p:cNvSpPr/>
          <p:nvPr/>
        </p:nvSpPr>
        <p:spPr>
          <a:xfrm flipH="1" rot="-2699189">
            <a:off x="4071066" y="3175131"/>
            <a:ext cx="899652" cy="229103"/>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rPr b="0" i="0" lang="en-GB" sz="1495" u="none" cap="none" strike="noStrike">
                <a:solidFill>
                  <a:schemeClr val="lt1"/>
                </a:solidFill>
                <a:latin typeface="Calibri"/>
                <a:ea typeface="Calibri"/>
                <a:cs typeface="Calibri"/>
                <a:sym typeface="Calibri"/>
              </a:rPr>
              <a:t>invalid</a:t>
            </a:r>
            <a:endParaRPr b="0" i="0" sz="1495" u="none" cap="none" strike="noStrike">
              <a:solidFill>
                <a:schemeClr val="lt1"/>
              </a:solidFill>
              <a:latin typeface="Calibri"/>
              <a:ea typeface="Calibri"/>
              <a:cs typeface="Calibri"/>
              <a:sym typeface="Calibri"/>
            </a:endParaRPr>
          </a:p>
        </p:txBody>
      </p:sp>
      <p:sp>
        <p:nvSpPr>
          <p:cNvPr id="262" name="Google Shape;262;p12"/>
          <p:cNvSpPr/>
          <p:nvPr/>
        </p:nvSpPr>
        <p:spPr>
          <a:xfrm rot="-2885783">
            <a:off x="5760615" y="1802139"/>
            <a:ext cx="1131042" cy="258979"/>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rPr b="0" i="0" lang="en-GB" sz="1495" u="none" cap="none" strike="noStrike">
                <a:solidFill>
                  <a:schemeClr val="lt1"/>
                </a:solidFill>
                <a:latin typeface="Calibri"/>
                <a:ea typeface="Calibri"/>
                <a:cs typeface="Calibri"/>
                <a:sym typeface="Calibri"/>
              </a:rPr>
              <a:t>invalid</a:t>
            </a:r>
            <a:endParaRPr b="0" i="0" sz="1495" u="none" cap="none" strike="noStrike">
              <a:solidFill>
                <a:schemeClr val="lt1"/>
              </a:solidFill>
              <a:latin typeface="Calibri"/>
              <a:ea typeface="Calibri"/>
              <a:cs typeface="Calibri"/>
              <a:sym typeface="Calibri"/>
            </a:endParaRPr>
          </a:p>
        </p:txBody>
      </p:sp>
      <p:sp>
        <p:nvSpPr>
          <p:cNvPr id="263" name="Google Shape;263;p12"/>
          <p:cNvSpPr/>
          <p:nvPr/>
        </p:nvSpPr>
        <p:spPr>
          <a:xfrm>
            <a:off x="2297454" y="2588882"/>
            <a:ext cx="624900" cy="176700"/>
          </a:xfrm>
          <a:prstGeom prst="homePlate">
            <a:avLst>
              <a:gd fmla="val 50000" name="adj"/>
            </a:avLst>
          </a:prstGeom>
          <a:solidFill>
            <a:schemeClr val="lt2"/>
          </a:solidFill>
          <a:ln cap="flat" cmpd="sng" w="10175">
            <a:solidFill>
              <a:schemeClr val="dk2"/>
            </a:solidFill>
            <a:prstDash val="solid"/>
            <a:round/>
            <a:headEnd len="sm" w="sm" type="none"/>
            <a:tailEnd len="sm" w="sm" type="none"/>
          </a:ln>
        </p:spPr>
        <p:txBody>
          <a:bodyPr anchorCtr="0" anchor="ctr" bIns="97675" lIns="97675" spcFirstLastPara="1" rIns="97675" wrap="square" tIns="97675">
            <a:noAutofit/>
          </a:bodyPr>
          <a:lstStyle/>
          <a:p>
            <a:pPr indent="0" lvl="0" marL="0" marR="0" rtl="0" algn="ctr">
              <a:lnSpc>
                <a:spcPct val="100000"/>
              </a:lnSpc>
              <a:spcBef>
                <a:spcPts val="0"/>
              </a:spcBef>
              <a:spcAft>
                <a:spcPts val="0"/>
              </a:spcAft>
              <a:buClr>
                <a:srgbClr val="000000"/>
              </a:buClr>
              <a:buSzPts val="1495"/>
              <a:buFont typeface="Arial"/>
              <a:buNone/>
            </a:pPr>
            <a:r>
              <a:t/>
            </a:r>
            <a:endParaRPr b="0" i="0" sz="1495" u="none" cap="none" strike="noStrike">
              <a:solidFill>
                <a:schemeClr val="lt1"/>
              </a:solidFill>
              <a:latin typeface="Calibri"/>
              <a:ea typeface="Calibri"/>
              <a:cs typeface="Calibri"/>
              <a:sym typeface="Calibri"/>
            </a:endParaRPr>
          </a:p>
        </p:txBody>
      </p:sp>
      <p:sp>
        <p:nvSpPr>
          <p:cNvPr id="264" name="Google Shape;264;p12"/>
          <p:cNvSpPr/>
          <p:nvPr/>
        </p:nvSpPr>
        <p:spPr>
          <a:xfrm>
            <a:off x="3196788" y="1961850"/>
            <a:ext cx="718524" cy="307638"/>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700"/>
              <a:buFont typeface="Arial"/>
              <a:buNone/>
            </a:pPr>
            <a:r>
              <a:rPr b="0" i="0" lang="en-GB" sz="1700" u="none" cap="none" strike="noStrike">
                <a:solidFill>
                  <a:schemeClr val="lt1"/>
                </a:solidFill>
                <a:latin typeface="Calibri"/>
                <a:ea typeface="Calibri"/>
                <a:cs typeface="Calibri"/>
                <a:sym typeface="Calibri"/>
              </a:rPr>
              <a:t>LLM</a:t>
            </a:r>
            <a:endParaRPr b="0" i="0" sz="1700" u="none" cap="none" strike="noStrike">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8" name="Shape 268"/>
        <p:cNvGrpSpPr/>
        <p:nvPr/>
      </p:nvGrpSpPr>
      <p:grpSpPr>
        <a:xfrm>
          <a:off x="0" y="0"/>
          <a:ext cx="0" cy="0"/>
          <a:chOff x="0" y="0"/>
          <a:chExt cx="0" cy="0"/>
        </a:xfrm>
      </p:grpSpPr>
      <p:sp>
        <p:nvSpPr>
          <p:cNvPr id="269" name="Google Shape;269;p13"/>
          <p:cNvSpPr txBox="1"/>
          <p:nvPr/>
        </p:nvSpPr>
        <p:spPr>
          <a:xfrm>
            <a:off x="956100" y="2725800"/>
            <a:ext cx="7231800" cy="1754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A constraint set, in the form of a json will be delivered as an input to a LLM that generates a an adjustable number of topologies in the form of a SPICE netlist (.net).</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These netlists go through a validation process to classify hallucinations and actual working topologies.</a:t>
            </a:r>
            <a:endParaRPr b="0" i="0" sz="1700" u="none" cap="none" strike="noStrike">
              <a:solidFill>
                <a:schemeClr val="dk1"/>
              </a:solidFill>
              <a:latin typeface="Arial"/>
              <a:ea typeface="Arial"/>
              <a:cs typeface="Arial"/>
              <a:sym typeface="Arial"/>
            </a:endParaRPr>
          </a:p>
        </p:txBody>
      </p:sp>
      <p:sp>
        <p:nvSpPr>
          <p:cNvPr id="270" name="Google Shape;270;p13"/>
          <p:cNvSpPr/>
          <p:nvPr/>
        </p:nvSpPr>
        <p:spPr>
          <a:xfrm>
            <a:off x="2138362" y="1393987"/>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Constraint set dataset</a:t>
            </a:r>
            <a:endParaRPr b="0" i="0" sz="1030" u="none" cap="none" strike="noStrike">
              <a:solidFill>
                <a:schemeClr val="dk1"/>
              </a:solidFill>
              <a:latin typeface="Calibri"/>
              <a:ea typeface="Calibri"/>
              <a:cs typeface="Calibri"/>
              <a:sym typeface="Calibri"/>
            </a:endParaRPr>
          </a:p>
        </p:txBody>
      </p:sp>
      <p:sp>
        <p:nvSpPr>
          <p:cNvPr id="271" name="Google Shape;271;p13"/>
          <p:cNvSpPr/>
          <p:nvPr/>
        </p:nvSpPr>
        <p:spPr>
          <a:xfrm>
            <a:off x="3449726" y="1393987"/>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generation</a:t>
            </a:r>
            <a:endParaRPr b="0" i="0" sz="1030" u="none" cap="none" strike="noStrike">
              <a:solidFill>
                <a:schemeClr val="dk1"/>
              </a:solidFill>
              <a:latin typeface="Calibri"/>
              <a:ea typeface="Calibri"/>
              <a:cs typeface="Calibri"/>
              <a:sym typeface="Calibri"/>
            </a:endParaRPr>
          </a:p>
        </p:txBody>
      </p:sp>
      <p:sp>
        <p:nvSpPr>
          <p:cNvPr id="272" name="Google Shape;272;p13"/>
          <p:cNvSpPr/>
          <p:nvPr/>
        </p:nvSpPr>
        <p:spPr>
          <a:xfrm>
            <a:off x="4732299" y="1393987"/>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validation</a:t>
            </a:r>
            <a:endParaRPr b="0" i="0" sz="1030" u="none" cap="none" strike="noStrike">
              <a:solidFill>
                <a:schemeClr val="dk1"/>
              </a:solidFill>
              <a:latin typeface="Calibri"/>
              <a:ea typeface="Calibri"/>
              <a:cs typeface="Calibri"/>
              <a:sym typeface="Calibri"/>
            </a:endParaRPr>
          </a:p>
        </p:txBody>
      </p:sp>
      <p:sp>
        <p:nvSpPr>
          <p:cNvPr id="273" name="Google Shape;273;p13"/>
          <p:cNvSpPr/>
          <p:nvPr/>
        </p:nvSpPr>
        <p:spPr>
          <a:xfrm>
            <a:off x="601487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simulation</a:t>
            </a:r>
            <a:endParaRPr b="0" i="0" sz="1030" u="none" cap="none" strike="noStrike">
              <a:solidFill>
                <a:schemeClr val="dk1"/>
              </a:solidFill>
              <a:latin typeface="Calibri"/>
              <a:ea typeface="Calibri"/>
              <a:cs typeface="Calibri"/>
              <a:sym typeface="Calibri"/>
            </a:endParaRPr>
          </a:p>
        </p:txBody>
      </p:sp>
      <p:sp>
        <p:nvSpPr>
          <p:cNvPr id="274" name="Google Shape;274;p13"/>
          <p:cNvSpPr/>
          <p:nvPr/>
        </p:nvSpPr>
        <p:spPr>
          <a:xfrm>
            <a:off x="5979649"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Reward function processing</a:t>
            </a:r>
            <a:endParaRPr b="0" i="0" sz="1030" u="none" cap="none" strike="noStrike">
              <a:solidFill>
                <a:schemeClr val="dk1"/>
              </a:solidFill>
              <a:latin typeface="Calibri"/>
              <a:ea typeface="Calibri"/>
              <a:cs typeface="Calibri"/>
              <a:sym typeface="Calibri"/>
            </a:endParaRPr>
          </a:p>
        </p:txBody>
      </p:sp>
      <p:sp>
        <p:nvSpPr>
          <p:cNvPr id="275" name="Google Shape;275;p13"/>
          <p:cNvSpPr/>
          <p:nvPr/>
        </p:nvSpPr>
        <p:spPr>
          <a:xfrm>
            <a:off x="3414503"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Reinforcement learning loop</a:t>
            </a:r>
            <a:endParaRPr b="0" i="0" sz="1030" u="none" cap="none" strike="noStrike">
              <a:solidFill>
                <a:schemeClr val="dk1"/>
              </a:solidFill>
              <a:latin typeface="Calibri"/>
              <a:ea typeface="Calibri"/>
              <a:cs typeface="Calibri"/>
              <a:sym typeface="Calibri"/>
            </a:endParaRPr>
          </a:p>
        </p:txBody>
      </p:sp>
      <p:sp>
        <p:nvSpPr>
          <p:cNvPr id="276" name="Google Shape;276;p13"/>
          <p:cNvSpPr/>
          <p:nvPr/>
        </p:nvSpPr>
        <p:spPr>
          <a:xfrm>
            <a:off x="3414503" y="430488"/>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Supervised fine-tuning</a:t>
            </a:r>
            <a:endParaRPr b="0" i="0" sz="1030" u="none" cap="none" strike="noStrike">
              <a:solidFill>
                <a:schemeClr val="dk1"/>
              </a:solidFill>
              <a:latin typeface="Calibri"/>
              <a:ea typeface="Calibri"/>
              <a:cs typeface="Calibri"/>
              <a:sym typeface="Calibri"/>
            </a:endParaRPr>
          </a:p>
        </p:txBody>
      </p:sp>
      <p:sp>
        <p:nvSpPr>
          <p:cNvPr id="277" name="Google Shape;277;p13"/>
          <p:cNvSpPr/>
          <p:nvPr/>
        </p:nvSpPr>
        <p:spPr>
          <a:xfrm>
            <a:off x="4377173" y="1564842"/>
            <a:ext cx="430500" cy="121800"/>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78" name="Google Shape;278;p13"/>
          <p:cNvSpPr/>
          <p:nvPr/>
        </p:nvSpPr>
        <p:spPr>
          <a:xfrm>
            <a:off x="5550394" y="1567566"/>
            <a:ext cx="561000" cy="1422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valid</a:t>
            </a:r>
            <a:endParaRPr b="0" i="0" sz="1030" u="none" cap="none" strike="noStrike">
              <a:solidFill>
                <a:schemeClr val="lt1"/>
              </a:solidFill>
              <a:latin typeface="Calibri"/>
              <a:ea typeface="Calibri"/>
              <a:cs typeface="Calibri"/>
              <a:sym typeface="Calibri"/>
            </a:endParaRPr>
          </a:p>
        </p:txBody>
      </p:sp>
      <p:sp>
        <p:nvSpPr>
          <p:cNvPr id="279" name="Google Shape;279;p13"/>
          <p:cNvSpPr/>
          <p:nvPr/>
        </p:nvSpPr>
        <p:spPr>
          <a:xfrm rot="5400000">
            <a:off x="6303080" y="1992062"/>
            <a:ext cx="430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0" name="Google Shape;280;p13"/>
          <p:cNvSpPr/>
          <p:nvPr/>
        </p:nvSpPr>
        <p:spPr>
          <a:xfrm flipH="1">
            <a:off x="4405317" y="2434614"/>
            <a:ext cx="16095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1" name="Google Shape;281;p13"/>
          <p:cNvSpPr/>
          <p:nvPr/>
        </p:nvSpPr>
        <p:spPr>
          <a:xfrm flipH="1" rot="5400000">
            <a:off x="3637201" y="1986884"/>
            <a:ext cx="513600" cy="101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2" name="Google Shape;282;p13"/>
          <p:cNvSpPr/>
          <p:nvPr/>
        </p:nvSpPr>
        <p:spPr>
          <a:xfrm>
            <a:off x="6014872" y="406325"/>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Dataset Expansion</a:t>
            </a:r>
            <a:endParaRPr b="0" i="0" sz="1030" u="none" cap="none" strike="noStrike">
              <a:solidFill>
                <a:schemeClr val="dk1"/>
              </a:solidFill>
              <a:latin typeface="Calibri"/>
              <a:ea typeface="Calibri"/>
              <a:cs typeface="Calibri"/>
              <a:sym typeface="Calibri"/>
            </a:endParaRPr>
          </a:p>
        </p:txBody>
      </p:sp>
      <p:sp>
        <p:nvSpPr>
          <p:cNvPr id="283" name="Google Shape;283;p13"/>
          <p:cNvSpPr/>
          <p:nvPr/>
        </p:nvSpPr>
        <p:spPr>
          <a:xfrm flipH="1" rot="5400000">
            <a:off x="6206134" y="1057593"/>
            <a:ext cx="624300" cy="134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4" name="Google Shape;284;p13"/>
          <p:cNvSpPr/>
          <p:nvPr/>
        </p:nvSpPr>
        <p:spPr>
          <a:xfrm flipH="1">
            <a:off x="4348246" y="589621"/>
            <a:ext cx="17241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5" name="Google Shape;285;p13"/>
          <p:cNvSpPr/>
          <p:nvPr/>
        </p:nvSpPr>
        <p:spPr>
          <a:xfrm flipH="1" rot="-2698823">
            <a:off x="4282636" y="1981623"/>
            <a:ext cx="619638" cy="157826"/>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286" name="Google Shape;286;p13"/>
          <p:cNvSpPr/>
          <p:nvPr/>
        </p:nvSpPr>
        <p:spPr>
          <a:xfrm rot="-2885391">
            <a:off x="5446615" y="1035839"/>
            <a:ext cx="779233" cy="178658"/>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287" name="Google Shape;287;p13"/>
          <p:cNvSpPr/>
          <p:nvPr/>
        </p:nvSpPr>
        <p:spPr>
          <a:xfrm>
            <a:off x="3060461" y="1577795"/>
            <a:ext cx="430500" cy="121800"/>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288" name="Google Shape;288;p13"/>
          <p:cNvSpPr/>
          <p:nvPr/>
        </p:nvSpPr>
        <p:spPr>
          <a:xfrm>
            <a:off x="3680101" y="1145770"/>
            <a:ext cx="495072" cy="212004"/>
          </a:xfrm>
          <a:prstGeom prst="flowChartTerminator">
            <a:avLst/>
          </a:prstGeom>
          <a:solidFill>
            <a:srgbClr val="6AA84F"/>
          </a:solidFill>
          <a:ln cap="flat" cmpd="sng" w="9525">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Clr>
                <a:srgbClr val="000000"/>
              </a:buClr>
              <a:buSzPts val="1171"/>
              <a:buFont typeface="Arial"/>
              <a:buNone/>
            </a:pPr>
            <a:r>
              <a:rPr b="0" i="0" lang="en-GB" sz="1171" u="none" cap="none" strike="noStrike">
                <a:solidFill>
                  <a:schemeClr val="lt1"/>
                </a:solidFill>
                <a:latin typeface="Calibri"/>
                <a:ea typeface="Calibri"/>
                <a:cs typeface="Calibri"/>
                <a:sym typeface="Calibri"/>
              </a:rPr>
              <a:t>LLM</a:t>
            </a:r>
            <a:endParaRPr b="0" i="0" sz="1171" u="none" cap="none" strike="noStrike">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2" name="Shape 292"/>
        <p:cNvGrpSpPr/>
        <p:nvPr/>
      </p:nvGrpSpPr>
      <p:grpSpPr>
        <a:xfrm>
          <a:off x="0" y="0"/>
          <a:ext cx="0" cy="0"/>
          <a:chOff x="0" y="0"/>
          <a:chExt cx="0" cy="0"/>
        </a:xfrm>
      </p:grpSpPr>
      <p:sp>
        <p:nvSpPr>
          <p:cNvPr id="293" name="Google Shape;293;p14"/>
          <p:cNvSpPr txBox="1"/>
          <p:nvPr/>
        </p:nvSpPr>
        <p:spPr>
          <a:xfrm>
            <a:off x="956100" y="2725800"/>
            <a:ext cx="7231800" cy="227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Valid or invalid based on pre-simulation hard constraints:</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syntax, floating nodes, short circuits, etc</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Valid topologies are simulated through LTSpice. Invalid topologies are augmented to a netlist validation class dataset.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The validation algorithm may not work perfectly, thus the simulation process may fail for false positive cases (invalid classified as valid). </a:t>
            </a:r>
            <a:endParaRPr b="0" i="0" sz="1700" u="none" cap="none" strike="noStrike">
              <a:solidFill>
                <a:schemeClr val="dk1"/>
              </a:solidFill>
              <a:latin typeface="Arial"/>
              <a:ea typeface="Arial"/>
              <a:cs typeface="Arial"/>
              <a:sym typeface="Arial"/>
            </a:endParaRPr>
          </a:p>
        </p:txBody>
      </p:sp>
      <p:sp>
        <p:nvSpPr>
          <p:cNvPr id="294" name="Google Shape;294;p14"/>
          <p:cNvSpPr/>
          <p:nvPr/>
        </p:nvSpPr>
        <p:spPr>
          <a:xfrm>
            <a:off x="213836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Constraint set dataset</a:t>
            </a:r>
            <a:endParaRPr b="0" i="0" sz="1030" u="none" cap="none" strike="noStrike">
              <a:solidFill>
                <a:schemeClr val="dk1"/>
              </a:solidFill>
              <a:latin typeface="Calibri"/>
              <a:ea typeface="Calibri"/>
              <a:cs typeface="Calibri"/>
              <a:sym typeface="Calibri"/>
            </a:endParaRPr>
          </a:p>
        </p:txBody>
      </p:sp>
      <p:sp>
        <p:nvSpPr>
          <p:cNvPr id="295" name="Google Shape;295;p14"/>
          <p:cNvSpPr/>
          <p:nvPr/>
        </p:nvSpPr>
        <p:spPr>
          <a:xfrm>
            <a:off x="3449726"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generation</a:t>
            </a:r>
            <a:endParaRPr b="0" i="0" sz="1030" u="none" cap="none" strike="noStrike">
              <a:solidFill>
                <a:schemeClr val="dk1"/>
              </a:solidFill>
              <a:latin typeface="Calibri"/>
              <a:ea typeface="Calibri"/>
              <a:cs typeface="Calibri"/>
              <a:sym typeface="Calibri"/>
            </a:endParaRPr>
          </a:p>
        </p:txBody>
      </p:sp>
      <p:sp>
        <p:nvSpPr>
          <p:cNvPr id="296" name="Google Shape;296;p14"/>
          <p:cNvSpPr/>
          <p:nvPr/>
        </p:nvSpPr>
        <p:spPr>
          <a:xfrm>
            <a:off x="4732299" y="1393987"/>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validation</a:t>
            </a:r>
            <a:endParaRPr b="0" i="0" sz="1030" u="none" cap="none" strike="noStrike">
              <a:solidFill>
                <a:schemeClr val="dk1"/>
              </a:solidFill>
              <a:latin typeface="Calibri"/>
              <a:ea typeface="Calibri"/>
              <a:cs typeface="Calibri"/>
              <a:sym typeface="Calibri"/>
            </a:endParaRPr>
          </a:p>
        </p:txBody>
      </p:sp>
      <p:sp>
        <p:nvSpPr>
          <p:cNvPr id="297" name="Google Shape;297;p14"/>
          <p:cNvSpPr/>
          <p:nvPr/>
        </p:nvSpPr>
        <p:spPr>
          <a:xfrm>
            <a:off x="6014872" y="1393987"/>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simulation</a:t>
            </a:r>
            <a:endParaRPr b="0" i="0" sz="1030" u="none" cap="none" strike="noStrike">
              <a:solidFill>
                <a:schemeClr val="dk1"/>
              </a:solidFill>
              <a:latin typeface="Calibri"/>
              <a:ea typeface="Calibri"/>
              <a:cs typeface="Calibri"/>
              <a:sym typeface="Calibri"/>
            </a:endParaRPr>
          </a:p>
        </p:txBody>
      </p:sp>
      <p:sp>
        <p:nvSpPr>
          <p:cNvPr id="298" name="Google Shape;298;p14"/>
          <p:cNvSpPr/>
          <p:nvPr/>
        </p:nvSpPr>
        <p:spPr>
          <a:xfrm>
            <a:off x="5979649"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Reward function processing</a:t>
            </a:r>
            <a:endParaRPr b="0" i="0" sz="1030" u="none" cap="none" strike="noStrike">
              <a:solidFill>
                <a:schemeClr val="dk1"/>
              </a:solidFill>
              <a:latin typeface="Calibri"/>
              <a:ea typeface="Calibri"/>
              <a:cs typeface="Calibri"/>
              <a:sym typeface="Calibri"/>
            </a:endParaRPr>
          </a:p>
        </p:txBody>
      </p:sp>
      <p:sp>
        <p:nvSpPr>
          <p:cNvPr id="299" name="Google Shape;299;p14"/>
          <p:cNvSpPr/>
          <p:nvPr/>
        </p:nvSpPr>
        <p:spPr>
          <a:xfrm>
            <a:off x="3414503"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Reinforcement learning loop</a:t>
            </a:r>
            <a:endParaRPr b="0" i="0" sz="1030" u="none" cap="none" strike="noStrike">
              <a:solidFill>
                <a:schemeClr val="dk1"/>
              </a:solidFill>
              <a:latin typeface="Calibri"/>
              <a:ea typeface="Calibri"/>
              <a:cs typeface="Calibri"/>
              <a:sym typeface="Calibri"/>
            </a:endParaRPr>
          </a:p>
        </p:txBody>
      </p:sp>
      <p:sp>
        <p:nvSpPr>
          <p:cNvPr id="300" name="Google Shape;300;p14"/>
          <p:cNvSpPr/>
          <p:nvPr/>
        </p:nvSpPr>
        <p:spPr>
          <a:xfrm>
            <a:off x="3414503" y="430488"/>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Supervised fine-tuning</a:t>
            </a:r>
            <a:endParaRPr b="0" i="0" sz="1030" u="none" cap="none" strike="noStrike">
              <a:solidFill>
                <a:schemeClr val="dk1"/>
              </a:solidFill>
              <a:latin typeface="Calibri"/>
              <a:ea typeface="Calibri"/>
              <a:cs typeface="Calibri"/>
              <a:sym typeface="Calibri"/>
            </a:endParaRPr>
          </a:p>
        </p:txBody>
      </p:sp>
      <p:sp>
        <p:nvSpPr>
          <p:cNvPr id="301" name="Google Shape;301;p14"/>
          <p:cNvSpPr/>
          <p:nvPr/>
        </p:nvSpPr>
        <p:spPr>
          <a:xfrm>
            <a:off x="4377173" y="1564842"/>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2" name="Google Shape;302;p14"/>
          <p:cNvSpPr/>
          <p:nvPr/>
        </p:nvSpPr>
        <p:spPr>
          <a:xfrm>
            <a:off x="5550394" y="1567566"/>
            <a:ext cx="561000" cy="142200"/>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valid</a:t>
            </a:r>
            <a:endParaRPr b="0" i="0" sz="1030" u="none" cap="none" strike="noStrike">
              <a:solidFill>
                <a:schemeClr val="lt1"/>
              </a:solidFill>
              <a:latin typeface="Calibri"/>
              <a:ea typeface="Calibri"/>
              <a:cs typeface="Calibri"/>
              <a:sym typeface="Calibri"/>
            </a:endParaRPr>
          </a:p>
        </p:txBody>
      </p:sp>
      <p:sp>
        <p:nvSpPr>
          <p:cNvPr id="303" name="Google Shape;303;p14"/>
          <p:cNvSpPr/>
          <p:nvPr/>
        </p:nvSpPr>
        <p:spPr>
          <a:xfrm rot="5400000">
            <a:off x="6303080" y="1992062"/>
            <a:ext cx="430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4" name="Google Shape;304;p14"/>
          <p:cNvSpPr/>
          <p:nvPr/>
        </p:nvSpPr>
        <p:spPr>
          <a:xfrm flipH="1">
            <a:off x="4405317" y="2434614"/>
            <a:ext cx="16095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5" name="Google Shape;305;p14"/>
          <p:cNvSpPr/>
          <p:nvPr/>
        </p:nvSpPr>
        <p:spPr>
          <a:xfrm flipH="1" rot="5400000">
            <a:off x="3637201" y="1986884"/>
            <a:ext cx="513600" cy="101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6" name="Google Shape;306;p14"/>
          <p:cNvSpPr/>
          <p:nvPr/>
        </p:nvSpPr>
        <p:spPr>
          <a:xfrm>
            <a:off x="6014872" y="406325"/>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Dataset Expansion</a:t>
            </a:r>
            <a:endParaRPr b="0" i="0" sz="1030" u="none" cap="none" strike="noStrike">
              <a:solidFill>
                <a:schemeClr val="dk1"/>
              </a:solidFill>
              <a:latin typeface="Calibri"/>
              <a:ea typeface="Calibri"/>
              <a:cs typeface="Calibri"/>
              <a:sym typeface="Calibri"/>
            </a:endParaRPr>
          </a:p>
        </p:txBody>
      </p:sp>
      <p:sp>
        <p:nvSpPr>
          <p:cNvPr id="307" name="Google Shape;307;p14"/>
          <p:cNvSpPr/>
          <p:nvPr/>
        </p:nvSpPr>
        <p:spPr>
          <a:xfrm flipH="1" rot="5400000">
            <a:off x="6206134" y="1057593"/>
            <a:ext cx="624300" cy="134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8" name="Google Shape;308;p14"/>
          <p:cNvSpPr/>
          <p:nvPr/>
        </p:nvSpPr>
        <p:spPr>
          <a:xfrm flipH="1">
            <a:off x="4348246" y="589621"/>
            <a:ext cx="17241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09" name="Google Shape;309;p14"/>
          <p:cNvSpPr/>
          <p:nvPr/>
        </p:nvSpPr>
        <p:spPr>
          <a:xfrm flipH="1" rot="-2698823">
            <a:off x="4282636" y="1981623"/>
            <a:ext cx="619638" cy="157826"/>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10" name="Google Shape;310;p14"/>
          <p:cNvSpPr/>
          <p:nvPr/>
        </p:nvSpPr>
        <p:spPr>
          <a:xfrm rot="-2885391">
            <a:off x="5446615" y="1035839"/>
            <a:ext cx="779233" cy="178658"/>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11" name="Google Shape;311;p14"/>
          <p:cNvSpPr/>
          <p:nvPr/>
        </p:nvSpPr>
        <p:spPr>
          <a:xfrm>
            <a:off x="3060461" y="1577795"/>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12" name="Google Shape;312;p14"/>
          <p:cNvSpPr/>
          <p:nvPr/>
        </p:nvSpPr>
        <p:spPr>
          <a:xfrm>
            <a:off x="3680101" y="1145770"/>
            <a:ext cx="495072" cy="212004"/>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LLM</a:t>
            </a:r>
            <a:endParaRPr b="0" i="0" sz="1171" u="none" cap="none" strike="noStrike">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16" name="Shape 316"/>
        <p:cNvGrpSpPr/>
        <p:nvPr/>
      </p:nvGrpSpPr>
      <p:grpSpPr>
        <a:xfrm>
          <a:off x="0" y="0"/>
          <a:ext cx="0" cy="0"/>
          <a:chOff x="0" y="0"/>
          <a:chExt cx="0" cy="0"/>
        </a:xfrm>
      </p:grpSpPr>
      <p:sp>
        <p:nvSpPr>
          <p:cNvPr id="317" name="Google Shape;317;p15"/>
          <p:cNvSpPr txBox="1"/>
          <p:nvPr/>
        </p:nvSpPr>
        <p:spPr>
          <a:xfrm>
            <a:off x="975500" y="2898350"/>
            <a:ext cx="3465000" cy="1231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Reward function based on:</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Hard constraints</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Area estimate</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Efficiency</a:t>
            </a:r>
            <a:endParaRPr b="0" i="0" sz="1700" u="none" cap="none" strike="noStrike">
              <a:solidFill>
                <a:schemeClr val="dk1"/>
              </a:solidFill>
              <a:latin typeface="Arial"/>
              <a:ea typeface="Arial"/>
              <a:cs typeface="Arial"/>
              <a:sym typeface="Arial"/>
            </a:endParaRPr>
          </a:p>
        </p:txBody>
      </p:sp>
      <p:sp>
        <p:nvSpPr>
          <p:cNvPr id="318" name="Google Shape;318;p15"/>
          <p:cNvSpPr txBox="1"/>
          <p:nvPr/>
        </p:nvSpPr>
        <p:spPr>
          <a:xfrm>
            <a:off x="4440500" y="2898350"/>
            <a:ext cx="3931500" cy="1231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Reinforcement learning</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Aggregate reward signals</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Policy update via batched learning</a:t>
            </a:r>
            <a:endParaRPr b="0" i="0" sz="1700" u="none" cap="none" strike="noStrike">
              <a:solidFill>
                <a:schemeClr val="dk1"/>
              </a:solidFill>
              <a:latin typeface="Arial"/>
              <a:ea typeface="Arial"/>
              <a:cs typeface="Arial"/>
              <a:sym typeface="Arial"/>
            </a:endParaRPr>
          </a:p>
          <a:p>
            <a:pPr indent="-336550" lvl="0" marL="457200" marR="0" rtl="0" algn="l">
              <a:lnSpc>
                <a:spcPct val="100000"/>
              </a:lnSpc>
              <a:spcBef>
                <a:spcPts val="0"/>
              </a:spcBef>
              <a:spcAft>
                <a:spcPts val="0"/>
              </a:spcAft>
              <a:buClr>
                <a:schemeClr val="dk1"/>
              </a:buClr>
              <a:buSzPts val="1700"/>
              <a:buFont typeface="Arial"/>
              <a:buChar char="-"/>
            </a:pPr>
            <a:r>
              <a:rPr b="0" i="0" lang="en-GB" sz="1700" u="none" cap="none" strike="noStrike">
                <a:solidFill>
                  <a:schemeClr val="dk1"/>
                </a:solidFill>
                <a:latin typeface="Arial"/>
                <a:ea typeface="Arial"/>
                <a:cs typeface="Arial"/>
                <a:sym typeface="Arial"/>
              </a:rPr>
              <a:t>Guide future topology generation</a:t>
            </a:r>
            <a:endParaRPr b="0" i="0" sz="1700" u="none" cap="none" strike="noStrike">
              <a:solidFill>
                <a:schemeClr val="dk1"/>
              </a:solidFill>
              <a:latin typeface="Arial"/>
              <a:ea typeface="Arial"/>
              <a:cs typeface="Arial"/>
              <a:sym typeface="Arial"/>
            </a:endParaRPr>
          </a:p>
        </p:txBody>
      </p:sp>
      <p:sp>
        <p:nvSpPr>
          <p:cNvPr id="319" name="Google Shape;319;p15"/>
          <p:cNvSpPr/>
          <p:nvPr/>
        </p:nvSpPr>
        <p:spPr>
          <a:xfrm>
            <a:off x="213836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Constraint set dataset</a:t>
            </a:r>
            <a:endParaRPr b="0" i="0" sz="1030" u="none" cap="none" strike="noStrike">
              <a:solidFill>
                <a:schemeClr val="dk1"/>
              </a:solidFill>
              <a:latin typeface="Calibri"/>
              <a:ea typeface="Calibri"/>
              <a:cs typeface="Calibri"/>
              <a:sym typeface="Calibri"/>
            </a:endParaRPr>
          </a:p>
        </p:txBody>
      </p:sp>
      <p:sp>
        <p:nvSpPr>
          <p:cNvPr id="320" name="Google Shape;320;p15"/>
          <p:cNvSpPr/>
          <p:nvPr/>
        </p:nvSpPr>
        <p:spPr>
          <a:xfrm>
            <a:off x="3449726"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generation</a:t>
            </a:r>
            <a:endParaRPr b="0" i="0" sz="1030" u="none" cap="none" strike="noStrike">
              <a:solidFill>
                <a:schemeClr val="dk1"/>
              </a:solidFill>
              <a:latin typeface="Calibri"/>
              <a:ea typeface="Calibri"/>
              <a:cs typeface="Calibri"/>
              <a:sym typeface="Calibri"/>
            </a:endParaRPr>
          </a:p>
        </p:txBody>
      </p:sp>
      <p:sp>
        <p:nvSpPr>
          <p:cNvPr id="321" name="Google Shape;321;p15"/>
          <p:cNvSpPr/>
          <p:nvPr/>
        </p:nvSpPr>
        <p:spPr>
          <a:xfrm>
            <a:off x="4732299"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validation</a:t>
            </a:r>
            <a:endParaRPr b="0" i="0" sz="1030" u="none" cap="none" strike="noStrike">
              <a:solidFill>
                <a:schemeClr val="dk1"/>
              </a:solidFill>
              <a:latin typeface="Calibri"/>
              <a:ea typeface="Calibri"/>
              <a:cs typeface="Calibri"/>
              <a:sym typeface="Calibri"/>
            </a:endParaRPr>
          </a:p>
        </p:txBody>
      </p:sp>
      <p:sp>
        <p:nvSpPr>
          <p:cNvPr id="322" name="Google Shape;322;p15"/>
          <p:cNvSpPr/>
          <p:nvPr/>
        </p:nvSpPr>
        <p:spPr>
          <a:xfrm>
            <a:off x="601487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simulation</a:t>
            </a:r>
            <a:endParaRPr b="0" i="0" sz="1030" u="none" cap="none" strike="noStrike">
              <a:solidFill>
                <a:schemeClr val="dk1"/>
              </a:solidFill>
              <a:latin typeface="Calibri"/>
              <a:ea typeface="Calibri"/>
              <a:cs typeface="Calibri"/>
              <a:sym typeface="Calibri"/>
            </a:endParaRPr>
          </a:p>
        </p:txBody>
      </p:sp>
      <p:sp>
        <p:nvSpPr>
          <p:cNvPr id="323" name="Google Shape;323;p15"/>
          <p:cNvSpPr/>
          <p:nvPr/>
        </p:nvSpPr>
        <p:spPr>
          <a:xfrm>
            <a:off x="5979649" y="2236190"/>
            <a:ext cx="10260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Reward function processing</a:t>
            </a:r>
            <a:endParaRPr b="0" i="0" sz="1030" u="none" cap="none" strike="noStrike">
              <a:solidFill>
                <a:schemeClr val="dk1"/>
              </a:solidFill>
              <a:latin typeface="Calibri"/>
              <a:ea typeface="Calibri"/>
              <a:cs typeface="Calibri"/>
              <a:sym typeface="Calibri"/>
            </a:endParaRPr>
          </a:p>
        </p:txBody>
      </p:sp>
      <p:sp>
        <p:nvSpPr>
          <p:cNvPr id="324" name="Google Shape;324;p15"/>
          <p:cNvSpPr/>
          <p:nvPr/>
        </p:nvSpPr>
        <p:spPr>
          <a:xfrm>
            <a:off x="3414503" y="2236190"/>
            <a:ext cx="10260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Reinforcement learning loop</a:t>
            </a:r>
            <a:endParaRPr b="0" i="0" sz="1030" u="none" cap="none" strike="noStrike">
              <a:solidFill>
                <a:schemeClr val="dk1"/>
              </a:solidFill>
              <a:latin typeface="Calibri"/>
              <a:ea typeface="Calibri"/>
              <a:cs typeface="Calibri"/>
              <a:sym typeface="Calibri"/>
            </a:endParaRPr>
          </a:p>
        </p:txBody>
      </p:sp>
      <p:sp>
        <p:nvSpPr>
          <p:cNvPr id="325" name="Google Shape;325;p15"/>
          <p:cNvSpPr/>
          <p:nvPr/>
        </p:nvSpPr>
        <p:spPr>
          <a:xfrm>
            <a:off x="3414503" y="430488"/>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Supervised fine-tuning</a:t>
            </a:r>
            <a:endParaRPr b="0" i="0" sz="1030" u="none" cap="none" strike="noStrike">
              <a:solidFill>
                <a:schemeClr val="dk1"/>
              </a:solidFill>
              <a:latin typeface="Calibri"/>
              <a:ea typeface="Calibri"/>
              <a:cs typeface="Calibri"/>
              <a:sym typeface="Calibri"/>
            </a:endParaRPr>
          </a:p>
        </p:txBody>
      </p:sp>
      <p:sp>
        <p:nvSpPr>
          <p:cNvPr id="326" name="Google Shape;326;p15"/>
          <p:cNvSpPr/>
          <p:nvPr/>
        </p:nvSpPr>
        <p:spPr>
          <a:xfrm>
            <a:off x="4377173" y="1564842"/>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27" name="Google Shape;327;p15"/>
          <p:cNvSpPr/>
          <p:nvPr/>
        </p:nvSpPr>
        <p:spPr>
          <a:xfrm>
            <a:off x="5550394" y="1567566"/>
            <a:ext cx="561000" cy="1422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valid</a:t>
            </a:r>
            <a:endParaRPr b="0" i="0" sz="1030" u="none" cap="none" strike="noStrike">
              <a:solidFill>
                <a:schemeClr val="lt1"/>
              </a:solidFill>
              <a:latin typeface="Calibri"/>
              <a:ea typeface="Calibri"/>
              <a:cs typeface="Calibri"/>
              <a:sym typeface="Calibri"/>
            </a:endParaRPr>
          </a:p>
        </p:txBody>
      </p:sp>
      <p:sp>
        <p:nvSpPr>
          <p:cNvPr id="328" name="Google Shape;328;p15"/>
          <p:cNvSpPr/>
          <p:nvPr/>
        </p:nvSpPr>
        <p:spPr>
          <a:xfrm rot="5400000">
            <a:off x="6303080" y="1992062"/>
            <a:ext cx="430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29" name="Google Shape;329;p15"/>
          <p:cNvSpPr/>
          <p:nvPr/>
        </p:nvSpPr>
        <p:spPr>
          <a:xfrm flipH="1">
            <a:off x="4405317" y="2434614"/>
            <a:ext cx="1609500" cy="92700"/>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30" name="Google Shape;330;p15"/>
          <p:cNvSpPr/>
          <p:nvPr/>
        </p:nvSpPr>
        <p:spPr>
          <a:xfrm flipH="1" rot="5400000">
            <a:off x="3637201" y="1986884"/>
            <a:ext cx="513600" cy="101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31" name="Google Shape;331;p15"/>
          <p:cNvSpPr/>
          <p:nvPr/>
        </p:nvSpPr>
        <p:spPr>
          <a:xfrm>
            <a:off x="6014872" y="406325"/>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Dataset Expansion</a:t>
            </a:r>
            <a:endParaRPr b="0" i="0" sz="1030" u="none" cap="none" strike="noStrike">
              <a:solidFill>
                <a:schemeClr val="dk1"/>
              </a:solidFill>
              <a:latin typeface="Calibri"/>
              <a:ea typeface="Calibri"/>
              <a:cs typeface="Calibri"/>
              <a:sym typeface="Calibri"/>
            </a:endParaRPr>
          </a:p>
        </p:txBody>
      </p:sp>
      <p:sp>
        <p:nvSpPr>
          <p:cNvPr id="332" name="Google Shape;332;p15"/>
          <p:cNvSpPr/>
          <p:nvPr/>
        </p:nvSpPr>
        <p:spPr>
          <a:xfrm flipH="1" rot="5400000">
            <a:off x="6206134" y="1057593"/>
            <a:ext cx="624300" cy="134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33" name="Google Shape;333;p15"/>
          <p:cNvSpPr/>
          <p:nvPr/>
        </p:nvSpPr>
        <p:spPr>
          <a:xfrm flipH="1">
            <a:off x="4348246" y="589621"/>
            <a:ext cx="17241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34" name="Google Shape;334;p15"/>
          <p:cNvSpPr/>
          <p:nvPr/>
        </p:nvSpPr>
        <p:spPr>
          <a:xfrm flipH="1" rot="-2698823">
            <a:off x="4282636" y="1981623"/>
            <a:ext cx="619638" cy="157826"/>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35" name="Google Shape;335;p15"/>
          <p:cNvSpPr/>
          <p:nvPr/>
        </p:nvSpPr>
        <p:spPr>
          <a:xfrm rot="-2885391">
            <a:off x="5446615" y="1035839"/>
            <a:ext cx="779233" cy="178658"/>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36" name="Google Shape;336;p15"/>
          <p:cNvSpPr/>
          <p:nvPr/>
        </p:nvSpPr>
        <p:spPr>
          <a:xfrm>
            <a:off x="3060461" y="1577795"/>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37" name="Google Shape;337;p15"/>
          <p:cNvSpPr/>
          <p:nvPr/>
        </p:nvSpPr>
        <p:spPr>
          <a:xfrm>
            <a:off x="3680101" y="1145770"/>
            <a:ext cx="495072" cy="212004"/>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LLM</a:t>
            </a:r>
            <a:endParaRPr b="0" i="0" sz="1171" u="none" cap="none" strike="noStrike">
              <a:solidFill>
                <a:schemeClr val="lt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1" name="Shape 341"/>
        <p:cNvGrpSpPr/>
        <p:nvPr/>
      </p:nvGrpSpPr>
      <p:grpSpPr>
        <a:xfrm>
          <a:off x="0" y="0"/>
          <a:ext cx="0" cy="0"/>
          <a:chOff x="0" y="0"/>
          <a:chExt cx="0" cy="0"/>
        </a:xfrm>
      </p:grpSpPr>
      <p:sp>
        <p:nvSpPr>
          <p:cNvPr id="342" name="Google Shape;342;p16"/>
          <p:cNvSpPr txBox="1"/>
          <p:nvPr/>
        </p:nvSpPr>
        <p:spPr>
          <a:xfrm>
            <a:off x="956100" y="2805325"/>
            <a:ext cx="7231800" cy="1231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All netlists are added to the dataset.</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Using this dataset of netlists with valid and invalid labels we finetune the LLM to recognise what a valid topology looks like. </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dk1"/>
                </a:solidFill>
                <a:latin typeface="Arial"/>
                <a:ea typeface="Arial"/>
                <a:cs typeface="Arial"/>
                <a:sym typeface="Arial"/>
              </a:rPr>
              <a:t>This is called Supervised Fine Tuning (SFT) Warm start. </a:t>
            </a:r>
            <a:endParaRPr b="0" i="0" sz="1700" u="none" cap="none" strike="noStrike">
              <a:solidFill>
                <a:schemeClr val="dk1"/>
              </a:solidFill>
              <a:latin typeface="Arial"/>
              <a:ea typeface="Arial"/>
              <a:cs typeface="Arial"/>
              <a:sym typeface="Arial"/>
            </a:endParaRPr>
          </a:p>
        </p:txBody>
      </p:sp>
      <p:sp>
        <p:nvSpPr>
          <p:cNvPr id="343" name="Google Shape;343;p16"/>
          <p:cNvSpPr/>
          <p:nvPr/>
        </p:nvSpPr>
        <p:spPr>
          <a:xfrm>
            <a:off x="213836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Constraint set dataset</a:t>
            </a:r>
            <a:endParaRPr b="0" i="0" sz="1030" u="none" cap="none" strike="noStrike">
              <a:solidFill>
                <a:schemeClr val="dk1"/>
              </a:solidFill>
              <a:latin typeface="Calibri"/>
              <a:ea typeface="Calibri"/>
              <a:cs typeface="Calibri"/>
              <a:sym typeface="Calibri"/>
            </a:endParaRPr>
          </a:p>
        </p:txBody>
      </p:sp>
      <p:sp>
        <p:nvSpPr>
          <p:cNvPr id="344" name="Google Shape;344;p16"/>
          <p:cNvSpPr/>
          <p:nvPr/>
        </p:nvSpPr>
        <p:spPr>
          <a:xfrm>
            <a:off x="3449726"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generation</a:t>
            </a:r>
            <a:endParaRPr b="0" i="0" sz="1030" u="none" cap="none" strike="noStrike">
              <a:solidFill>
                <a:schemeClr val="dk1"/>
              </a:solidFill>
              <a:latin typeface="Calibri"/>
              <a:ea typeface="Calibri"/>
              <a:cs typeface="Calibri"/>
              <a:sym typeface="Calibri"/>
            </a:endParaRPr>
          </a:p>
        </p:txBody>
      </p:sp>
      <p:sp>
        <p:nvSpPr>
          <p:cNvPr id="345" name="Google Shape;345;p16"/>
          <p:cNvSpPr/>
          <p:nvPr/>
        </p:nvSpPr>
        <p:spPr>
          <a:xfrm>
            <a:off x="4732299"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validation</a:t>
            </a:r>
            <a:endParaRPr b="0" i="0" sz="1030" u="none" cap="none" strike="noStrike">
              <a:solidFill>
                <a:schemeClr val="dk1"/>
              </a:solidFill>
              <a:latin typeface="Calibri"/>
              <a:ea typeface="Calibri"/>
              <a:cs typeface="Calibri"/>
              <a:sym typeface="Calibri"/>
            </a:endParaRPr>
          </a:p>
        </p:txBody>
      </p:sp>
      <p:sp>
        <p:nvSpPr>
          <p:cNvPr id="346" name="Google Shape;346;p16"/>
          <p:cNvSpPr/>
          <p:nvPr/>
        </p:nvSpPr>
        <p:spPr>
          <a:xfrm>
            <a:off x="6014872" y="1393987"/>
            <a:ext cx="9561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Topology simulation</a:t>
            </a:r>
            <a:endParaRPr b="0" i="0" sz="1030" u="none" cap="none" strike="noStrike">
              <a:solidFill>
                <a:schemeClr val="dk1"/>
              </a:solidFill>
              <a:latin typeface="Calibri"/>
              <a:ea typeface="Calibri"/>
              <a:cs typeface="Calibri"/>
              <a:sym typeface="Calibri"/>
            </a:endParaRPr>
          </a:p>
        </p:txBody>
      </p:sp>
      <p:sp>
        <p:nvSpPr>
          <p:cNvPr id="347" name="Google Shape;347;p16"/>
          <p:cNvSpPr/>
          <p:nvPr/>
        </p:nvSpPr>
        <p:spPr>
          <a:xfrm>
            <a:off x="5979649"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Reward function processing</a:t>
            </a:r>
            <a:endParaRPr b="0" i="0" sz="1030" u="none" cap="none" strike="noStrike">
              <a:solidFill>
                <a:schemeClr val="dk1"/>
              </a:solidFill>
              <a:latin typeface="Calibri"/>
              <a:ea typeface="Calibri"/>
              <a:cs typeface="Calibri"/>
              <a:sym typeface="Calibri"/>
            </a:endParaRPr>
          </a:p>
        </p:txBody>
      </p:sp>
      <p:sp>
        <p:nvSpPr>
          <p:cNvPr id="348" name="Google Shape;348;p16"/>
          <p:cNvSpPr/>
          <p:nvPr/>
        </p:nvSpPr>
        <p:spPr>
          <a:xfrm>
            <a:off x="3414503" y="2236190"/>
            <a:ext cx="1026000" cy="4896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Reinforcement learning loop</a:t>
            </a:r>
            <a:endParaRPr b="0" i="0" sz="1030" u="none" cap="none" strike="noStrike">
              <a:solidFill>
                <a:schemeClr val="dk1"/>
              </a:solidFill>
              <a:latin typeface="Calibri"/>
              <a:ea typeface="Calibri"/>
              <a:cs typeface="Calibri"/>
              <a:sym typeface="Calibri"/>
            </a:endParaRPr>
          </a:p>
        </p:txBody>
      </p:sp>
      <p:sp>
        <p:nvSpPr>
          <p:cNvPr id="349" name="Google Shape;349;p16"/>
          <p:cNvSpPr/>
          <p:nvPr/>
        </p:nvSpPr>
        <p:spPr>
          <a:xfrm>
            <a:off x="3414503" y="430488"/>
            <a:ext cx="10260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Supervised fine-tuning</a:t>
            </a:r>
            <a:endParaRPr b="0" i="0" sz="1030" u="none" cap="none" strike="noStrike">
              <a:solidFill>
                <a:schemeClr val="dk1"/>
              </a:solidFill>
              <a:latin typeface="Calibri"/>
              <a:ea typeface="Calibri"/>
              <a:cs typeface="Calibri"/>
              <a:sym typeface="Calibri"/>
            </a:endParaRPr>
          </a:p>
        </p:txBody>
      </p:sp>
      <p:sp>
        <p:nvSpPr>
          <p:cNvPr id="350" name="Google Shape;350;p16"/>
          <p:cNvSpPr/>
          <p:nvPr/>
        </p:nvSpPr>
        <p:spPr>
          <a:xfrm>
            <a:off x="4377173" y="1564842"/>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1" name="Google Shape;351;p16"/>
          <p:cNvSpPr/>
          <p:nvPr/>
        </p:nvSpPr>
        <p:spPr>
          <a:xfrm>
            <a:off x="5550394" y="1567566"/>
            <a:ext cx="561000" cy="1422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valid</a:t>
            </a:r>
            <a:endParaRPr b="0" i="0" sz="1030" u="none" cap="none" strike="noStrike">
              <a:solidFill>
                <a:schemeClr val="lt1"/>
              </a:solidFill>
              <a:latin typeface="Calibri"/>
              <a:ea typeface="Calibri"/>
              <a:cs typeface="Calibri"/>
              <a:sym typeface="Calibri"/>
            </a:endParaRPr>
          </a:p>
        </p:txBody>
      </p:sp>
      <p:sp>
        <p:nvSpPr>
          <p:cNvPr id="352" name="Google Shape;352;p16"/>
          <p:cNvSpPr/>
          <p:nvPr/>
        </p:nvSpPr>
        <p:spPr>
          <a:xfrm rot="5400000">
            <a:off x="6303080" y="1992062"/>
            <a:ext cx="430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3" name="Google Shape;353;p16"/>
          <p:cNvSpPr/>
          <p:nvPr/>
        </p:nvSpPr>
        <p:spPr>
          <a:xfrm flipH="1">
            <a:off x="4405317" y="2434614"/>
            <a:ext cx="1609500" cy="92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4" name="Google Shape;354;p16"/>
          <p:cNvSpPr/>
          <p:nvPr/>
        </p:nvSpPr>
        <p:spPr>
          <a:xfrm flipH="1" rot="5400000">
            <a:off x="3637201" y="1986884"/>
            <a:ext cx="513600" cy="101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5" name="Google Shape;355;p16"/>
          <p:cNvSpPr/>
          <p:nvPr/>
        </p:nvSpPr>
        <p:spPr>
          <a:xfrm>
            <a:off x="6014872" y="406325"/>
            <a:ext cx="956100" cy="489600"/>
          </a:xfrm>
          <a:prstGeom prst="rect">
            <a:avLst/>
          </a:prstGeom>
          <a:solidFill>
            <a:srgbClr val="6AA84F"/>
          </a:solidFill>
          <a:ln cap="flat" cmpd="sng" w="9525">
            <a:solidFill>
              <a:schemeClr val="dk1"/>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l">
              <a:lnSpc>
                <a:spcPct val="100000"/>
              </a:lnSpc>
              <a:spcBef>
                <a:spcPts val="0"/>
              </a:spcBef>
              <a:spcAft>
                <a:spcPts val="0"/>
              </a:spcAft>
              <a:buClr>
                <a:srgbClr val="000000"/>
              </a:buClr>
              <a:buSzPts val="1030"/>
              <a:buFont typeface="Arial"/>
              <a:buNone/>
            </a:pPr>
            <a:r>
              <a:rPr b="0" i="0" lang="en-GB" sz="1030" u="none" cap="none" strike="noStrike">
                <a:solidFill>
                  <a:schemeClr val="dk1"/>
                </a:solidFill>
                <a:latin typeface="Calibri"/>
                <a:ea typeface="Calibri"/>
                <a:cs typeface="Calibri"/>
                <a:sym typeface="Calibri"/>
              </a:rPr>
              <a:t>Dataset Expansion</a:t>
            </a:r>
            <a:endParaRPr b="0" i="0" sz="1030" u="none" cap="none" strike="noStrike">
              <a:solidFill>
                <a:schemeClr val="dk1"/>
              </a:solidFill>
              <a:latin typeface="Calibri"/>
              <a:ea typeface="Calibri"/>
              <a:cs typeface="Calibri"/>
              <a:sym typeface="Calibri"/>
            </a:endParaRPr>
          </a:p>
        </p:txBody>
      </p:sp>
      <p:sp>
        <p:nvSpPr>
          <p:cNvPr id="356" name="Google Shape;356;p16"/>
          <p:cNvSpPr/>
          <p:nvPr/>
        </p:nvSpPr>
        <p:spPr>
          <a:xfrm flipH="1" rot="5400000">
            <a:off x="6206134" y="1057593"/>
            <a:ext cx="624300" cy="134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7" name="Google Shape;357;p16"/>
          <p:cNvSpPr/>
          <p:nvPr/>
        </p:nvSpPr>
        <p:spPr>
          <a:xfrm flipH="1">
            <a:off x="4348246" y="589621"/>
            <a:ext cx="1724100" cy="92700"/>
          </a:xfrm>
          <a:prstGeom prst="homePlate">
            <a:avLst>
              <a:gd fmla="val 50000" name="adj"/>
            </a:avLst>
          </a:prstGeom>
          <a:solidFill>
            <a:srgbClr val="6AA84F"/>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58" name="Google Shape;358;p16"/>
          <p:cNvSpPr/>
          <p:nvPr/>
        </p:nvSpPr>
        <p:spPr>
          <a:xfrm flipH="1" rot="-2698823">
            <a:off x="4282636" y="1981623"/>
            <a:ext cx="619638" cy="157826"/>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59" name="Google Shape;359;p16"/>
          <p:cNvSpPr/>
          <p:nvPr/>
        </p:nvSpPr>
        <p:spPr>
          <a:xfrm rot="-2885391">
            <a:off x="5446615" y="1035839"/>
            <a:ext cx="779233" cy="178658"/>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invalid</a:t>
            </a:r>
            <a:endParaRPr b="0" i="0" sz="1030" u="none" cap="none" strike="noStrike">
              <a:solidFill>
                <a:schemeClr val="lt1"/>
              </a:solidFill>
              <a:latin typeface="Calibri"/>
              <a:ea typeface="Calibri"/>
              <a:cs typeface="Calibri"/>
              <a:sym typeface="Calibri"/>
            </a:endParaRPr>
          </a:p>
        </p:txBody>
      </p:sp>
      <p:sp>
        <p:nvSpPr>
          <p:cNvPr id="360" name="Google Shape;360;p16"/>
          <p:cNvSpPr/>
          <p:nvPr/>
        </p:nvSpPr>
        <p:spPr>
          <a:xfrm>
            <a:off x="3060461" y="1577795"/>
            <a:ext cx="430500" cy="1218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67300" lIns="67300" spcFirstLastPara="1" rIns="67300" wrap="square" tIns="67300">
            <a:noAutofit/>
          </a:bodyPr>
          <a:lstStyle/>
          <a:p>
            <a:pPr indent="0" lvl="0" marL="0" marR="0" rtl="0" algn="ctr">
              <a:lnSpc>
                <a:spcPct val="100000"/>
              </a:lnSpc>
              <a:spcBef>
                <a:spcPts val="0"/>
              </a:spcBef>
              <a:spcAft>
                <a:spcPts val="0"/>
              </a:spcAft>
              <a:buClr>
                <a:srgbClr val="000000"/>
              </a:buClr>
              <a:buSzPts val="1030"/>
              <a:buFont typeface="Arial"/>
              <a:buNone/>
            </a:pPr>
            <a:r>
              <a:t/>
            </a:r>
            <a:endParaRPr b="0" i="0" sz="1030" u="none" cap="none" strike="noStrike">
              <a:solidFill>
                <a:schemeClr val="lt1"/>
              </a:solidFill>
              <a:latin typeface="Calibri"/>
              <a:ea typeface="Calibri"/>
              <a:cs typeface="Calibri"/>
              <a:sym typeface="Calibri"/>
            </a:endParaRPr>
          </a:p>
        </p:txBody>
      </p:sp>
      <p:sp>
        <p:nvSpPr>
          <p:cNvPr id="361" name="Google Shape;361;p16"/>
          <p:cNvSpPr/>
          <p:nvPr/>
        </p:nvSpPr>
        <p:spPr>
          <a:xfrm>
            <a:off x="3680101" y="1145770"/>
            <a:ext cx="495072" cy="212004"/>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62950" lIns="62950" spcFirstLastPara="1" rIns="62950" wrap="square" tIns="62950">
            <a:noAutofit/>
          </a:bodyPr>
          <a:lstStyle/>
          <a:p>
            <a:pPr indent="0" lvl="0" marL="0" marR="0" rtl="0" algn="ctr">
              <a:lnSpc>
                <a:spcPct val="100000"/>
              </a:lnSpc>
              <a:spcBef>
                <a:spcPts val="0"/>
              </a:spcBef>
              <a:spcAft>
                <a:spcPts val="0"/>
              </a:spcAft>
              <a:buClr>
                <a:srgbClr val="000000"/>
              </a:buClr>
              <a:buSzPts val="1030"/>
              <a:buFont typeface="Arial"/>
              <a:buNone/>
            </a:pPr>
            <a:r>
              <a:rPr b="0" i="0" lang="en-GB" sz="1030" u="none" cap="none" strike="noStrike">
                <a:solidFill>
                  <a:schemeClr val="lt1"/>
                </a:solidFill>
                <a:latin typeface="Calibri"/>
                <a:ea typeface="Calibri"/>
                <a:cs typeface="Calibri"/>
                <a:sym typeface="Calibri"/>
              </a:rPr>
              <a:t>LLM</a:t>
            </a:r>
            <a:endParaRPr b="0" i="0" sz="1171" u="none" cap="none" strike="noStrike">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7"/>
          <p:cNvSpPr/>
          <p:nvPr/>
        </p:nvSpPr>
        <p:spPr>
          <a:xfrm>
            <a:off x="793800"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marR="0" rtl="0" algn="l">
              <a:lnSpc>
                <a:spcPct val="100000"/>
              </a:lnSpc>
              <a:spcBef>
                <a:spcPts val="0"/>
              </a:spcBef>
              <a:spcAft>
                <a:spcPts val="0"/>
              </a:spcAft>
              <a:buClr>
                <a:srgbClr val="000000"/>
              </a:buClr>
              <a:buSzPts val="1902"/>
              <a:buFont typeface="Arial"/>
              <a:buNone/>
            </a:pPr>
            <a:r>
              <a:rPr b="0" i="0" lang="en-GB" sz="1902" u="none" cap="none" strike="noStrike">
                <a:solidFill>
                  <a:schemeClr val="dk1"/>
                </a:solidFill>
                <a:latin typeface="Calibri"/>
                <a:ea typeface="Calibri"/>
                <a:cs typeface="Calibri"/>
                <a:sym typeface="Calibri"/>
              </a:rPr>
              <a:t>User input</a:t>
            </a:r>
            <a:endParaRPr b="0" i="0" sz="1902" u="none" cap="none" strike="noStrike">
              <a:solidFill>
                <a:schemeClr val="dk1"/>
              </a:solidFill>
              <a:latin typeface="Calibri"/>
              <a:ea typeface="Calibri"/>
              <a:cs typeface="Calibri"/>
              <a:sym typeface="Calibri"/>
            </a:endParaRPr>
          </a:p>
        </p:txBody>
      </p:sp>
      <p:sp>
        <p:nvSpPr>
          <p:cNvPr id="367" name="Google Shape;367;p17"/>
          <p:cNvSpPr/>
          <p:nvPr/>
        </p:nvSpPr>
        <p:spPr>
          <a:xfrm>
            <a:off x="3689858"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marR="0" rtl="0" algn="l">
              <a:lnSpc>
                <a:spcPct val="100000"/>
              </a:lnSpc>
              <a:spcBef>
                <a:spcPts val="0"/>
              </a:spcBef>
              <a:spcAft>
                <a:spcPts val="0"/>
              </a:spcAft>
              <a:buClr>
                <a:srgbClr val="000000"/>
              </a:buClr>
              <a:buSzPts val="1902"/>
              <a:buFont typeface="Arial"/>
              <a:buNone/>
            </a:pPr>
            <a:r>
              <a:rPr b="0" i="0" lang="en-GB" sz="1902" u="none" cap="none" strike="noStrike">
                <a:solidFill>
                  <a:schemeClr val="dk1"/>
                </a:solidFill>
                <a:latin typeface="Calibri"/>
                <a:ea typeface="Calibri"/>
                <a:cs typeface="Calibri"/>
                <a:sym typeface="Calibri"/>
              </a:rPr>
              <a:t>Topology generation</a:t>
            </a:r>
            <a:endParaRPr b="0" i="0" sz="1902" u="none" cap="none" strike="noStrike">
              <a:solidFill>
                <a:schemeClr val="dk1"/>
              </a:solidFill>
              <a:latin typeface="Calibri"/>
              <a:ea typeface="Calibri"/>
              <a:cs typeface="Calibri"/>
              <a:sym typeface="Calibri"/>
            </a:endParaRPr>
          </a:p>
        </p:txBody>
      </p:sp>
      <p:sp>
        <p:nvSpPr>
          <p:cNvPr id="368" name="Google Shape;368;p17"/>
          <p:cNvSpPr txBox="1"/>
          <p:nvPr>
            <p:ph type="title"/>
          </p:nvPr>
        </p:nvSpPr>
        <p:spPr>
          <a:xfrm>
            <a:off x="793800" y="70875"/>
            <a:ext cx="7556400" cy="7338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a:t>Testing pipeline</a:t>
            </a:r>
            <a:endParaRPr/>
          </a:p>
        </p:txBody>
      </p:sp>
      <p:sp>
        <p:nvSpPr>
          <p:cNvPr id="369" name="Google Shape;369;p17"/>
          <p:cNvSpPr/>
          <p:nvPr/>
        </p:nvSpPr>
        <p:spPr>
          <a:xfrm>
            <a:off x="2392948" y="1731025"/>
            <a:ext cx="1422300" cy="224700"/>
          </a:xfrm>
          <a:prstGeom prst="homePlate">
            <a:avLst>
              <a:gd fmla="val 50000" name="adj"/>
            </a:avLst>
          </a:prstGeom>
          <a:solidFill>
            <a:schemeClr val="lt2"/>
          </a:solidFill>
          <a:ln cap="flat" cmpd="sng" w="12950">
            <a:solidFill>
              <a:schemeClr val="dk2"/>
            </a:solidFill>
            <a:prstDash val="solid"/>
            <a:round/>
            <a:headEnd len="sm" w="sm" type="none"/>
            <a:tailEnd len="sm" w="sm" type="none"/>
          </a:ln>
        </p:spPr>
        <p:txBody>
          <a:bodyPr anchorCtr="0" anchor="ctr" bIns="124225" lIns="124225" spcFirstLastPara="1" rIns="124225" wrap="square" tIns="124225">
            <a:noAutofit/>
          </a:bodyPr>
          <a:lstStyle/>
          <a:p>
            <a:pPr indent="0" lvl="0" marL="0" marR="0" rtl="0" algn="ctr">
              <a:lnSpc>
                <a:spcPct val="100000"/>
              </a:lnSpc>
              <a:spcBef>
                <a:spcPts val="0"/>
              </a:spcBef>
              <a:spcAft>
                <a:spcPts val="0"/>
              </a:spcAft>
              <a:buClr>
                <a:srgbClr val="000000"/>
              </a:buClr>
              <a:buSzPts val="1902"/>
              <a:buFont typeface="Arial"/>
              <a:buNone/>
            </a:pPr>
            <a:r>
              <a:t/>
            </a:r>
            <a:endParaRPr b="0" i="0" sz="1902" u="none" cap="none" strike="noStrike">
              <a:solidFill>
                <a:schemeClr val="lt1"/>
              </a:solidFill>
              <a:latin typeface="Calibri"/>
              <a:ea typeface="Calibri"/>
              <a:cs typeface="Calibri"/>
              <a:sym typeface="Calibri"/>
            </a:endParaRPr>
          </a:p>
        </p:txBody>
      </p:sp>
      <p:sp>
        <p:nvSpPr>
          <p:cNvPr id="370" name="Google Shape;370;p17"/>
          <p:cNvSpPr/>
          <p:nvPr/>
        </p:nvSpPr>
        <p:spPr>
          <a:xfrm>
            <a:off x="6381933" y="1403675"/>
            <a:ext cx="1764300" cy="903300"/>
          </a:xfrm>
          <a:prstGeom prst="rect">
            <a:avLst/>
          </a:prstGeom>
          <a:solidFill>
            <a:schemeClr val="lt1"/>
          </a:solidFill>
          <a:ln cap="flat" cmpd="sng" w="12950">
            <a:solidFill>
              <a:schemeClr val="dk1"/>
            </a:solidFill>
            <a:prstDash val="solid"/>
            <a:round/>
            <a:headEnd len="sm" w="sm" type="none"/>
            <a:tailEnd len="sm" w="sm" type="none"/>
          </a:ln>
        </p:spPr>
        <p:txBody>
          <a:bodyPr anchorCtr="0" anchor="ctr" bIns="124225" lIns="124225" spcFirstLastPara="1" rIns="124225" wrap="square" tIns="124225">
            <a:noAutofit/>
          </a:bodyPr>
          <a:lstStyle/>
          <a:p>
            <a:pPr indent="0" lvl="0" marL="0" marR="0" rtl="0" algn="l">
              <a:lnSpc>
                <a:spcPct val="100000"/>
              </a:lnSpc>
              <a:spcBef>
                <a:spcPts val="0"/>
              </a:spcBef>
              <a:spcAft>
                <a:spcPts val="0"/>
              </a:spcAft>
              <a:buClr>
                <a:srgbClr val="000000"/>
              </a:buClr>
              <a:buSzPts val="1902"/>
              <a:buFont typeface="Arial"/>
              <a:buNone/>
            </a:pPr>
            <a:r>
              <a:rPr b="0" i="0" lang="en-GB" sz="1902" u="none" cap="none" strike="noStrike">
                <a:solidFill>
                  <a:schemeClr val="dk1"/>
                </a:solidFill>
                <a:latin typeface="Calibri"/>
                <a:ea typeface="Calibri"/>
                <a:cs typeface="Calibri"/>
                <a:sym typeface="Calibri"/>
              </a:rPr>
              <a:t>Model response</a:t>
            </a:r>
            <a:endParaRPr b="0" i="0" sz="1902" u="none" cap="none" strike="noStrike">
              <a:solidFill>
                <a:schemeClr val="dk1"/>
              </a:solidFill>
              <a:latin typeface="Calibri"/>
              <a:ea typeface="Calibri"/>
              <a:cs typeface="Calibri"/>
              <a:sym typeface="Calibri"/>
            </a:endParaRPr>
          </a:p>
        </p:txBody>
      </p:sp>
      <p:sp>
        <p:nvSpPr>
          <p:cNvPr id="371" name="Google Shape;371;p17"/>
          <p:cNvSpPr/>
          <p:nvPr/>
        </p:nvSpPr>
        <p:spPr>
          <a:xfrm>
            <a:off x="5314107" y="1742975"/>
            <a:ext cx="1202100" cy="224700"/>
          </a:xfrm>
          <a:prstGeom prst="homePlate">
            <a:avLst>
              <a:gd fmla="val 50000" name="adj"/>
            </a:avLst>
          </a:prstGeom>
          <a:solidFill>
            <a:schemeClr val="lt2"/>
          </a:solidFill>
          <a:ln cap="flat" cmpd="sng" w="12950">
            <a:solidFill>
              <a:schemeClr val="dk2"/>
            </a:solidFill>
            <a:prstDash val="solid"/>
            <a:round/>
            <a:headEnd len="sm" w="sm" type="none"/>
            <a:tailEnd len="sm" w="sm" type="none"/>
          </a:ln>
        </p:spPr>
        <p:txBody>
          <a:bodyPr anchorCtr="0" anchor="ctr" bIns="124225" lIns="124225" spcFirstLastPara="1" rIns="124225" wrap="square" tIns="124225">
            <a:noAutofit/>
          </a:bodyPr>
          <a:lstStyle/>
          <a:p>
            <a:pPr indent="0" lvl="0" marL="0" marR="0" rtl="0" algn="ctr">
              <a:lnSpc>
                <a:spcPct val="100000"/>
              </a:lnSpc>
              <a:spcBef>
                <a:spcPts val="0"/>
              </a:spcBef>
              <a:spcAft>
                <a:spcPts val="0"/>
              </a:spcAft>
              <a:buClr>
                <a:srgbClr val="000000"/>
              </a:buClr>
              <a:buSzPts val="1902"/>
              <a:buFont typeface="Arial"/>
              <a:buNone/>
            </a:pPr>
            <a:r>
              <a:t/>
            </a:r>
            <a:endParaRPr b="0" i="0" sz="1902" u="none" cap="none" strike="noStrike">
              <a:solidFill>
                <a:schemeClr val="lt1"/>
              </a:solidFill>
              <a:latin typeface="Calibri"/>
              <a:ea typeface="Calibri"/>
              <a:cs typeface="Calibri"/>
              <a:sym typeface="Calibri"/>
            </a:endParaRPr>
          </a:p>
        </p:txBody>
      </p:sp>
      <p:sp>
        <p:nvSpPr>
          <p:cNvPr id="372" name="Google Shape;372;p17"/>
          <p:cNvSpPr/>
          <p:nvPr/>
        </p:nvSpPr>
        <p:spPr>
          <a:xfrm>
            <a:off x="3558038" y="816625"/>
            <a:ext cx="2027916" cy="575100"/>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700"/>
              <a:buFont typeface="Arial"/>
              <a:buNone/>
            </a:pPr>
            <a:r>
              <a:rPr b="0" i="0" lang="en-GB" sz="1700" u="none" cap="none" strike="noStrike">
                <a:solidFill>
                  <a:schemeClr val="lt1"/>
                </a:solidFill>
                <a:latin typeface="Calibri"/>
                <a:ea typeface="Calibri"/>
                <a:cs typeface="Calibri"/>
                <a:sym typeface="Calibri"/>
              </a:rPr>
              <a:t>Fine-tuned LLM</a:t>
            </a:r>
            <a:endParaRPr b="0" i="0" sz="1700" u="none" cap="none" strike="noStrike">
              <a:solidFill>
                <a:schemeClr val="lt1"/>
              </a:solidFill>
              <a:latin typeface="Calibri"/>
              <a:ea typeface="Calibri"/>
              <a:cs typeface="Calibri"/>
              <a:sym typeface="Calibri"/>
            </a:endParaRPr>
          </a:p>
        </p:txBody>
      </p:sp>
      <p:sp>
        <p:nvSpPr>
          <p:cNvPr id="373" name="Google Shape;373;p17"/>
          <p:cNvSpPr txBox="1"/>
          <p:nvPr/>
        </p:nvSpPr>
        <p:spPr>
          <a:xfrm>
            <a:off x="822563" y="2666175"/>
            <a:ext cx="2836800" cy="2376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450"/>
              <a:buFont typeface="Arial"/>
              <a:buNone/>
            </a:pPr>
            <a:r>
              <a:rPr b="1" i="0" lang="en-GB" sz="1450" u="none" cap="none" strike="noStrike">
                <a:solidFill>
                  <a:schemeClr val="dk1"/>
                </a:solidFill>
                <a:latin typeface="Arial"/>
                <a:ea typeface="Arial"/>
                <a:cs typeface="Arial"/>
                <a:sym typeface="Arial"/>
              </a:rPr>
              <a:t>Input</a:t>
            </a:r>
            <a:r>
              <a:rPr b="0" i="0" lang="en-GB" sz="1450" u="none" cap="none" strike="noStrike">
                <a:solidFill>
                  <a:schemeClr val="dk1"/>
                </a:solidFill>
                <a:latin typeface="Arial"/>
                <a:ea typeface="Arial"/>
                <a:cs typeface="Arial"/>
                <a:sym typeface="Arial"/>
              </a:rPr>
              <a:t>: Accept plain-text design specification from user</a:t>
            </a:r>
            <a:endParaRPr b="0" i="0" sz="1450" u="none" cap="none" strike="noStrike">
              <a:solidFill>
                <a:schemeClr val="dk1"/>
              </a:solidFill>
              <a:latin typeface="Calibri"/>
              <a:ea typeface="Calibri"/>
              <a:cs typeface="Calibri"/>
              <a:sym typeface="Calibri"/>
            </a:endParaRPr>
          </a:p>
          <a:p>
            <a:pPr indent="-320675" lvl="0" marL="457200" marR="0" rtl="0" algn="l">
              <a:lnSpc>
                <a:spcPct val="115000"/>
              </a:lnSpc>
              <a:spcBef>
                <a:spcPts val="1200"/>
              </a:spcBef>
              <a:spcAft>
                <a:spcPts val="0"/>
              </a:spcAft>
              <a:buClr>
                <a:schemeClr val="dk1"/>
              </a:buClr>
              <a:buSzPts val="1450"/>
              <a:buFont typeface="Calibri"/>
              <a:buChar char="-"/>
            </a:pPr>
            <a:r>
              <a:rPr b="0" i="0" lang="en-GB" sz="1450" u="none" cap="none" strike="noStrike">
                <a:solidFill>
                  <a:schemeClr val="dk1"/>
                </a:solidFill>
                <a:latin typeface="Calibri"/>
                <a:ea typeface="Calibri"/>
                <a:cs typeface="Calibri"/>
                <a:sym typeface="Calibri"/>
              </a:rPr>
              <a:t>Performance requirements</a:t>
            </a:r>
            <a:endParaRPr b="0" i="0" sz="1450" u="none" cap="none" strike="noStrike">
              <a:solidFill>
                <a:schemeClr val="dk1"/>
              </a:solidFill>
              <a:latin typeface="Calibri"/>
              <a:ea typeface="Calibri"/>
              <a:cs typeface="Calibri"/>
              <a:sym typeface="Calibri"/>
            </a:endParaRPr>
          </a:p>
          <a:p>
            <a:pPr indent="-320675" lvl="0" marL="457200" marR="0" rtl="0" algn="l">
              <a:lnSpc>
                <a:spcPct val="115000"/>
              </a:lnSpc>
              <a:spcBef>
                <a:spcPts val="0"/>
              </a:spcBef>
              <a:spcAft>
                <a:spcPts val="0"/>
              </a:spcAft>
              <a:buClr>
                <a:schemeClr val="dk1"/>
              </a:buClr>
              <a:buSzPts val="1450"/>
              <a:buFont typeface="Calibri"/>
              <a:buChar char="-"/>
            </a:pPr>
            <a:r>
              <a:rPr b="0" i="0" lang="en-GB" sz="1450" u="none" cap="none" strike="noStrike">
                <a:solidFill>
                  <a:schemeClr val="dk1"/>
                </a:solidFill>
                <a:latin typeface="Calibri"/>
                <a:ea typeface="Calibri"/>
                <a:cs typeface="Calibri"/>
                <a:sym typeface="Calibri"/>
              </a:rPr>
              <a:t>Constraints</a:t>
            </a:r>
            <a:endParaRPr b="0" i="0" sz="1450" u="none" cap="none" strike="noStrike">
              <a:solidFill>
                <a:schemeClr val="dk1"/>
              </a:solidFill>
              <a:latin typeface="Calibri"/>
              <a:ea typeface="Calibri"/>
              <a:cs typeface="Calibri"/>
              <a:sym typeface="Calibri"/>
            </a:endParaRPr>
          </a:p>
          <a:p>
            <a:pPr indent="-320675" lvl="0" marL="457200" marR="0" rtl="0" algn="l">
              <a:lnSpc>
                <a:spcPct val="115000"/>
              </a:lnSpc>
              <a:spcBef>
                <a:spcPts val="0"/>
              </a:spcBef>
              <a:spcAft>
                <a:spcPts val="0"/>
              </a:spcAft>
              <a:buClr>
                <a:schemeClr val="dk1"/>
              </a:buClr>
              <a:buSzPts val="1450"/>
              <a:buFont typeface="Calibri"/>
              <a:buChar char="-"/>
            </a:pPr>
            <a:r>
              <a:rPr b="0" i="0" lang="en-GB" sz="1450" u="none" cap="none" strike="noStrike">
                <a:solidFill>
                  <a:schemeClr val="dk1"/>
                </a:solidFill>
                <a:latin typeface="Calibri"/>
                <a:ea typeface="Calibri"/>
                <a:cs typeface="Calibri"/>
                <a:sym typeface="Calibri"/>
              </a:rPr>
              <a:t>Bogus prompts (?)</a:t>
            </a:r>
            <a:endParaRPr b="0" i="0" sz="14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p:txBody>
      </p:sp>
      <p:sp>
        <p:nvSpPr>
          <p:cNvPr id="374" name="Google Shape;374;p17"/>
          <p:cNvSpPr txBox="1"/>
          <p:nvPr/>
        </p:nvSpPr>
        <p:spPr>
          <a:xfrm>
            <a:off x="4254337" y="2748776"/>
            <a:ext cx="4067100" cy="8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50"/>
              <a:buFont typeface="Arial"/>
              <a:buNone/>
            </a:pPr>
            <a:r>
              <a:rPr b="1" i="0" lang="en-GB" sz="1450" u="none" cap="none" strike="noStrike">
                <a:solidFill>
                  <a:schemeClr val="dk1"/>
                </a:solidFill>
                <a:latin typeface="Arial"/>
                <a:ea typeface="Arial"/>
                <a:cs typeface="Arial"/>
                <a:sym typeface="Arial"/>
              </a:rPr>
              <a:t>Output:</a:t>
            </a:r>
            <a:r>
              <a:rPr b="0" i="0" lang="en-GB" sz="1450" u="none" cap="none" strike="noStrike">
                <a:solidFill>
                  <a:schemeClr val="dk1"/>
                </a:solidFill>
                <a:latin typeface="Arial"/>
                <a:ea typeface="Arial"/>
                <a:cs typeface="Arial"/>
                <a:sym typeface="Arial"/>
              </a:rPr>
              <a:t> Generates a set of distinct, structural, optimal and reliable topologies that meet the specifications of the user.</a:t>
            </a:r>
            <a:endParaRPr b="0" i="0" sz="145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73"/>
                                        </p:tgtEl>
                                        <p:attrNameLst>
                                          <p:attrName>style.visibility</p:attrName>
                                        </p:attrNameLst>
                                      </p:cBhvr>
                                      <p:to>
                                        <p:strVal val="visible"/>
                                      </p:to>
                                    </p:set>
                                    <p:anim calcmode="lin" valueType="num">
                                      <p:cBhvr additive="base">
                                        <p:cTn dur="500"/>
                                        <p:tgtEl>
                                          <p:spTgt spid="373"/>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74"/>
                                        </p:tgtEl>
                                        <p:attrNameLst>
                                          <p:attrName>style.visibility</p:attrName>
                                        </p:attrNameLst>
                                      </p:cBhvr>
                                      <p:to>
                                        <p:strVal val="visible"/>
                                      </p:to>
                                    </p:set>
                                    <p:anim calcmode="lin" valueType="num">
                                      <p:cBhvr additive="base">
                                        <p:cTn dur="500"/>
                                        <p:tgtEl>
                                          <p:spTgt spid="37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8" name="Shape 378"/>
        <p:cNvGrpSpPr/>
        <p:nvPr/>
      </p:nvGrpSpPr>
      <p:grpSpPr>
        <a:xfrm>
          <a:off x="0" y="0"/>
          <a:ext cx="0" cy="0"/>
          <a:chOff x="0" y="0"/>
          <a:chExt cx="0" cy="0"/>
        </a:xfrm>
      </p:grpSpPr>
      <p:sp>
        <p:nvSpPr>
          <p:cNvPr id="379" name="Google Shape;379;p18"/>
          <p:cNvSpPr txBox="1"/>
          <p:nvPr>
            <p:ph type="title"/>
          </p:nvPr>
        </p:nvSpPr>
        <p:spPr>
          <a:xfrm>
            <a:off x="675375" y="2031098"/>
            <a:ext cx="7556400" cy="5820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sz="2400"/>
              <a:t>The next steps to be taken</a:t>
            </a:r>
            <a:endParaRPr sz="24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19"/>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Next Steps</a:t>
            </a:r>
            <a:endParaRPr/>
          </a:p>
        </p:txBody>
      </p:sp>
      <p:sp>
        <p:nvSpPr>
          <p:cNvPr id="385" name="Google Shape;385;p19"/>
          <p:cNvSpPr txBox="1"/>
          <p:nvPr/>
        </p:nvSpPr>
        <p:spPr>
          <a:xfrm>
            <a:off x="990750" y="1088375"/>
            <a:ext cx="7162500" cy="3864600"/>
          </a:xfrm>
          <a:prstGeom prst="rect">
            <a:avLst/>
          </a:prstGeom>
          <a:noFill/>
          <a:ln>
            <a:noFill/>
          </a:ln>
        </p:spPr>
        <p:txBody>
          <a:bodyPr anchorCtr="0" anchor="t" bIns="126000" lIns="91425" spcFirstLastPara="1" rIns="91425" wrap="square" tIns="91425">
            <a:spAutoFit/>
          </a:bodyPr>
          <a:lstStyle/>
          <a:p>
            <a:pPr indent="-330200" lvl="0" marL="457200" marR="0" rtl="0" algn="l">
              <a:lnSpc>
                <a:spcPct val="115000"/>
              </a:lnSpc>
              <a:spcBef>
                <a:spcPts val="0"/>
              </a:spcBef>
              <a:spcAft>
                <a:spcPts val="0"/>
              </a:spcAft>
              <a:buClr>
                <a:schemeClr val="dk1"/>
              </a:buClr>
              <a:buSzPts val="1600"/>
              <a:buFont typeface="Arial"/>
              <a:buChar char="●"/>
            </a:pPr>
            <a:r>
              <a:rPr b="1" i="0" lang="en-GB" sz="1600" u="none" cap="none" strike="noStrike">
                <a:solidFill>
                  <a:schemeClr val="dk1"/>
                </a:solidFill>
                <a:latin typeface="Arial"/>
                <a:ea typeface="Arial"/>
                <a:cs typeface="Arial"/>
                <a:sym typeface="Arial"/>
              </a:rPr>
              <a:t>System Integration</a:t>
            </a:r>
            <a:endParaRPr b="1" i="0" sz="1600" u="none" cap="none" strike="noStrike">
              <a:solidFill>
                <a:schemeClr val="dk1"/>
              </a:solidFill>
              <a:latin typeface="Arial"/>
              <a:ea typeface="Arial"/>
              <a:cs typeface="Arial"/>
              <a:sym typeface="Arial"/>
            </a:endParaRPr>
          </a:p>
          <a:p>
            <a:pPr indent="457200" lvl="0" marL="457200" marR="0" rtl="0" algn="l">
              <a:lnSpc>
                <a:spcPct val="115000"/>
              </a:lnSpc>
              <a:spcBef>
                <a:spcPts val="0"/>
              </a:spcBef>
              <a:spcAft>
                <a:spcPts val="0"/>
              </a:spcAft>
              <a:buClr>
                <a:srgbClr val="000000"/>
              </a:buClr>
              <a:buSzPts val="1600"/>
              <a:buFont typeface="Arial"/>
              <a:buNone/>
            </a:pPr>
            <a:r>
              <a:rPr b="0" i="0" lang="en-GB" sz="1600" u="none" cap="none" strike="noStrike">
                <a:solidFill>
                  <a:schemeClr val="dk1"/>
                </a:solidFill>
                <a:latin typeface="Arial"/>
                <a:ea typeface="Arial"/>
                <a:cs typeface="Arial"/>
                <a:sym typeface="Arial"/>
              </a:rPr>
              <a:t>Merge codebases and validate the end-to-end framework.</a:t>
            </a:r>
            <a:endParaRPr b="0" i="0" sz="1600" u="none" cap="none" strike="noStrike">
              <a:solidFill>
                <a:schemeClr val="dk1"/>
              </a:solidFill>
              <a:latin typeface="Arial"/>
              <a:ea typeface="Arial"/>
              <a:cs typeface="Arial"/>
              <a:sym typeface="Arial"/>
            </a:endParaRPr>
          </a:p>
          <a:p>
            <a:pPr indent="-330200" lvl="0" marL="457200" marR="0" rtl="0" algn="l">
              <a:lnSpc>
                <a:spcPct val="115000"/>
              </a:lnSpc>
              <a:spcBef>
                <a:spcPts val="0"/>
              </a:spcBef>
              <a:spcAft>
                <a:spcPts val="0"/>
              </a:spcAft>
              <a:buClr>
                <a:schemeClr val="dk1"/>
              </a:buClr>
              <a:buSzPts val="1600"/>
              <a:buFont typeface="Arial"/>
              <a:buChar char="●"/>
            </a:pPr>
            <a:r>
              <a:rPr b="1" i="0" lang="en-GB" sz="1600" u="none" cap="none" strike="noStrike">
                <a:solidFill>
                  <a:schemeClr val="dk1"/>
                </a:solidFill>
                <a:latin typeface="Arial"/>
                <a:ea typeface="Arial"/>
                <a:cs typeface="Arial"/>
                <a:sym typeface="Arial"/>
              </a:rPr>
              <a:t>SFT Data Preparation</a:t>
            </a:r>
            <a:endParaRPr b="1" i="0" sz="1600" u="none" cap="none" strike="noStrike">
              <a:solidFill>
                <a:schemeClr val="dk1"/>
              </a:solidFill>
              <a:latin typeface="Arial"/>
              <a:ea typeface="Arial"/>
              <a:cs typeface="Arial"/>
              <a:sym typeface="Arial"/>
            </a:endParaRPr>
          </a:p>
          <a:p>
            <a:pPr indent="457200" lvl="0" marL="457200" marR="0" rtl="0" algn="l">
              <a:lnSpc>
                <a:spcPct val="115000"/>
              </a:lnSpc>
              <a:spcBef>
                <a:spcPts val="0"/>
              </a:spcBef>
              <a:spcAft>
                <a:spcPts val="0"/>
              </a:spcAft>
              <a:buClr>
                <a:srgbClr val="000000"/>
              </a:buClr>
              <a:buSzPts val="1600"/>
              <a:buFont typeface="Arial"/>
              <a:buNone/>
            </a:pPr>
            <a:r>
              <a:rPr b="0" i="0" lang="en-GB" sz="1600" u="none" cap="none" strike="noStrike">
                <a:solidFill>
                  <a:schemeClr val="dk1"/>
                </a:solidFill>
                <a:latin typeface="Arial"/>
                <a:ea typeface="Arial"/>
                <a:cs typeface="Arial"/>
                <a:sym typeface="Arial"/>
              </a:rPr>
              <a:t>Generate and curate datasets for Supervised Fine-Tuning.</a:t>
            </a:r>
            <a:endParaRPr b="0" i="0" sz="1600" u="none" cap="none" strike="noStrike">
              <a:solidFill>
                <a:schemeClr val="dk1"/>
              </a:solidFill>
              <a:latin typeface="Arial"/>
              <a:ea typeface="Arial"/>
              <a:cs typeface="Arial"/>
              <a:sym typeface="Arial"/>
            </a:endParaRPr>
          </a:p>
          <a:p>
            <a:pPr indent="-330200" lvl="0" marL="457200" marR="0" rtl="0" algn="l">
              <a:lnSpc>
                <a:spcPct val="115000"/>
              </a:lnSpc>
              <a:spcBef>
                <a:spcPts val="0"/>
              </a:spcBef>
              <a:spcAft>
                <a:spcPts val="0"/>
              </a:spcAft>
              <a:buClr>
                <a:schemeClr val="dk1"/>
              </a:buClr>
              <a:buSzPts val="1600"/>
              <a:buFont typeface="Arial"/>
              <a:buChar char="●"/>
            </a:pPr>
            <a:r>
              <a:rPr b="1" i="0" lang="en-GB" sz="1600" u="none" cap="none" strike="noStrike">
                <a:solidFill>
                  <a:schemeClr val="dk1"/>
                </a:solidFill>
                <a:latin typeface="Arial"/>
                <a:ea typeface="Arial"/>
                <a:cs typeface="Arial"/>
                <a:sym typeface="Arial"/>
              </a:rPr>
              <a:t>Training &amp; Evaluation</a:t>
            </a:r>
            <a:endParaRPr b="1" i="0" sz="1600" u="none" cap="none" strike="noStrike">
              <a:solidFill>
                <a:schemeClr val="dk1"/>
              </a:solidFill>
              <a:latin typeface="Arial"/>
              <a:ea typeface="Arial"/>
              <a:cs typeface="Arial"/>
              <a:sym typeface="Arial"/>
            </a:endParaRPr>
          </a:p>
          <a:p>
            <a:pPr indent="457200" lvl="0" marL="457200" marR="0" rtl="0" algn="l">
              <a:lnSpc>
                <a:spcPct val="115000"/>
              </a:lnSpc>
              <a:spcBef>
                <a:spcPts val="0"/>
              </a:spcBef>
              <a:spcAft>
                <a:spcPts val="0"/>
              </a:spcAft>
              <a:buClr>
                <a:srgbClr val="000000"/>
              </a:buClr>
              <a:buSzPts val="1600"/>
              <a:buFont typeface="Arial"/>
              <a:buNone/>
            </a:pPr>
            <a:r>
              <a:rPr b="0" i="0" lang="en-GB" sz="1600" u="none" cap="none" strike="noStrike">
                <a:solidFill>
                  <a:schemeClr val="dk1"/>
                </a:solidFill>
                <a:latin typeface="Arial"/>
                <a:ea typeface="Arial"/>
                <a:cs typeface="Arial"/>
                <a:sym typeface="Arial"/>
              </a:rPr>
              <a:t>Execute model training and assess topology generation 	performance.</a:t>
            </a:r>
            <a:endParaRPr b="0" i="0" sz="1600" u="none" cap="none" strike="noStrike">
              <a:solidFill>
                <a:schemeClr val="dk1"/>
              </a:solidFill>
              <a:latin typeface="Arial"/>
              <a:ea typeface="Arial"/>
              <a:cs typeface="Arial"/>
              <a:sym typeface="Arial"/>
            </a:endParaRPr>
          </a:p>
          <a:p>
            <a:pPr indent="-330200" lvl="0" marL="457200" marR="0" rtl="0" algn="l">
              <a:lnSpc>
                <a:spcPct val="115000"/>
              </a:lnSpc>
              <a:spcBef>
                <a:spcPts val="0"/>
              </a:spcBef>
              <a:spcAft>
                <a:spcPts val="0"/>
              </a:spcAft>
              <a:buClr>
                <a:schemeClr val="dk1"/>
              </a:buClr>
              <a:buSzPts val="1600"/>
              <a:buFont typeface="Arial"/>
              <a:buChar char="●"/>
            </a:pPr>
            <a:r>
              <a:rPr b="1" i="0" lang="en-GB" sz="1600" u="none" cap="none" strike="noStrike">
                <a:solidFill>
                  <a:schemeClr val="dk1"/>
                </a:solidFill>
                <a:latin typeface="Arial"/>
                <a:ea typeface="Arial"/>
                <a:cs typeface="Arial"/>
                <a:sym typeface="Arial"/>
              </a:rPr>
              <a:t>Iterative Refinement</a:t>
            </a:r>
            <a:endParaRPr b="1" i="0" sz="1600" u="none" cap="none" strike="noStrike">
              <a:solidFill>
                <a:schemeClr val="dk1"/>
              </a:solidFill>
              <a:latin typeface="Arial"/>
              <a:ea typeface="Arial"/>
              <a:cs typeface="Arial"/>
              <a:sym typeface="Arial"/>
            </a:endParaRPr>
          </a:p>
          <a:p>
            <a:pPr indent="457200" lvl="0" marL="457200" marR="0" rtl="0" algn="l">
              <a:lnSpc>
                <a:spcPct val="115000"/>
              </a:lnSpc>
              <a:spcBef>
                <a:spcPts val="0"/>
              </a:spcBef>
              <a:spcAft>
                <a:spcPts val="0"/>
              </a:spcAft>
              <a:buClr>
                <a:srgbClr val="000000"/>
              </a:buClr>
              <a:buSzPts val="1600"/>
              <a:buFont typeface="Arial"/>
              <a:buNone/>
            </a:pPr>
            <a:r>
              <a:rPr b="0" i="0" lang="en-GB" sz="1600" u="none" cap="none" strike="noStrike">
                <a:solidFill>
                  <a:schemeClr val="dk1"/>
                </a:solidFill>
                <a:latin typeface="Arial"/>
                <a:ea typeface="Arial"/>
                <a:cs typeface="Arial"/>
                <a:sym typeface="Arial"/>
              </a:rPr>
              <a:t>Fine-tune parameters based on test metrics to iterate model 	versions.</a:t>
            </a:r>
            <a:endParaRPr b="0" i="0" sz="1600" u="none" cap="none" strike="noStrike">
              <a:solidFill>
                <a:schemeClr val="dk1"/>
              </a:solidFill>
              <a:latin typeface="Arial"/>
              <a:ea typeface="Arial"/>
              <a:cs typeface="Arial"/>
              <a:sym typeface="Arial"/>
            </a:endParaRPr>
          </a:p>
          <a:p>
            <a:pPr indent="-330200" lvl="0" marL="457200" marR="0" rtl="0" algn="l">
              <a:lnSpc>
                <a:spcPct val="115000"/>
              </a:lnSpc>
              <a:spcBef>
                <a:spcPts val="0"/>
              </a:spcBef>
              <a:spcAft>
                <a:spcPts val="0"/>
              </a:spcAft>
              <a:buClr>
                <a:schemeClr val="dk1"/>
              </a:buClr>
              <a:buSzPts val="1600"/>
              <a:buFont typeface="Arial"/>
              <a:buChar char="●"/>
            </a:pPr>
            <a:r>
              <a:rPr b="1" i="0" lang="en-GB" sz="1600" u="none" cap="none" strike="noStrike">
                <a:solidFill>
                  <a:schemeClr val="dk1"/>
                </a:solidFill>
                <a:latin typeface="Arial"/>
                <a:ea typeface="Arial"/>
                <a:cs typeface="Arial"/>
                <a:sym typeface="Arial"/>
              </a:rPr>
              <a:t>Adaptive LoRA Routing</a:t>
            </a:r>
            <a:endParaRPr b="1" i="0" sz="1600" u="none" cap="none" strike="noStrike">
              <a:solidFill>
                <a:schemeClr val="dk1"/>
              </a:solidFill>
              <a:latin typeface="Arial"/>
              <a:ea typeface="Arial"/>
              <a:cs typeface="Arial"/>
              <a:sym typeface="Arial"/>
            </a:endParaRPr>
          </a:p>
          <a:p>
            <a:pPr indent="0" lvl="0" marL="914400" marR="0" rtl="0" algn="l">
              <a:lnSpc>
                <a:spcPct val="115000"/>
              </a:lnSpc>
              <a:spcBef>
                <a:spcPts val="0"/>
              </a:spcBef>
              <a:spcAft>
                <a:spcPts val="0"/>
              </a:spcAft>
              <a:buClr>
                <a:srgbClr val="000000"/>
              </a:buClr>
              <a:buSzPts val="1600"/>
              <a:buFont typeface="Arial"/>
              <a:buNone/>
            </a:pPr>
            <a:r>
              <a:rPr b="0" i="0" lang="en-GB" sz="1600" u="none" cap="none" strike="noStrike">
                <a:solidFill>
                  <a:schemeClr val="dk1"/>
                </a:solidFill>
                <a:latin typeface="Arial"/>
                <a:ea typeface="Arial"/>
                <a:cs typeface="Arial"/>
                <a:sym typeface="Arial"/>
              </a:rPr>
              <a:t>Train constraint-specific LoRAs with a dynamic routing mechanism for scenario adaptation.</a:t>
            </a:r>
            <a:endParaRPr b="0" i="0" sz="1600" u="none" cap="none" strike="noStrike">
              <a:solidFill>
                <a:schemeClr val="dk1"/>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0" st="0"/>
                                            </p:txEl>
                                          </p:spTgt>
                                        </p:tgtEl>
                                        <p:attrNameLst>
                                          <p:attrName>style.visibility</p:attrName>
                                        </p:attrNameLst>
                                      </p:cBhvr>
                                      <p:to>
                                        <p:strVal val="visible"/>
                                      </p:to>
                                    </p:set>
                                    <p:anim calcmode="lin" valueType="num">
                                      <p:cBhvr additive="base">
                                        <p:cTn dur="500"/>
                                        <p:tgtEl>
                                          <p:spTgt spid="385">
                                            <p:txEl>
                                              <p:pRg end="0" st="0"/>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1" st="1"/>
                                            </p:txEl>
                                          </p:spTgt>
                                        </p:tgtEl>
                                        <p:attrNameLst>
                                          <p:attrName>style.visibility</p:attrName>
                                        </p:attrNameLst>
                                      </p:cBhvr>
                                      <p:to>
                                        <p:strVal val="visible"/>
                                      </p:to>
                                    </p:set>
                                    <p:anim calcmode="lin" valueType="num">
                                      <p:cBhvr additive="base">
                                        <p:cTn dur="500"/>
                                        <p:tgtEl>
                                          <p:spTgt spid="385">
                                            <p:txEl>
                                              <p:pRg end="1" st="1"/>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2" st="2"/>
                                            </p:txEl>
                                          </p:spTgt>
                                        </p:tgtEl>
                                        <p:attrNameLst>
                                          <p:attrName>style.visibility</p:attrName>
                                        </p:attrNameLst>
                                      </p:cBhvr>
                                      <p:to>
                                        <p:strVal val="visible"/>
                                      </p:to>
                                    </p:set>
                                    <p:anim calcmode="lin" valueType="num">
                                      <p:cBhvr additive="base">
                                        <p:cTn dur="500"/>
                                        <p:tgtEl>
                                          <p:spTgt spid="385">
                                            <p:txEl>
                                              <p:pRg end="2" st="2"/>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3" st="3"/>
                                            </p:txEl>
                                          </p:spTgt>
                                        </p:tgtEl>
                                        <p:attrNameLst>
                                          <p:attrName>style.visibility</p:attrName>
                                        </p:attrNameLst>
                                      </p:cBhvr>
                                      <p:to>
                                        <p:strVal val="visible"/>
                                      </p:to>
                                    </p:set>
                                    <p:anim calcmode="lin" valueType="num">
                                      <p:cBhvr additive="base">
                                        <p:cTn dur="500"/>
                                        <p:tgtEl>
                                          <p:spTgt spid="385">
                                            <p:txEl>
                                              <p:pRg end="3" st="3"/>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4" st="4"/>
                                            </p:txEl>
                                          </p:spTgt>
                                        </p:tgtEl>
                                        <p:attrNameLst>
                                          <p:attrName>style.visibility</p:attrName>
                                        </p:attrNameLst>
                                      </p:cBhvr>
                                      <p:to>
                                        <p:strVal val="visible"/>
                                      </p:to>
                                    </p:set>
                                    <p:anim calcmode="lin" valueType="num">
                                      <p:cBhvr additive="base">
                                        <p:cTn dur="500"/>
                                        <p:tgtEl>
                                          <p:spTgt spid="385">
                                            <p:txEl>
                                              <p:pRg end="4" st="4"/>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5" st="5"/>
                                            </p:txEl>
                                          </p:spTgt>
                                        </p:tgtEl>
                                        <p:attrNameLst>
                                          <p:attrName>style.visibility</p:attrName>
                                        </p:attrNameLst>
                                      </p:cBhvr>
                                      <p:to>
                                        <p:strVal val="visible"/>
                                      </p:to>
                                    </p:set>
                                    <p:anim calcmode="lin" valueType="num">
                                      <p:cBhvr additive="base">
                                        <p:cTn dur="500"/>
                                        <p:tgtEl>
                                          <p:spTgt spid="385">
                                            <p:txEl>
                                              <p:pRg end="5" st="5"/>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6" st="6"/>
                                            </p:txEl>
                                          </p:spTgt>
                                        </p:tgtEl>
                                        <p:attrNameLst>
                                          <p:attrName>style.visibility</p:attrName>
                                        </p:attrNameLst>
                                      </p:cBhvr>
                                      <p:to>
                                        <p:strVal val="visible"/>
                                      </p:to>
                                    </p:set>
                                    <p:anim calcmode="lin" valueType="num">
                                      <p:cBhvr additive="base">
                                        <p:cTn dur="500"/>
                                        <p:tgtEl>
                                          <p:spTgt spid="385">
                                            <p:txEl>
                                              <p:pRg end="6" st="6"/>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7" st="7"/>
                                            </p:txEl>
                                          </p:spTgt>
                                        </p:tgtEl>
                                        <p:attrNameLst>
                                          <p:attrName>style.visibility</p:attrName>
                                        </p:attrNameLst>
                                      </p:cBhvr>
                                      <p:to>
                                        <p:strVal val="visible"/>
                                      </p:to>
                                    </p:set>
                                    <p:anim calcmode="lin" valueType="num">
                                      <p:cBhvr additive="base">
                                        <p:cTn dur="500"/>
                                        <p:tgtEl>
                                          <p:spTgt spid="385">
                                            <p:txEl>
                                              <p:pRg end="7" st="7"/>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8" st="8"/>
                                            </p:txEl>
                                          </p:spTgt>
                                        </p:tgtEl>
                                        <p:attrNameLst>
                                          <p:attrName>style.visibility</p:attrName>
                                        </p:attrNameLst>
                                      </p:cBhvr>
                                      <p:to>
                                        <p:strVal val="visible"/>
                                      </p:to>
                                    </p:set>
                                    <p:anim calcmode="lin" valueType="num">
                                      <p:cBhvr additive="base">
                                        <p:cTn dur="500"/>
                                        <p:tgtEl>
                                          <p:spTgt spid="385">
                                            <p:txEl>
                                              <p:pRg end="8" st="8"/>
                                            </p:txEl>
                                          </p:spTgt>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85">
                                            <p:txEl>
                                              <p:pRg end="9" st="9"/>
                                            </p:txEl>
                                          </p:spTgt>
                                        </p:tgtEl>
                                        <p:attrNameLst>
                                          <p:attrName>style.visibility</p:attrName>
                                        </p:attrNameLst>
                                      </p:cBhvr>
                                      <p:to>
                                        <p:strVal val="visible"/>
                                      </p:to>
                                    </p:set>
                                    <p:anim calcmode="lin" valueType="num">
                                      <p:cBhvr additive="base">
                                        <p:cTn dur="500"/>
                                        <p:tgtEl>
                                          <p:spTgt spid="385">
                                            <p:txEl>
                                              <p:pRg end="9" st="9"/>
                                            </p:txEl>
                                          </p:spTgt>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20"/>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References</a:t>
            </a:r>
            <a:endParaRPr/>
          </a:p>
        </p:txBody>
      </p:sp>
      <p:sp>
        <p:nvSpPr>
          <p:cNvPr id="391" name="Google Shape;391;p20"/>
          <p:cNvSpPr txBox="1"/>
          <p:nvPr/>
        </p:nvSpPr>
        <p:spPr>
          <a:xfrm>
            <a:off x="664900" y="1252200"/>
            <a:ext cx="8706900" cy="4053600"/>
          </a:xfrm>
          <a:prstGeom prst="rect">
            <a:avLst/>
          </a:prstGeom>
          <a:noFill/>
          <a:ln>
            <a:noFill/>
          </a:ln>
        </p:spPr>
        <p:txBody>
          <a:bodyPr anchorCtr="0" anchor="t" bIns="91425" lIns="91425" spcFirstLastPara="1" rIns="91425" wrap="square" tIns="91425">
            <a:spAutoFit/>
          </a:bodyPr>
          <a:lstStyle/>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AI-Driven Integrated Circuit Design: A Survey of Techniques, Challenges, and Opportunities, IEEE： </a:t>
            </a:r>
            <a:r>
              <a:rPr b="0" i="0" lang="en-GB" sz="1100" u="sng" cap="none" strike="noStrike">
                <a:solidFill>
                  <a:schemeClr val="hlink"/>
                </a:solidFill>
                <a:latin typeface="Arial"/>
                <a:ea typeface="Arial"/>
                <a:cs typeface="Arial"/>
                <a:sym typeface="Arial"/>
                <a:hlinkClick r:id="rId3"/>
              </a:rPr>
              <a:t>https://ieeexplore.ieee.org/stamp/stamp.jsp?tp=&amp;arnumber=11153923</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Automated Design of Analog Circuits Using Reinforcement Learning： </a:t>
            </a:r>
            <a:r>
              <a:rPr b="0" i="0" lang="en-GB" sz="1100" u="sng" cap="none" strike="noStrike">
                <a:solidFill>
                  <a:schemeClr val="hlink"/>
                </a:solidFill>
                <a:latin typeface="Arial"/>
                <a:ea typeface="Arial"/>
                <a:cs typeface="Arial"/>
                <a:sym typeface="Arial"/>
                <a:hlinkClick r:id="rId4"/>
              </a:rPr>
              <a:t>https://ieeexplore.ieee.org/stamp/stamp.jsp?tp=&amp;arnumber=9576505</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Automatic Power Converter Design via Reinforcement Learning (Fan et al., ICCAD 2021)：</a:t>
            </a:r>
            <a:r>
              <a:rPr b="0" i="0" lang="en-GB" sz="1100" u="sng" cap="none" strike="noStrike">
                <a:solidFill>
                  <a:schemeClr val="hlink"/>
                </a:solidFill>
                <a:latin typeface="Arial"/>
                <a:ea typeface="Arial"/>
                <a:cs typeface="Arial"/>
                <a:sym typeface="Arial"/>
                <a:hlinkClick r:id="rId5"/>
              </a:rPr>
              <a:t>https://shunzh.github.io/pdfs/fan-iccad-2021.pdf</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An Overview of Reinforcement Learning for Power Electronic Converters (2025):</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sng" cap="none" strike="noStrike">
                <a:solidFill>
                  <a:schemeClr val="hlink"/>
                </a:solidFill>
                <a:latin typeface="Arial"/>
                <a:ea typeface="Arial"/>
                <a:cs typeface="Arial"/>
                <a:sym typeface="Arial"/>
                <a:hlinkClick r:id="rId6"/>
              </a:rPr>
              <a:t>https://www.sciencedirect.com/science/article/pii/S136403212501264X</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AUTOCIRCUIT-RL: Reinforcement Learning-Driven LLM for Automated Circuit Topology Generation (IBM Research, ICML 2025):</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sng" cap="none" strike="noStrike">
                <a:solidFill>
                  <a:schemeClr val="hlink"/>
                </a:solidFill>
                <a:latin typeface="Arial"/>
                <a:ea typeface="Arial"/>
                <a:cs typeface="Arial"/>
                <a:sym typeface="Arial"/>
                <a:hlinkClick r:id="rId7"/>
              </a:rPr>
              <a:t>https://researchwith.njit.edu/en/publications/from-specification-to-topology-automatic-power-converter-design-v/</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Revolutionizing Power Electronics Design through Large Language Models (ScienceDirect, 2025):</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sng" cap="none" strike="noStrike">
                <a:solidFill>
                  <a:schemeClr val="hlink"/>
                </a:solidFill>
                <a:latin typeface="Arial"/>
                <a:ea typeface="Arial"/>
                <a:cs typeface="Arial"/>
                <a:sym typeface="Arial"/>
                <a:hlinkClick r:id="rId8"/>
              </a:rPr>
              <a:t>https://www.sciencedirect.com/science/article/pii/S0045790625001910</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none" cap="none" strike="noStrike">
                <a:solidFill>
                  <a:srgbClr val="0E0E0E"/>
                </a:solidFill>
                <a:latin typeface="Arial"/>
                <a:ea typeface="Arial"/>
                <a:cs typeface="Arial"/>
                <a:sym typeface="Arial"/>
              </a:rPr>
              <a:t>Graph Neural Networks for Topology Recognition of AMS Integrated Circuits (Polito thesis):</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rPr b="0" i="0" lang="en-GB" sz="1100" u="sng" cap="none" strike="noStrike">
                <a:solidFill>
                  <a:schemeClr val="hlink"/>
                </a:solidFill>
                <a:latin typeface="Arial"/>
                <a:ea typeface="Arial"/>
                <a:cs typeface="Arial"/>
                <a:sym typeface="Arial"/>
                <a:hlinkClick r:id="rId9"/>
              </a:rPr>
              <a:t>https://webthesis.biblio.polito.it/28628/1/tesi.pdf</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E0E0E"/>
              </a:solidFill>
              <a:latin typeface="Arial"/>
              <a:ea typeface="Arial"/>
              <a:cs typeface="Arial"/>
              <a:sym typeface="Arial"/>
            </a:endParaRPr>
          </a:p>
          <a:p>
            <a:pPr indent="0" lvl="0" marL="139700" marR="0" rtl="0" algn="l">
              <a:lnSpc>
                <a:spcPct val="115000"/>
              </a:lnSpc>
              <a:spcBef>
                <a:spcPts val="0"/>
              </a:spcBef>
              <a:spcAft>
                <a:spcPts val="0"/>
              </a:spcAft>
              <a:buClr>
                <a:schemeClr val="dk1"/>
              </a:buClr>
              <a:buSzPts val="1100"/>
              <a:buFont typeface="Arial"/>
              <a:buNone/>
            </a:pPr>
            <a:r>
              <a:t/>
            </a:r>
            <a:endParaRPr b="0" i="0" sz="1100" u="none" cap="none" strike="noStrike">
              <a:solidFill>
                <a:srgbClr val="0E0E0E"/>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21"/>
          <p:cNvSpPr txBox="1"/>
          <p:nvPr>
            <p:ph type="title"/>
          </p:nvPr>
        </p:nvSpPr>
        <p:spPr>
          <a:xfrm>
            <a:off x="1806697" y="1177089"/>
            <a:ext cx="5530606" cy="733827"/>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2700"/>
              <a:buFont typeface="Calibri"/>
              <a:buNone/>
            </a:pPr>
            <a:r>
              <a:rPr b="0" lang="en-GB" sz="2000"/>
              <a:t>What would you do differently in our approach (e.g. the training pipeline)?</a:t>
            </a:r>
            <a:endParaRPr/>
          </a:p>
        </p:txBody>
      </p:sp>
      <p:sp>
        <p:nvSpPr>
          <p:cNvPr id="397" name="Google Shape;397;p21"/>
          <p:cNvSpPr txBox="1"/>
          <p:nvPr/>
        </p:nvSpPr>
        <p:spPr>
          <a:xfrm>
            <a:off x="1806697" y="2244118"/>
            <a:ext cx="5530606" cy="73382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2700"/>
              <a:buFont typeface="Calibri"/>
              <a:buNone/>
            </a:pPr>
            <a:r>
              <a:rPr b="0" i="0" lang="en-GB" sz="2000" u="none" cap="none" strike="noStrike">
                <a:solidFill>
                  <a:schemeClr val="dk1"/>
                </a:solidFill>
                <a:latin typeface="Calibri"/>
                <a:ea typeface="Calibri"/>
                <a:cs typeface="Calibri"/>
                <a:sym typeface="Calibri"/>
              </a:rPr>
              <a:t>Imagine that this project is completed, along with the solution, do you see any problems it might still introduce afterward?</a:t>
            </a:r>
            <a:endParaRPr/>
          </a:p>
        </p:txBody>
      </p:sp>
      <p:sp>
        <p:nvSpPr>
          <p:cNvPr id="398" name="Google Shape;398;p21"/>
          <p:cNvSpPr txBox="1"/>
          <p:nvPr/>
        </p:nvSpPr>
        <p:spPr>
          <a:xfrm>
            <a:off x="1806697" y="3539747"/>
            <a:ext cx="5530606" cy="10148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2700"/>
              <a:buFont typeface="Calibri"/>
              <a:buNone/>
            </a:pPr>
            <a:r>
              <a:rPr b="0" i="0" lang="en-GB" sz="2000" u="none" cap="none" strike="noStrike">
                <a:solidFill>
                  <a:schemeClr val="dk1"/>
                </a:solidFill>
                <a:latin typeface="Calibri"/>
                <a:ea typeface="Calibri"/>
                <a:cs typeface="Calibri"/>
                <a:sym typeface="Calibri"/>
              </a:rPr>
              <a:t>As you can see we are still discussing of using a single LLM for certain tasks. Would a mixture of agents strategy be a better idea or not?</a:t>
            </a:r>
            <a:endParaRPr/>
          </a:p>
        </p:txBody>
      </p:sp>
      <p:sp>
        <p:nvSpPr>
          <p:cNvPr id="399" name="Google Shape;399;p21"/>
          <p:cNvSpPr txBox="1"/>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2700"/>
              <a:buFont typeface="Calibri"/>
              <a:buNone/>
            </a:pPr>
            <a:r>
              <a:rPr b="1" i="0" lang="en-GB" sz="2700" u="none" cap="none" strike="noStrike">
                <a:solidFill>
                  <a:schemeClr val="dk1"/>
                </a:solidFill>
                <a:latin typeface="Calibri"/>
                <a:ea typeface="Calibri"/>
                <a:cs typeface="Calibri"/>
                <a:sym typeface="Calibri"/>
              </a:rPr>
              <a:t>Our questions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22"/>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Feedback</a:t>
            </a:r>
            <a:endParaRPr/>
          </a:p>
        </p:txBody>
      </p:sp>
      <p:sp>
        <p:nvSpPr>
          <p:cNvPr id="405" name="Google Shape;405;p22"/>
          <p:cNvSpPr txBox="1"/>
          <p:nvPr/>
        </p:nvSpPr>
        <p:spPr>
          <a:xfrm>
            <a:off x="926925" y="1392325"/>
            <a:ext cx="7823700" cy="2886000"/>
          </a:xfrm>
          <a:prstGeom prst="rect">
            <a:avLst/>
          </a:prstGeom>
          <a:noFill/>
          <a:ln>
            <a:noFill/>
          </a:ln>
        </p:spPr>
        <p:txBody>
          <a:bodyPr anchorCtr="0" anchor="t" bIns="91425" lIns="91425" spcFirstLastPara="1" rIns="91425" wrap="square" tIns="91425">
            <a:spAutoFit/>
          </a:bodyPr>
          <a:lstStyle/>
          <a:p>
            <a:pPr indent="-352425" lvl="0" marL="457200" rtl="0" algn="l">
              <a:spcBef>
                <a:spcPts val="0"/>
              </a:spcBef>
              <a:spcAft>
                <a:spcPts val="0"/>
              </a:spcAft>
              <a:buClr>
                <a:schemeClr val="dk1"/>
              </a:buClr>
              <a:buSzPts val="1950"/>
              <a:buFont typeface="Calibri"/>
              <a:buChar char="-"/>
            </a:pPr>
            <a:r>
              <a:rPr lang="en-GB" sz="1950">
                <a:solidFill>
                  <a:schemeClr val="dk1"/>
                </a:solidFill>
                <a:latin typeface="Calibri"/>
                <a:ea typeface="Calibri"/>
                <a:cs typeface="Calibri"/>
                <a:sym typeface="Calibri"/>
              </a:rPr>
              <a:t>Regarding the Model Selection, Could you validate why you choose transformer LLM, rather than other types such as Graphical Model.</a:t>
            </a:r>
            <a:endParaRPr sz="1950">
              <a:solidFill>
                <a:schemeClr val="dk1"/>
              </a:solidFill>
              <a:latin typeface="Calibri"/>
              <a:ea typeface="Calibri"/>
              <a:cs typeface="Calibri"/>
              <a:sym typeface="Calibri"/>
            </a:endParaRPr>
          </a:p>
          <a:p>
            <a:pPr indent="-352425" lvl="0" marL="457200" rtl="0" algn="l">
              <a:spcBef>
                <a:spcPts val="0"/>
              </a:spcBef>
              <a:spcAft>
                <a:spcPts val="0"/>
              </a:spcAft>
              <a:buClr>
                <a:schemeClr val="dk1"/>
              </a:buClr>
              <a:buSzPts val="1950"/>
              <a:buFont typeface="Calibri"/>
              <a:buChar char="-"/>
            </a:pPr>
            <a:r>
              <a:rPr lang="en-GB" sz="1950">
                <a:solidFill>
                  <a:schemeClr val="dk1"/>
                </a:solidFill>
                <a:latin typeface="Calibri"/>
                <a:ea typeface="Calibri"/>
                <a:cs typeface="Calibri"/>
                <a:sym typeface="Calibri"/>
              </a:rPr>
              <a:t>The scope of the project is a bit unclear, especially for people without relevant background knowledge.</a:t>
            </a:r>
            <a:endParaRPr sz="1950">
              <a:solidFill>
                <a:schemeClr val="dk1"/>
              </a:solidFill>
              <a:latin typeface="Calibri"/>
              <a:ea typeface="Calibri"/>
              <a:cs typeface="Calibri"/>
              <a:sym typeface="Calibri"/>
            </a:endParaRPr>
          </a:p>
          <a:p>
            <a:pPr indent="-352425" lvl="0" marL="457200" rtl="0" algn="l">
              <a:spcBef>
                <a:spcPts val="0"/>
              </a:spcBef>
              <a:spcAft>
                <a:spcPts val="0"/>
              </a:spcAft>
              <a:buClr>
                <a:schemeClr val="dk1"/>
              </a:buClr>
              <a:buSzPts val="1950"/>
              <a:buFont typeface="Calibri"/>
              <a:buChar char="-"/>
            </a:pPr>
            <a:r>
              <a:rPr lang="en-GB" sz="1950">
                <a:solidFill>
                  <a:schemeClr val="dk1"/>
                </a:solidFill>
                <a:latin typeface="Calibri"/>
                <a:ea typeface="Calibri"/>
                <a:cs typeface="Calibri"/>
                <a:sym typeface="Calibri"/>
              </a:rPr>
              <a:t>Also need more logical connection between the Energy Consumption case(page 2) and our project, why our project can alleviate this problem.</a:t>
            </a:r>
            <a:endParaRPr sz="1950">
              <a:solidFill>
                <a:schemeClr val="dk1"/>
              </a:solidFill>
              <a:latin typeface="Calibri"/>
              <a:ea typeface="Calibri"/>
              <a:cs typeface="Calibri"/>
              <a:sym typeface="Calibri"/>
            </a:endParaRPr>
          </a:p>
          <a:p>
            <a:pPr indent="-352425" lvl="0" marL="457200" rtl="0" algn="l">
              <a:spcBef>
                <a:spcPts val="0"/>
              </a:spcBef>
              <a:spcAft>
                <a:spcPts val="0"/>
              </a:spcAft>
              <a:buClr>
                <a:schemeClr val="dk1"/>
              </a:buClr>
              <a:buSzPts val="1950"/>
              <a:buFont typeface="Calibri"/>
              <a:buChar char="-"/>
            </a:pPr>
            <a:r>
              <a:rPr lang="en-GB" sz="1950">
                <a:solidFill>
                  <a:schemeClr val="dk1"/>
                </a:solidFill>
                <a:latin typeface="Calibri"/>
                <a:ea typeface="Calibri"/>
                <a:cs typeface="Calibri"/>
                <a:sym typeface="Calibri"/>
              </a:rPr>
              <a:t>The motivation of &lt;Topology Validation&gt; is not Strong enough.</a:t>
            </a:r>
            <a:endParaRPr sz="1950">
              <a:solidFill>
                <a:schemeClr val="dk1"/>
              </a:solidFill>
              <a:latin typeface="Calibri"/>
              <a:ea typeface="Calibri"/>
              <a:cs typeface="Calibri"/>
              <a:sym typeface="Calibri"/>
            </a:endParaRPr>
          </a:p>
          <a:p>
            <a:pPr indent="0" lvl="0" marL="457200" rtl="0" algn="l">
              <a:spcBef>
                <a:spcPts val="0"/>
              </a:spcBef>
              <a:spcAft>
                <a:spcPts val="0"/>
              </a:spcAft>
              <a:buNone/>
            </a:pPr>
            <a:r>
              <a:t/>
            </a:r>
            <a:endParaRPr sz="195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24"/>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Zijian dong</a:t>
            </a:r>
            <a:endParaRPr/>
          </a:p>
        </p:txBody>
      </p:sp>
      <p:sp>
        <p:nvSpPr>
          <p:cNvPr id="411" name="Google Shape;411;p24"/>
          <p:cNvSpPr txBox="1"/>
          <p:nvPr/>
        </p:nvSpPr>
        <p:spPr>
          <a:xfrm>
            <a:off x="339275" y="1193800"/>
            <a:ext cx="8597700" cy="2624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Calibri"/>
                <a:ea typeface="Calibri"/>
                <a:cs typeface="Calibri"/>
                <a:sym typeface="Calibri"/>
              </a:rPr>
              <a:t>What is your individual contribution to the project so far? </a:t>
            </a:r>
            <a:endParaRPr b="0" i="0" sz="2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How is your initial planning affected by now?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What do you expect to achieve?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p:txBody>
      </p:sp>
      <p:sp>
        <p:nvSpPr>
          <p:cNvPr id="412" name="Google Shape;412;p24"/>
          <p:cNvSpPr txBox="1"/>
          <p:nvPr/>
        </p:nvSpPr>
        <p:spPr>
          <a:xfrm>
            <a:off x="452675" y="1431150"/>
            <a:ext cx="82818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sz="1200"/>
              <a:t>I worked with my teammates continuously on the shared tasks, such as planning, brainstorming and research, pipeline design, etc.</a:t>
            </a:r>
            <a:endParaRPr sz="1200"/>
          </a:p>
          <a:p>
            <a:pPr indent="0" lvl="0" marL="0" rtl="0" algn="l">
              <a:spcBef>
                <a:spcPts val="0"/>
              </a:spcBef>
              <a:spcAft>
                <a:spcPts val="0"/>
              </a:spcAft>
              <a:buClr>
                <a:schemeClr val="dk1"/>
              </a:buClr>
              <a:buSzPts val="1100"/>
              <a:buFont typeface="Arial"/>
              <a:buNone/>
            </a:pPr>
            <a:r>
              <a:rPr lang="en-GB" sz="1200"/>
              <a:t>I take care of the minutes of the meating for further reference, and I personally focuse on the implementation of the Reinforcement learning loop, which is part of the whole pipeline.</a:t>
            </a:r>
            <a:endParaRPr sz="1200"/>
          </a:p>
        </p:txBody>
      </p:sp>
      <p:sp>
        <p:nvSpPr>
          <p:cNvPr id="413" name="Google Shape;413;p24"/>
          <p:cNvSpPr txBox="1"/>
          <p:nvPr/>
        </p:nvSpPr>
        <p:spPr>
          <a:xfrm>
            <a:off x="452675" y="2533500"/>
            <a:ext cx="82818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sz="1200"/>
              <a:t>I feel the current workflow is in line with the initial plan.</a:t>
            </a:r>
            <a:endParaRPr sz="1200"/>
          </a:p>
        </p:txBody>
      </p:sp>
      <p:sp>
        <p:nvSpPr>
          <p:cNvPr id="414" name="Google Shape;414;p24"/>
          <p:cNvSpPr txBox="1"/>
          <p:nvPr/>
        </p:nvSpPr>
        <p:spPr>
          <a:xfrm>
            <a:off x="452675" y="3536325"/>
            <a:ext cx="82818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sz="1200"/>
              <a:t>I expect the whole project can be completely functional, while everyone could gain more experience in products development&amp; domian knowledges, communication skills. </a:t>
            </a:r>
            <a:endParaRPr sz="12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23"/>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Atakan Kumas</a:t>
            </a:r>
            <a:endParaRPr/>
          </a:p>
        </p:txBody>
      </p:sp>
      <p:sp>
        <p:nvSpPr>
          <p:cNvPr id="420" name="Google Shape;420;p23"/>
          <p:cNvSpPr txBox="1"/>
          <p:nvPr/>
        </p:nvSpPr>
        <p:spPr>
          <a:xfrm>
            <a:off x="339275" y="1193800"/>
            <a:ext cx="7837800" cy="2586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1" i="0" lang="en-GB" sz="2000" u="none" cap="none" strike="noStrike">
                <a:solidFill>
                  <a:schemeClr val="dk1"/>
                </a:solidFill>
              </a:rPr>
              <a:t>What is your individual contribution to the project so far? </a:t>
            </a:r>
            <a:endParaRPr b="1" i="0" sz="2000" u="none" cap="none" strike="noStrike">
              <a:solidFill>
                <a:schemeClr val="dk1"/>
              </a:solidFill>
            </a:endParaRPr>
          </a:p>
          <a:p>
            <a:pPr indent="0" lvl="0" marL="0" marR="0" rtl="0" algn="l">
              <a:lnSpc>
                <a:spcPct val="100000"/>
              </a:lnSpc>
              <a:spcBef>
                <a:spcPts val="0"/>
              </a:spcBef>
              <a:spcAft>
                <a:spcPts val="0"/>
              </a:spcAft>
              <a:buClr>
                <a:srgbClr val="000000"/>
              </a:buClr>
              <a:buSzPts val="2000"/>
              <a:buFont typeface="Arial"/>
              <a:buNone/>
            </a:pPr>
            <a:r>
              <a:rPr lang="en-GB">
                <a:solidFill>
                  <a:schemeClr val="dk1"/>
                </a:solidFill>
              </a:rPr>
              <a:t>I worked on parts of the project plan. I was also responsible for researching simulation engines, learning methods and implementing the simulation process for the training pipeline.</a:t>
            </a:r>
            <a:endParaRPr i="0" sz="1950" u="none" cap="none" strike="noStrike">
              <a:solidFill>
                <a:schemeClr val="dk1"/>
              </a:solidFill>
            </a:endParaRPr>
          </a:p>
          <a:p>
            <a:pPr indent="0" lvl="0" marL="0" marR="0" rtl="0" algn="l">
              <a:lnSpc>
                <a:spcPct val="100000"/>
              </a:lnSpc>
              <a:spcBef>
                <a:spcPts val="0"/>
              </a:spcBef>
              <a:spcAft>
                <a:spcPts val="0"/>
              </a:spcAft>
              <a:buClr>
                <a:srgbClr val="000000"/>
              </a:buClr>
              <a:buSzPts val="2000"/>
              <a:buFont typeface="Arial"/>
              <a:buNone/>
            </a:pPr>
            <a:r>
              <a:rPr b="1" i="0" lang="en-GB" sz="2000" u="none" cap="none" strike="noStrike">
                <a:solidFill>
                  <a:schemeClr val="dk1"/>
                </a:solidFill>
              </a:rPr>
              <a:t>How is your initial planning affected by now?</a:t>
            </a:r>
            <a:endParaRPr b="1" i="0" sz="2000" u="none" cap="none" strike="noStrike">
              <a:solidFill>
                <a:schemeClr val="dk1"/>
              </a:solidFill>
            </a:endParaRPr>
          </a:p>
          <a:p>
            <a:pPr indent="0" lvl="0" marL="0" marR="0" rtl="0" algn="l">
              <a:lnSpc>
                <a:spcPct val="100000"/>
              </a:lnSpc>
              <a:spcBef>
                <a:spcPts val="0"/>
              </a:spcBef>
              <a:spcAft>
                <a:spcPts val="0"/>
              </a:spcAft>
              <a:buClr>
                <a:srgbClr val="000000"/>
              </a:buClr>
              <a:buSzPts val="2000"/>
              <a:buFont typeface="Arial"/>
              <a:buNone/>
            </a:pPr>
            <a:r>
              <a:rPr lang="en-GB" sz="1300">
                <a:solidFill>
                  <a:schemeClr val="dk1"/>
                </a:solidFill>
              </a:rPr>
              <a:t>At first, It felt like a dilemma to choose a direction together with the team, but after further research and discussion, we we’re able to build a consensus. For the rest, I find it going according to plan. </a:t>
            </a:r>
            <a:endParaRPr i="0" sz="2000" u="none" cap="none" strike="noStrike">
              <a:solidFill>
                <a:schemeClr val="dk1"/>
              </a:solidFill>
            </a:endParaRPr>
          </a:p>
          <a:p>
            <a:pPr indent="0" lvl="0" marL="0" marR="0" rtl="0" algn="l">
              <a:lnSpc>
                <a:spcPct val="100000"/>
              </a:lnSpc>
              <a:spcBef>
                <a:spcPts val="0"/>
              </a:spcBef>
              <a:spcAft>
                <a:spcPts val="0"/>
              </a:spcAft>
              <a:buClr>
                <a:schemeClr val="dk1"/>
              </a:buClr>
              <a:buSzPts val="1100"/>
              <a:buFont typeface="Arial"/>
              <a:buNone/>
            </a:pPr>
            <a:r>
              <a:rPr b="1" i="0" lang="en-GB" sz="2000" u="none" cap="none" strike="noStrike">
                <a:solidFill>
                  <a:schemeClr val="dk1"/>
                </a:solidFill>
              </a:rPr>
              <a:t>What do you expect to achieve? </a:t>
            </a:r>
            <a:endParaRPr b="1" i="0" sz="2000" u="none" cap="none" strike="noStrike">
              <a:solidFill>
                <a:schemeClr val="dk1"/>
              </a:solidFill>
            </a:endParaRPr>
          </a:p>
          <a:p>
            <a:pPr indent="0" lvl="0" marL="0" marR="0" rtl="0" algn="l">
              <a:lnSpc>
                <a:spcPct val="100000"/>
              </a:lnSpc>
              <a:spcBef>
                <a:spcPts val="0"/>
              </a:spcBef>
              <a:spcAft>
                <a:spcPts val="0"/>
              </a:spcAft>
              <a:buClr>
                <a:schemeClr val="dk1"/>
              </a:buClr>
              <a:buSzPts val="1100"/>
              <a:buFont typeface="Arial"/>
              <a:buNone/>
            </a:pPr>
            <a:r>
              <a:rPr lang="en-GB">
                <a:solidFill>
                  <a:schemeClr val="dk1"/>
                </a:solidFill>
              </a:rPr>
              <a:t>I expect a result that can please everyone in the team and that can reflect our hard work for achieving it. At the end of this internship, I wish to have gained a lot of experience that I can apply in later projects and my future career.</a:t>
            </a:r>
            <a:endParaRPr i="0" sz="1950" u="none" cap="none" strike="noStrike">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25"/>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Chris hogendoorn</a:t>
            </a:r>
            <a:endParaRPr/>
          </a:p>
        </p:txBody>
      </p:sp>
      <p:sp>
        <p:nvSpPr>
          <p:cNvPr id="426" name="Google Shape;426;p25"/>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Calibri"/>
                <a:ea typeface="Calibri"/>
                <a:cs typeface="Calibri"/>
                <a:sym typeface="Calibri"/>
              </a:rPr>
              <a:t>What is your individual contribution to the project so far? </a:t>
            </a:r>
            <a:endParaRPr b="0" i="0" sz="2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How is your initial planning affected by now?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What do you expect to achieve?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p:txBody>
      </p:sp>
      <p:sp>
        <p:nvSpPr>
          <p:cNvPr id="427" name="Google Shape;427;p25"/>
          <p:cNvSpPr txBox="1"/>
          <p:nvPr/>
        </p:nvSpPr>
        <p:spPr>
          <a:xfrm>
            <a:off x="339275" y="1741725"/>
            <a:ext cx="67899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p26"/>
          <p:cNvSpPr txBox="1"/>
          <p:nvPr>
            <p:ph type="title"/>
          </p:nvPr>
        </p:nvSpPr>
        <p:spPr>
          <a:xfrm>
            <a:off x="758825" y="518400"/>
            <a:ext cx="7556400" cy="733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700"/>
              <a:buNone/>
            </a:pPr>
            <a:r>
              <a:rPr lang="en-GB"/>
              <a:t>Yuhao Shan</a:t>
            </a:r>
            <a:endParaRPr/>
          </a:p>
        </p:txBody>
      </p:sp>
      <p:sp>
        <p:nvSpPr>
          <p:cNvPr id="433" name="Google Shape;433;p26"/>
          <p:cNvSpPr txBox="1"/>
          <p:nvPr/>
        </p:nvSpPr>
        <p:spPr>
          <a:xfrm>
            <a:off x="339275" y="1193800"/>
            <a:ext cx="7837800" cy="2624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Calibri"/>
                <a:ea typeface="Calibri"/>
                <a:cs typeface="Calibri"/>
                <a:sym typeface="Calibri"/>
              </a:rPr>
              <a:t>What is your individual contribution to the project so far? </a:t>
            </a:r>
            <a:endParaRPr b="0" i="0" sz="2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How is your initial planning affected by now?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0" i="0" lang="en-GB" sz="2000" u="none" cap="none" strike="noStrike">
                <a:solidFill>
                  <a:schemeClr val="dk1"/>
                </a:solidFill>
                <a:latin typeface="Arial"/>
                <a:ea typeface="Arial"/>
                <a:cs typeface="Arial"/>
                <a:sym typeface="Arial"/>
              </a:rPr>
              <a:t>What do you expect to achieve?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p:txBody>
      </p:sp>
      <p:sp>
        <p:nvSpPr>
          <p:cNvPr id="434" name="Google Shape;434;p26"/>
          <p:cNvSpPr txBox="1"/>
          <p:nvPr/>
        </p:nvSpPr>
        <p:spPr>
          <a:xfrm>
            <a:off x="491675" y="1575425"/>
            <a:ext cx="7277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lang="en-GB"/>
              <a:t>I did some research for our project with the approach and worked on the implementation of the LLM interface.  </a:t>
            </a:r>
            <a:endParaRPr b="0" i="0" sz="1400" u="none" cap="none" strike="noStrike">
              <a:solidFill>
                <a:srgbClr val="000000"/>
              </a:solidFill>
              <a:latin typeface="Arial"/>
              <a:ea typeface="Arial"/>
              <a:cs typeface="Arial"/>
              <a:sym typeface="Arial"/>
            </a:endParaRPr>
          </a:p>
        </p:txBody>
      </p:sp>
      <p:sp>
        <p:nvSpPr>
          <p:cNvPr id="435" name="Google Shape;435;p26"/>
          <p:cNvSpPr txBox="1"/>
          <p:nvPr/>
        </p:nvSpPr>
        <p:spPr>
          <a:xfrm>
            <a:off x="491675" y="2448525"/>
            <a:ext cx="78378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lang="en-GB"/>
              <a:t>At first I just wanted to use LLM as a semantic converter and train a GNN model as Netlist generator. And after communication, we chose to use a trained LLM to generate topologies. </a:t>
            </a:r>
            <a:endParaRPr b="0" i="0" sz="1400" u="none" cap="none" strike="noStrike">
              <a:solidFill>
                <a:srgbClr val="000000"/>
              </a:solidFill>
              <a:latin typeface="Arial"/>
              <a:ea typeface="Arial"/>
              <a:cs typeface="Arial"/>
              <a:sym typeface="Arial"/>
            </a:endParaRPr>
          </a:p>
        </p:txBody>
      </p:sp>
      <p:sp>
        <p:nvSpPr>
          <p:cNvPr id="436" name="Google Shape;436;p26"/>
          <p:cNvSpPr txBox="1"/>
          <p:nvPr/>
        </p:nvSpPr>
        <p:spPr>
          <a:xfrm>
            <a:off x="491675" y="3372500"/>
            <a:ext cx="72777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lang="en-GB"/>
              <a:t>I expect to achieve our requirements of the project successfully and get experience on how to develop a project with LLM.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0" name="Shape 440"/>
        <p:cNvGrpSpPr/>
        <p:nvPr/>
      </p:nvGrpSpPr>
      <p:grpSpPr>
        <a:xfrm>
          <a:off x="0" y="0"/>
          <a:ext cx="0" cy="0"/>
          <a:chOff x="0" y="0"/>
          <a:chExt cx="0" cy="0"/>
        </a:xfrm>
      </p:grpSpPr>
      <p:pic>
        <p:nvPicPr>
          <p:cNvPr id="441" name="Google Shape;441;p27"/>
          <p:cNvPicPr preferRelativeResize="0"/>
          <p:nvPr/>
        </p:nvPicPr>
        <p:blipFill rotWithShape="1">
          <a:blip r:embed="rId3">
            <a:alphaModFix/>
          </a:blip>
          <a:srcRect b="0" l="0" r="0" t="0"/>
          <a:stretch/>
        </p:blipFill>
        <p:spPr>
          <a:xfrm>
            <a:off x="0" y="0"/>
            <a:ext cx="4717975" cy="2653861"/>
          </a:xfrm>
          <a:prstGeom prst="rect">
            <a:avLst/>
          </a:prstGeom>
          <a:noFill/>
          <a:ln>
            <a:noFill/>
          </a:ln>
        </p:spPr>
      </p:pic>
      <p:sp>
        <p:nvSpPr>
          <p:cNvPr id="442" name="Google Shape;442;p27"/>
          <p:cNvSpPr txBox="1"/>
          <p:nvPr/>
        </p:nvSpPr>
        <p:spPr>
          <a:xfrm>
            <a:off x="-62" y="1829475"/>
            <a:ext cx="4718100" cy="1038900"/>
          </a:xfrm>
          <a:prstGeom prst="rect">
            <a:avLst/>
          </a:prstGeom>
          <a:solidFill>
            <a:srgbClr val="9FC5E8"/>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1" i="0" lang="en-GB" sz="1200" u="none" cap="none" strike="noStrike">
                <a:solidFill>
                  <a:schemeClr val="dk1"/>
                </a:solidFill>
                <a:latin typeface="Calibri"/>
                <a:ea typeface="Calibri"/>
                <a:cs typeface="Calibri"/>
                <a:sym typeface="Calibri"/>
              </a:rPr>
              <a:t>This is ASML guy, he is tired of designing hearts for the machine 💔. It takes too much time! His boss will get angry if market deadlines aren’t met.  </a:t>
            </a:r>
            <a:endParaRPr b="1"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950"/>
              <a:buFont typeface="Arial"/>
              <a:buNone/>
            </a:pPr>
            <a:r>
              <a:t/>
            </a:r>
            <a:endParaRPr b="0" i="0" sz="1950" u="none" cap="none" strike="noStrike">
              <a:solidFill>
                <a:schemeClr val="dk1"/>
              </a:solidFill>
              <a:latin typeface="Calibri"/>
              <a:ea typeface="Calibri"/>
              <a:cs typeface="Calibri"/>
              <a:sym typeface="Calibri"/>
            </a:endParaRPr>
          </a:p>
        </p:txBody>
      </p:sp>
      <p:pic>
        <p:nvPicPr>
          <p:cNvPr id="443" name="Google Shape;443;p27"/>
          <p:cNvPicPr preferRelativeResize="0"/>
          <p:nvPr/>
        </p:nvPicPr>
        <p:blipFill rotWithShape="1">
          <a:blip r:embed="rId4">
            <a:alphaModFix/>
          </a:blip>
          <a:srcRect b="0" l="0" r="0" t="0"/>
          <a:stretch/>
        </p:blipFill>
        <p:spPr>
          <a:xfrm>
            <a:off x="4717975" y="0"/>
            <a:ext cx="4426025" cy="5143500"/>
          </a:xfrm>
          <a:prstGeom prst="rect">
            <a:avLst/>
          </a:prstGeom>
          <a:noFill/>
          <a:ln>
            <a:noFill/>
          </a:ln>
        </p:spPr>
      </p:pic>
      <p:sp>
        <p:nvSpPr>
          <p:cNvPr id="444" name="Google Shape;444;p27"/>
          <p:cNvSpPr/>
          <p:nvPr/>
        </p:nvSpPr>
        <p:spPr>
          <a:xfrm>
            <a:off x="2883600" y="0"/>
            <a:ext cx="2041200" cy="1471200"/>
          </a:xfrm>
          <a:prstGeom prst="cloudCallout">
            <a:avLst>
              <a:gd fmla="val -39954" name="adj1"/>
              <a:gd fmla="val 47106"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445" name="Google Shape;445;p27"/>
          <p:cNvPicPr preferRelativeResize="0"/>
          <p:nvPr/>
        </p:nvPicPr>
        <p:blipFill rotWithShape="1">
          <a:blip r:embed="rId5">
            <a:alphaModFix/>
          </a:blip>
          <a:srcRect b="0" l="0" r="0" t="0"/>
          <a:stretch/>
        </p:blipFill>
        <p:spPr>
          <a:xfrm>
            <a:off x="3151800" y="306750"/>
            <a:ext cx="1373399" cy="857701"/>
          </a:xfrm>
          <a:prstGeom prst="rect">
            <a:avLst/>
          </a:prstGeom>
          <a:noFill/>
          <a:ln>
            <a:noFill/>
          </a:ln>
        </p:spPr>
      </p:pic>
      <p:sp>
        <p:nvSpPr>
          <p:cNvPr id="446" name="Google Shape;446;p27"/>
          <p:cNvSpPr txBox="1"/>
          <p:nvPr/>
        </p:nvSpPr>
        <p:spPr>
          <a:xfrm>
            <a:off x="5057375" y="237950"/>
            <a:ext cx="3351000" cy="484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950"/>
              <a:buFont typeface="Arial"/>
              <a:buNone/>
            </a:pPr>
            <a:r>
              <a:rPr b="1" i="0" lang="en-GB" sz="1950" u="none" cap="none" strike="noStrike">
                <a:solidFill>
                  <a:schemeClr val="lt1"/>
                </a:solidFill>
                <a:latin typeface="Calibri"/>
                <a:ea typeface="Calibri"/>
                <a:cs typeface="Calibri"/>
                <a:sym typeface="Calibri"/>
              </a:rPr>
              <a:t>Solution:</a:t>
            </a:r>
            <a:endParaRPr b="1" i="0" sz="1950" u="none" cap="none" strike="noStrike">
              <a:solidFill>
                <a:schemeClr val="lt1"/>
              </a:solidFill>
              <a:latin typeface="Calibri"/>
              <a:ea typeface="Calibri"/>
              <a:cs typeface="Calibri"/>
              <a:sym typeface="Calibri"/>
            </a:endParaRPr>
          </a:p>
        </p:txBody>
      </p:sp>
      <p:pic>
        <p:nvPicPr>
          <p:cNvPr id="447" name="Google Shape;447;p27"/>
          <p:cNvPicPr preferRelativeResize="0"/>
          <p:nvPr/>
        </p:nvPicPr>
        <p:blipFill rotWithShape="1">
          <a:blip r:embed="rId6">
            <a:alphaModFix/>
          </a:blip>
          <a:srcRect b="0" l="0" r="0" t="0"/>
          <a:stretch/>
        </p:blipFill>
        <p:spPr>
          <a:xfrm>
            <a:off x="5406525" y="2249825"/>
            <a:ext cx="1552650" cy="1033225"/>
          </a:xfrm>
          <a:prstGeom prst="rect">
            <a:avLst/>
          </a:prstGeom>
          <a:noFill/>
          <a:ln>
            <a:noFill/>
          </a:ln>
        </p:spPr>
      </p:pic>
      <p:pic>
        <p:nvPicPr>
          <p:cNvPr id="448" name="Google Shape;448;p27"/>
          <p:cNvPicPr preferRelativeResize="0"/>
          <p:nvPr/>
        </p:nvPicPr>
        <p:blipFill rotWithShape="1">
          <a:blip r:embed="rId7">
            <a:alphaModFix/>
          </a:blip>
          <a:srcRect b="0" l="0" r="0" t="0"/>
          <a:stretch/>
        </p:blipFill>
        <p:spPr>
          <a:xfrm>
            <a:off x="5496148" y="3726300"/>
            <a:ext cx="1373400" cy="1373400"/>
          </a:xfrm>
          <a:prstGeom prst="rect">
            <a:avLst/>
          </a:prstGeom>
          <a:noFill/>
          <a:ln>
            <a:noFill/>
          </a:ln>
        </p:spPr>
      </p:pic>
      <p:pic>
        <p:nvPicPr>
          <p:cNvPr id="449" name="Google Shape;449;p27"/>
          <p:cNvPicPr preferRelativeResize="0"/>
          <p:nvPr/>
        </p:nvPicPr>
        <p:blipFill rotWithShape="1">
          <a:blip r:embed="rId8">
            <a:alphaModFix/>
          </a:blip>
          <a:srcRect b="0" l="0" r="0" t="0"/>
          <a:stretch/>
        </p:blipFill>
        <p:spPr>
          <a:xfrm>
            <a:off x="0" y="2683575"/>
            <a:ext cx="4717976" cy="2459924"/>
          </a:xfrm>
          <a:prstGeom prst="rect">
            <a:avLst/>
          </a:prstGeom>
          <a:noFill/>
          <a:ln>
            <a:noFill/>
          </a:ln>
        </p:spPr>
      </p:pic>
      <p:sp>
        <p:nvSpPr>
          <p:cNvPr id="450" name="Google Shape;450;p27"/>
          <p:cNvSpPr txBox="1"/>
          <p:nvPr/>
        </p:nvSpPr>
        <p:spPr>
          <a:xfrm>
            <a:off x="-62" y="4404600"/>
            <a:ext cx="4718100" cy="923400"/>
          </a:xfrm>
          <a:prstGeom prst="rect">
            <a:avLst/>
          </a:prstGeom>
          <a:solidFill>
            <a:srgbClr val="9FC5E8"/>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1" i="0" lang="en-GB" sz="1200" u="none" cap="none" strike="noStrike">
                <a:solidFill>
                  <a:schemeClr val="dk1"/>
                </a:solidFill>
                <a:latin typeface="Calibri"/>
                <a:ea typeface="Calibri"/>
                <a:cs typeface="Calibri"/>
                <a:sym typeface="Calibri"/>
              </a:rPr>
              <a:t>Thanks to efficient AI-generated heart structures, machines work optimally. ASML guy is happy and boss is also happy. With better chips, cancer research, stopping climate change etc. will be made more accessible.</a:t>
            </a:r>
            <a:endParaRPr b="1" i="0" sz="1200" u="none" cap="none" strike="noStrike">
              <a:solidFill>
                <a:schemeClr val="dk1"/>
              </a:solidFill>
              <a:latin typeface="Calibri"/>
              <a:ea typeface="Calibri"/>
              <a:cs typeface="Calibri"/>
              <a:sym typeface="Calibri"/>
            </a:endParaRPr>
          </a:p>
        </p:txBody>
      </p:sp>
      <p:sp>
        <p:nvSpPr>
          <p:cNvPr id="451" name="Google Shape;451;p27"/>
          <p:cNvSpPr txBox="1"/>
          <p:nvPr/>
        </p:nvSpPr>
        <p:spPr>
          <a:xfrm>
            <a:off x="5122875" y="874800"/>
            <a:ext cx="2310300" cy="800400"/>
          </a:xfrm>
          <a:prstGeom prst="rect">
            <a:avLst/>
          </a:prstGeom>
          <a:solidFill>
            <a:srgbClr val="9FC5E8"/>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1" i="0" lang="en-GB" sz="2000" u="none" cap="none" strike="noStrike">
                <a:solidFill>
                  <a:schemeClr val="dk1"/>
                </a:solidFill>
                <a:latin typeface="Calibri"/>
                <a:ea typeface="Calibri"/>
                <a:cs typeface="Calibri"/>
                <a:sym typeface="Calibri"/>
              </a:rPr>
              <a:t>I want the heart to look like this …</a:t>
            </a:r>
            <a:endParaRPr b="1" i="0" sz="2000" u="none" cap="none" strike="noStrike">
              <a:solidFill>
                <a:schemeClr val="dk1"/>
              </a:solidFill>
              <a:latin typeface="Calibri"/>
              <a:ea typeface="Calibri"/>
              <a:cs typeface="Calibri"/>
              <a:sym typeface="Calibri"/>
            </a:endParaRPr>
          </a:p>
        </p:txBody>
      </p:sp>
      <p:sp>
        <p:nvSpPr>
          <p:cNvPr id="452" name="Google Shape;452;p27"/>
          <p:cNvSpPr/>
          <p:nvPr/>
        </p:nvSpPr>
        <p:spPr>
          <a:xfrm>
            <a:off x="5987975" y="1683125"/>
            <a:ext cx="328500" cy="566700"/>
          </a:xfrm>
          <a:prstGeom prst="downArrow">
            <a:avLst>
              <a:gd fmla="val 50000" name="adj1"/>
              <a:gd fmla="val 50000"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53" name="Google Shape;453;p27"/>
          <p:cNvSpPr/>
          <p:nvPr/>
        </p:nvSpPr>
        <p:spPr>
          <a:xfrm>
            <a:off x="5987975" y="3210200"/>
            <a:ext cx="328500" cy="566700"/>
          </a:xfrm>
          <a:prstGeom prst="downArrow">
            <a:avLst>
              <a:gd fmla="val 50000" name="adj1"/>
              <a:gd fmla="val 50000" name="adj2"/>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7" name="Shape 457"/>
        <p:cNvGrpSpPr/>
        <p:nvPr/>
      </p:nvGrpSpPr>
      <p:grpSpPr>
        <a:xfrm>
          <a:off x="0" y="0"/>
          <a:ext cx="0" cy="0"/>
          <a:chOff x="0" y="0"/>
          <a:chExt cx="0" cy="0"/>
        </a:xfrm>
      </p:grpSpPr>
      <p:sp>
        <p:nvSpPr>
          <p:cNvPr id="458" name="Google Shape;458;p28"/>
          <p:cNvSpPr txBox="1"/>
          <p:nvPr>
            <p:ph type="title"/>
          </p:nvPr>
        </p:nvSpPr>
        <p:spPr>
          <a:xfrm>
            <a:off x="793800" y="82825"/>
            <a:ext cx="7556400" cy="7338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2700"/>
              <a:buNone/>
            </a:pPr>
            <a:r>
              <a:rPr lang="en-GB"/>
              <a:t>Process pipeline</a:t>
            </a:r>
            <a:endParaRPr/>
          </a:p>
        </p:txBody>
      </p:sp>
      <p:sp>
        <p:nvSpPr>
          <p:cNvPr id="459" name="Google Shape;459;p28"/>
          <p:cNvSpPr/>
          <p:nvPr/>
        </p:nvSpPr>
        <p:spPr>
          <a:xfrm>
            <a:off x="528900"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User input</a:t>
            </a:r>
            <a:endParaRPr b="0" i="0" sz="1400" u="none" cap="none" strike="noStrike">
              <a:solidFill>
                <a:schemeClr val="dk1"/>
              </a:solidFill>
              <a:latin typeface="Calibri"/>
              <a:ea typeface="Calibri"/>
              <a:cs typeface="Calibri"/>
              <a:sym typeface="Calibri"/>
            </a:endParaRPr>
          </a:p>
        </p:txBody>
      </p:sp>
      <p:sp>
        <p:nvSpPr>
          <p:cNvPr id="460" name="Google Shape;460;p28"/>
          <p:cNvSpPr/>
          <p:nvPr/>
        </p:nvSpPr>
        <p:spPr>
          <a:xfrm>
            <a:off x="2159628"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Instruction processing</a:t>
            </a:r>
            <a:endParaRPr b="0" i="0" sz="1400" u="none" cap="none" strike="noStrike">
              <a:solidFill>
                <a:schemeClr val="dk1"/>
              </a:solidFill>
              <a:latin typeface="Calibri"/>
              <a:ea typeface="Calibri"/>
              <a:cs typeface="Calibri"/>
              <a:sym typeface="Calibri"/>
            </a:endParaRPr>
          </a:p>
        </p:txBody>
      </p:sp>
      <p:sp>
        <p:nvSpPr>
          <p:cNvPr id="461" name="Google Shape;461;p28"/>
          <p:cNvSpPr/>
          <p:nvPr/>
        </p:nvSpPr>
        <p:spPr>
          <a:xfrm>
            <a:off x="3790325"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Topology generation</a:t>
            </a:r>
            <a:endParaRPr b="0" i="0" sz="1400" u="none" cap="none" strike="noStrike">
              <a:solidFill>
                <a:schemeClr val="dk1"/>
              </a:solidFill>
              <a:latin typeface="Calibri"/>
              <a:ea typeface="Calibri"/>
              <a:cs typeface="Calibri"/>
              <a:sym typeface="Calibri"/>
            </a:endParaRPr>
          </a:p>
        </p:txBody>
      </p:sp>
      <p:sp>
        <p:nvSpPr>
          <p:cNvPr id="462" name="Google Shape;462;p28"/>
          <p:cNvSpPr/>
          <p:nvPr/>
        </p:nvSpPr>
        <p:spPr>
          <a:xfrm>
            <a:off x="5532650"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Topology validation</a:t>
            </a:r>
            <a:endParaRPr b="0" i="0" sz="1400" u="none" cap="none" strike="noStrike">
              <a:solidFill>
                <a:schemeClr val="dk1"/>
              </a:solidFill>
              <a:latin typeface="Calibri"/>
              <a:ea typeface="Calibri"/>
              <a:cs typeface="Calibri"/>
              <a:sym typeface="Calibri"/>
            </a:endParaRPr>
          </a:p>
        </p:txBody>
      </p:sp>
      <p:sp>
        <p:nvSpPr>
          <p:cNvPr id="463" name="Google Shape;463;p28"/>
          <p:cNvSpPr/>
          <p:nvPr/>
        </p:nvSpPr>
        <p:spPr>
          <a:xfrm>
            <a:off x="7274975" y="24078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Topology simulation</a:t>
            </a:r>
            <a:endParaRPr b="0" i="0" sz="1400" u="none" cap="none" strike="noStrike">
              <a:solidFill>
                <a:schemeClr val="dk1"/>
              </a:solidFill>
              <a:latin typeface="Calibri"/>
              <a:ea typeface="Calibri"/>
              <a:cs typeface="Calibri"/>
              <a:sym typeface="Calibri"/>
            </a:endParaRPr>
          </a:p>
        </p:txBody>
      </p:sp>
      <p:sp>
        <p:nvSpPr>
          <p:cNvPr id="464" name="Google Shape;464;p28"/>
          <p:cNvSpPr/>
          <p:nvPr/>
        </p:nvSpPr>
        <p:spPr>
          <a:xfrm>
            <a:off x="7227125" y="3551900"/>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Reward function processing</a:t>
            </a:r>
            <a:endParaRPr b="0" i="0" sz="1400" u="none" cap="none" strike="noStrike">
              <a:solidFill>
                <a:schemeClr val="dk1"/>
              </a:solidFill>
              <a:latin typeface="Calibri"/>
              <a:ea typeface="Calibri"/>
              <a:cs typeface="Calibri"/>
              <a:sym typeface="Calibri"/>
            </a:endParaRPr>
          </a:p>
        </p:txBody>
      </p:sp>
      <p:sp>
        <p:nvSpPr>
          <p:cNvPr id="465" name="Google Shape;465;p28"/>
          <p:cNvSpPr/>
          <p:nvPr/>
        </p:nvSpPr>
        <p:spPr>
          <a:xfrm>
            <a:off x="3742475" y="3551900"/>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Reinforcement learning loop</a:t>
            </a:r>
            <a:endParaRPr b="0" i="0" sz="1400" u="none" cap="none" strike="noStrike">
              <a:solidFill>
                <a:schemeClr val="dk1"/>
              </a:solidFill>
              <a:latin typeface="Calibri"/>
              <a:ea typeface="Calibri"/>
              <a:cs typeface="Calibri"/>
              <a:sym typeface="Calibri"/>
            </a:endParaRPr>
          </a:p>
        </p:txBody>
      </p:sp>
      <p:sp>
        <p:nvSpPr>
          <p:cNvPr id="466" name="Google Shape;466;p28"/>
          <p:cNvSpPr/>
          <p:nvPr/>
        </p:nvSpPr>
        <p:spPr>
          <a:xfrm>
            <a:off x="3742475" y="1098925"/>
            <a:ext cx="13941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Supervised fine-tuning</a:t>
            </a:r>
            <a:endParaRPr b="0" i="0" sz="1400" u="none" cap="none" strike="noStrike">
              <a:solidFill>
                <a:schemeClr val="dk1"/>
              </a:solidFill>
              <a:latin typeface="Calibri"/>
              <a:ea typeface="Calibri"/>
              <a:cs typeface="Calibri"/>
              <a:sym typeface="Calibri"/>
            </a:endParaRPr>
          </a:p>
        </p:txBody>
      </p:sp>
      <p:sp>
        <p:nvSpPr>
          <p:cNvPr id="467" name="Google Shape;467;p28"/>
          <p:cNvSpPr/>
          <p:nvPr/>
        </p:nvSpPr>
        <p:spPr>
          <a:xfrm>
            <a:off x="1730775" y="2639900"/>
            <a:ext cx="5043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68" name="Google Shape;468;p28"/>
          <p:cNvSpPr/>
          <p:nvPr/>
        </p:nvSpPr>
        <p:spPr>
          <a:xfrm>
            <a:off x="5050225" y="2639900"/>
            <a:ext cx="5847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69" name="Google Shape;469;p28"/>
          <p:cNvSpPr/>
          <p:nvPr/>
        </p:nvSpPr>
        <p:spPr>
          <a:xfrm>
            <a:off x="3390488" y="2639900"/>
            <a:ext cx="504300" cy="165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0" name="Google Shape;470;p28"/>
          <p:cNvSpPr/>
          <p:nvPr/>
        </p:nvSpPr>
        <p:spPr>
          <a:xfrm>
            <a:off x="6644000" y="2643600"/>
            <a:ext cx="762300" cy="1932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GB" sz="1400" u="none" cap="none" strike="noStrike">
                <a:solidFill>
                  <a:schemeClr val="lt1"/>
                </a:solidFill>
                <a:latin typeface="Calibri"/>
                <a:ea typeface="Calibri"/>
                <a:cs typeface="Calibri"/>
                <a:sym typeface="Calibri"/>
              </a:rPr>
              <a:t>valid</a:t>
            </a:r>
            <a:endParaRPr b="0" i="0" sz="1400" u="none" cap="none" strike="noStrike">
              <a:solidFill>
                <a:schemeClr val="lt1"/>
              </a:solidFill>
              <a:latin typeface="Calibri"/>
              <a:ea typeface="Calibri"/>
              <a:cs typeface="Calibri"/>
              <a:sym typeface="Calibri"/>
            </a:endParaRPr>
          </a:p>
        </p:txBody>
      </p:sp>
      <p:sp>
        <p:nvSpPr>
          <p:cNvPr id="471" name="Google Shape;471;p28"/>
          <p:cNvSpPr/>
          <p:nvPr/>
        </p:nvSpPr>
        <p:spPr>
          <a:xfrm rot="5400000">
            <a:off x="7666525" y="3220175"/>
            <a:ext cx="584700" cy="1863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2" name="Google Shape;472;p28"/>
          <p:cNvSpPr/>
          <p:nvPr/>
        </p:nvSpPr>
        <p:spPr>
          <a:xfrm flipH="1">
            <a:off x="5088800" y="3821450"/>
            <a:ext cx="2186100" cy="125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3" name="Google Shape;473;p28"/>
          <p:cNvSpPr/>
          <p:nvPr/>
        </p:nvSpPr>
        <p:spPr>
          <a:xfrm flipH="1" rot="5400000">
            <a:off x="4045225" y="3213450"/>
            <a:ext cx="697500" cy="137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4" name="Google Shape;474;p28"/>
          <p:cNvSpPr/>
          <p:nvPr/>
        </p:nvSpPr>
        <p:spPr>
          <a:xfrm>
            <a:off x="7274975" y="1066100"/>
            <a:ext cx="1298400" cy="664800"/>
          </a:xfrm>
          <a:prstGeom prst="rect">
            <a:avLst/>
          </a:prstGeom>
          <a:solidFill>
            <a:schemeClr val="lt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dk1"/>
                </a:solidFill>
                <a:latin typeface="Calibri"/>
                <a:ea typeface="Calibri"/>
                <a:cs typeface="Calibri"/>
                <a:sym typeface="Calibri"/>
              </a:rPr>
              <a:t>Dataset augmentation</a:t>
            </a:r>
            <a:endParaRPr b="0" i="0" sz="1400" u="none" cap="none" strike="noStrike">
              <a:solidFill>
                <a:schemeClr val="dk1"/>
              </a:solidFill>
              <a:latin typeface="Calibri"/>
              <a:ea typeface="Calibri"/>
              <a:cs typeface="Calibri"/>
              <a:sym typeface="Calibri"/>
            </a:endParaRPr>
          </a:p>
        </p:txBody>
      </p:sp>
      <p:sp>
        <p:nvSpPr>
          <p:cNvPr id="475" name="Google Shape;475;p28"/>
          <p:cNvSpPr/>
          <p:nvPr/>
        </p:nvSpPr>
        <p:spPr>
          <a:xfrm flipH="1" rot="5400000">
            <a:off x="7535125" y="1951150"/>
            <a:ext cx="847500" cy="1821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6" name="Google Shape;476;p28"/>
          <p:cNvSpPr/>
          <p:nvPr/>
        </p:nvSpPr>
        <p:spPr>
          <a:xfrm flipH="1">
            <a:off x="5010650" y="1315100"/>
            <a:ext cx="2342400" cy="125700"/>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477" name="Google Shape;477;p28"/>
          <p:cNvSpPr/>
          <p:nvPr/>
        </p:nvSpPr>
        <p:spPr>
          <a:xfrm flipH="1" rot="-2699134">
            <a:off x="4921605" y="3206199"/>
            <a:ext cx="841952" cy="214253"/>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GB" sz="1400" u="none" cap="none" strike="noStrike">
                <a:solidFill>
                  <a:schemeClr val="lt1"/>
                </a:solidFill>
                <a:latin typeface="Calibri"/>
                <a:ea typeface="Calibri"/>
                <a:cs typeface="Calibri"/>
                <a:sym typeface="Calibri"/>
              </a:rPr>
              <a:t>invalid</a:t>
            </a:r>
            <a:endParaRPr b="0" i="0" sz="1400" u="none" cap="none" strike="noStrike">
              <a:solidFill>
                <a:schemeClr val="lt1"/>
              </a:solidFill>
              <a:latin typeface="Calibri"/>
              <a:ea typeface="Calibri"/>
              <a:cs typeface="Calibri"/>
              <a:sym typeface="Calibri"/>
            </a:endParaRPr>
          </a:p>
        </p:txBody>
      </p:sp>
      <p:sp>
        <p:nvSpPr>
          <p:cNvPr id="478" name="Google Shape;478;p28"/>
          <p:cNvSpPr/>
          <p:nvPr/>
        </p:nvSpPr>
        <p:spPr>
          <a:xfrm rot="-2886052">
            <a:off x="6502781" y="1921112"/>
            <a:ext cx="1058816" cy="242188"/>
          </a:xfrm>
          <a:prstGeom prst="homePlate">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GB" sz="1400" u="none" cap="none" strike="noStrike">
                <a:solidFill>
                  <a:schemeClr val="lt1"/>
                </a:solidFill>
                <a:latin typeface="Calibri"/>
                <a:ea typeface="Calibri"/>
                <a:cs typeface="Calibri"/>
                <a:sym typeface="Calibri"/>
              </a:rPr>
              <a:t>invalid</a:t>
            </a:r>
            <a:endParaRPr b="0" i="0" sz="1400" u="none" cap="none" strike="noStrike">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Kantoorthema">
  <a:themeElements>
    <a:clrScheme name="TUe_PPT_V2">
      <a:dk1>
        <a:srgbClr val="000000"/>
      </a:dk1>
      <a:lt1>
        <a:srgbClr val="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