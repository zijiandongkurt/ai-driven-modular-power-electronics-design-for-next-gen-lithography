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7f5c1d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a7f5c1d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7f5c1d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a7f5c1d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f1fd172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f1fd172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a7f5c1d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a7f5c1d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b0bc0b583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b0bc0b583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f1fd1721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f1fd1721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(prompt, completion, reward)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f1fd1721a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f1fd1721a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f1fd1721a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f1fd1721a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at the top">
  <p:cSld name="Title slide - Title at the top">
    <p:bg>
      <p:bgPr>
        <a:solidFill>
          <a:srgbClr val="EEE8E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-1" y="1548000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in the middle">
  <p:cSld name="Title slide - Title in the midd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>
            <p:ph type="ctrTitle"/>
          </p:nvPr>
        </p:nvSpPr>
        <p:spPr>
          <a:xfrm>
            <a:off x="-1" y="18355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-1" y="2628097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at the bottom">
  <p:cSld name="Title slide - Title at the bot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>
            <p:ph type="ctrTitle"/>
          </p:nvPr>
        </p:nvSpPr>
        <p:spPr>
          <a:xfrm>
            <a:off x="-1" y="29150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-1" y="3708591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 type="obj">
  <p:cSld name="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2 columns">
  <p:cSld name="Text slide - 2 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58825" y="585793"/>
            <a:ext cx="3595688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4723606" y="1296000"/>
            <a:ext cx="3595688" cy="293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4714875" y="586800"/>
            <a:ext cx="3604419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 b="0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2 text - 1/2 image">
  <p:cSld name="1/2 text - 1/2 imag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756000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714875" y="0"/>
            <a:ext cx="4429125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/3 text - 1/3 image">
  <p:cSld name="2/3 text - 1/3 imag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756000" y="586800"/>
            <a:ext cx="4910138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755650" y="1295401"/>
            <a:ext cx="491331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0"/>
          <p:cNvSpPr/>
          <p:nvPr>
            <p:ph idx="2" type="pic"/>
          </p:nvPr>
        </p:nvSpPr>
        <p:spPr>
          <a:xfrm>
            <a:off x="6046788" y="0"/>
            <a:ext cx="3097212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2 image - 1/2 text">
  <p:cSld name="1/2 image - 1/2 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723518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720343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21"/>
          <p:cNvSpPr/>
          <p:nvPr>
            <p:ph idx="2" type="pic"/>
          </p:nvPr>
        </p:nvSpPr>
        <p:spPr>
          <a:xfrm>
            <a:off x="0" y="0"/>
            <a:ext cx="4354513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3 image - 2/3 text">
  <p:cSld name="1/3 image - 2/3 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494405" y="586800"/>
            <a:ext cx="482092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491230" y="1295401"/>
            <a:ext cx="4824095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0" y="0"/>
            <a:ext cx="3022600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image/movie 16:9">
  <p:cSld name="Headline + image/movie 16:9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1889125" y="1079501"/>
            <a:ext cx="5292725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2" type="body"/>
          </p:nvPr>
        </p:nvSpPr>
        <p:spPr>
          <a:xfrm>
            <a:off x="1889125" y="4106268"/>
            <a:ext cx="52927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1"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3 images">
  <p:cSld name="Text + 3 image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758824" y="1306642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3490913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3" type="body"/>
          </p:nvPr>
        </p:nvSpPr>
        <p:spPr>
          <a:xfrm>
            <a:off x="6235414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4"/>
          <p:cNvSpPr/>
          <p:nvPr>
            <p:ph idx="4" type="pic"/>
          </p:nvPr>
        </p:nvSpPr>
        <p:spPr>
          <a:xfrm>
            <a:off x="755650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4"/>
          <p:cNvSpPr/>
          <p:nvPr>
            <p:ph idx="5" type="pic"/>
          </p:nvPr>
        </p:nvSpPr>
        <p:spPr>
          <a:xfrm>
            <a:off x="3487739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4"/>
          <p:cNvSpPr/>
          <p:nvPr>
            <p:ph idx="6" type="pic"/>
          </p:nvPr>
        </p:nvSpPr>
        <p:spPr>
          <a:xfrm>
            <a:off x="6235414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full screen dark image">
  <p:cSld name="Heading + full screen dark image">
    <p:bg>
      <p:bgPr>
        <a:solidFill>
          <a:srgbClr val="A5A5A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full screen light image">
  <p:cSld name="Heading + full screen light image">
    <p:bg>
      <p:bgPr>
        <a:solidFill>
          <a:srgbClr val="F2F2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">
  <p:cSld name="White background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2" name="Google Shape;152;p27"/>
          <p:cNvCxnSpPr/>
          <p:nvPr/>
        </p:nvCxnSpPr>
        <p:spPr>
          <a:xfrm>
            <a:off x="0" y="456378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27"/>
          <p:cNvSpPr/>
          <p:nvPr>
            <p:ph idx="2" type="pic"/>
          </p:nvPr>
        </p:nvSpPr>
        <p:spPr>
          <a:xfrm>
            <a:off x="1890000" y="1299075"/>
            <a:ext cx="5292725" cy="297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rlet background">
  <p:cSld name="Scarlet background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None/>
              <a:defRPr>
                <a:solidFill>
                  <a:schemeClr val="lt1"/>
                </a:solidFill>
              </a:defRPr>
            </a:lvl2pPr>
            <a:lvl3pPr indent="-333375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3pPr>
            <a:lvl4pPr indent="-33337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4pPr>
            <a:lvl5pPr indent="-33337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+ text">
  <p:cSld name="Table + 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755651" y="2638425"/>
            <a:ext cx="7563556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9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30"/>
          <p:cNvSpPr/>
          <p:nvPr>
            <p:ph idx="2" type="chart"/>
          </p:nvPr>
        </p:nvSpPr>
        <p:spPr>
          <a:xfrm>
            <a:off x="755650" y="1079500"/>
            <a:ext cx="7559675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b="0" i="0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8E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b="0" i="0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3375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3375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33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6575" y="4568825"/>
            <a:ext cx="987425" cy="5746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-1" y="1835549"/>
            <a:ext cx="9144000" cy="792000"/>
          </a:xfrm>
          <a:prstGeom prst="rect">
            <a:avLst/>
          </a:prstGeom>
        </p:spPr>
        <p:txBody>
          <a:bodyPr anchorCtr="0" anchor="ctr" bIns="0" lIns="756000" spcFirstLastPara="1" rIns="196200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Supervisor</a:t>
            </a:r>
            <a:r>
              <a:rPr lang="en-GB" sz="2700"/>
              <a:t> meeting, Thursday May 7th </a:t>
            </a:r>
            <a:endParaRPr/>
          </a:p>
        </p:txBody>
      </p: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0" y="3990975"/>
            <a:ext cx="9144000" cy="576300"/>
          </a:xfrm>
          <a:prstGeom prst="rect">
            <a:avLst/>
          </a:prstGeom>
        </p:spPr>
        <p:txBody>
          <a:bodyPr anchorCtr="0" anchor="ctr" bIns="0" lIns="756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>
            <p:ph idx="1" type="subTitle"/>
          </p:nvPr>
        </p:nvSpPr>
        <p:spPr>
          <a:xfrm>
            <a:off x="-1" y="2628097"/>
            <a:ext cx="9144000" cy="288000"/>
          </a:xfrm>
          <a:prstGeom prst="rect">
            <a:avLst/>
          </a:prstGeom>
        </p:spPr>
        <p:txBody>
          <a:bodyPr anchorCtr="0" anchor="t" bIns="0" lIns="756000" spcFirstLastPara="1" rIns="1962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 txBox="1"/>
          <p:nvPr>
            <p:ph idx="3" type="body"/>
          </p:nvPr>
        </p:nvSpPr>
        <p:spPr>
          <a:xfrm>
            <a:off x="-6667" y="4567237"/>
            <a:ext cx="7347300" cy="576300"/>
          </a:xfrm>
          <a:prstGeom prst="rect">
            <a:avLst/>
          </a:prstGeom>
        </p:spPr>
        <p:txBody>
          <a:bodyPr anchorCtr="0" anchor="ctr" bIns="0" lIns="756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Progress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was discussed in the previous meeting: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Complete RL loop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Set up HPC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did so far since previous meeting: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Set up HPC/Snellius terminal individually and tested our code on it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Used an untrained AI model provided by Snellius to see whether this works. Response time for batch of 4 is approx. 30 seconds &gt;&gt;&gt;&gt; 30 minutes locally.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Made a version of the reward function that handles invalid topologies and normalizes fitness/grpo scores in a range between -1 and 1.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Zijian connected the RL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Progress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aren’t able to generate results yet, due to following problems: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LTspice is not available on Linux, only Windows -&gt; Need ‘Wine’, a module that translates Windows calls to Linux calls. Not a bottleneck, times to translate is significantly low. For this reason the simulation step can not be run. Already </a:t>
            </a:r>
            <a:r>
              <a:rPr lang="en-GB"/>
              <a:t>contacted SSC, haven’t received a response yet :(. Zijian tests RL loop, with already existing results (from local testing).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Updating model weights works good with LoRa, however after a single policy update, process results in an Out of Memory error. Theoretically, Qwen 14B needs 16GB VRAM, but NVIDIA A100 has 40GB VRAM, so the issue is not exactly clear.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version overview (Not complete yet)</a:t>
            </a: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758825" y="1263325"/>
            <a:ext cx="1983900" cy="123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a model provided by snellius (Qwen-3-14B) to generate topologies and train.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3505850" y="1263325"/>
            <a:ext cx="1983900" cy="123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Validation algorithm goes over each topology using a checklist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252875" y="1263325"/>
            <a:ext cx="1983900" cy="123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 topologies are considered for simulation, necessary metrics are extracted from the simulation results.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4843200" y="3323450"/>
            <a:ext cx="1983900" cy="123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Extracted metrics are used to measure fitness score in reward function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4"/>
          <p:cNvSpPr/>
          <p:nvPr/>
        </p:nvSpPr>
        <p:spPr>
          <a:xfrm>
            <a:off x="1909525" y="3323450"/>
            <a:ext cx="1983900" cy="123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GRPO loop, processes the scores and updates the weights.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2775300" y="1655175"/>
            <a:ext cx="730500" cy="38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5522375" y="1687825"/>
            <a:ext cx="730500" cy="38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4"/>
          <p:cNvSpPr/>
          <p:nvPr/>
        </p:nvSpPr>
        <p:spPr>
          <a:xfrm rot="6448063">
            <a:off x="6228370" y="2710230"/>
            <a:ext cx="730590" cy="38370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4"/>
          <p:cNvSpPr/>
          <p:nvPr/>
        </p:nvSpPr>
        <p:spPr>
          <a:xfrm rot="10800000">
            <a:off x="4003073" y="3695382"/>
            <a:ext cx="730500" cy="38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6726825" y="2713538"/>
            <a:ext cx="227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simulation_results.csv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5017800" y="792213"/>
            <a:ext cx="227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validation_results</a:t>
            </a: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.json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2084100" y="870913"/>
            <a:ext cx="227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batch_id/LLM_output/*.net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3229075" y="2899500"/>
            <a:ext cx="1868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_results.json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4"/>
          <p:cNvSpPr/>
          <p:nvPr/>
        </p:nvSpPr>
        <p:spPr>
          <a:xfrm rot="-6507436">
            <a:off x="1515412" y="2701542"/>
            <a:ext cx="730581" cy="38364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41125" y="2899500"/>
            <a:ext cx="1868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weights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Handling invalid topologies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68475" y="974350"/>
            <a:ext cx="53022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The fitness score is used to calculate a </a:t>
            </a:r>
            <a:r>
              <a:rPr b="1" lang="en-GB"/>
              <a:t>GRPO score</a:t>
            </a:r>
            <a:r>
              <a:rPr lang="en-GB"/>
              <a:t> ranging between -1 and 1. This is a range that the policy prefers.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Topologies that are invalid are rewarded based on how close to being valid they are. The calculation involves weights per check. Their GRPO score is between -1 &lt;= x &lt; 0 (e.g. a topology failing on ALL checks = -1. 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Topologies that are valid are rewarded based on their simulation results. Their GRPO score is between 0 &lt;= x &lt;= 1.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Fitness scores are in the range of -1 and 0. Invalid is between -1 and -0.5 and valid is between -0.5 and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100" y="483517"/>
            <a:ext cx="3408946" cy="60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75" y="1306650"/>
            <a:ext cx="2381250" cy="36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Current RL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 </a:t>
            </a:r>
            <a:r>
              <a:rPr lang="en-GB"/>
              <a:t>Existing Files: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LLM_output/*.net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reward_results.json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GRPOTrainer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RLUpdater.update()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LoRA weight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6"/>
          <p:cNvSpPr txBox="1"/>
          <p:nvPr>
            <p:ph type="title"/>
          </p:nvPr>
        </p:nvSpPr>
        <p:spPr>
          <a:xfrm>
            <a:off x="49791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</a:t>
            </a:r>
            <a:r>
              <a:rPr lang="en-GB"/>
              <a:t> Metric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9791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"num_valid_samples": 2,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"mean_reward": 0.2786,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"advantages": [1.0, -1.0],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"policy_loss": -8.0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674425" y="296086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Bottlenecks: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543125" y="880725"/>
            <a:ext cx="3381300" cy="30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Current Stable Setup: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2 samples(prompt, generated netlist, reward)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single-step RL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LoRA only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no reference model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LTspice not on HPC.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VRAM / CUDA OOM: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Qwen3-14B training exceeds 40GB VRAM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especially during backward pass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4572000" y="749450"/>
            <a:ext cx="45630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RL Memory Optimization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shorter context length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gradient accumulation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reduce batch samples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Simulation Integration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investigate LTspice + Wine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consider </a:t>
            </a:r>
            <a:r>
              <a:rPr b="1" lang="en-GB" sz="1500">
                <a:solidFill>
                  <a:schemeClr val="dk1"/>
                </a:solidFill>
              </a:rPr>
              <a:t>NGSpice</a:t>
            </a:r>
            <a:r>
              <a:rPr lang="en-GB" sz="1500">
                <a:solidFill>
                  <a:schemeClr val="dk1"/>
                </a:solidFill>
              </a:rPr>
              <a:t> / Xyce alternatives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4572000" y="190450"/>
            <a:ext cx="45630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 Directions: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Fix issues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Start training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Since there is no </a:t>
            </a:r>
            <a:r>
              <a:rPr lang="en-GB"/>
              <a:t>meeting next week (so we have 2 weeks), try testing and show results.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antoorthema">
  <a:themeElements>
    <a:clrScheme name="TUe_PPT_V2">
      <a:dk1>
        <a:srgbClr val="000000"/>
      </a:dk1>
      <a:lt1>
        <a:srgbClr val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